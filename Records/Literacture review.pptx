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61" r:id="rId5"/>
    <p:sldId id="258" r:id="rId6"/>
    <p:sldId id="265" r:id="rId7"/>
    <p:sldId id="267" r:id="rId8"/>
    <p:sldId id="268" r:id="rId9"/>
    <p:sldId id="264" r:id="rId10"/>
    <p:sldId id="259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D32702D-63F1-3D44-A7C6-5179FDCBED2E}">
          <p14:sldIdLst>
            <p14:sldId id="256"/>
            <p14:sldId id="257"/>
            <p14:sldId id="260"/>
            <p14:sldId id="261"/>
          </p14:sldIdLst>
        </p14:section>
        <p14:section name="Untitled Section" id="{1F83B6DB-6530-FD40-9ADB-F8E6CCB543FB}">
          <p14:sldIdLst>
            <p14:sldId id="258"/>
            <p14:sldId id="265"/>
            <p14:sldId id="267"/>
            <p14:sldId id="268"/>
            <p14:sldId id="264"/>
            <p14:sldId id="259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F62104-71BF-9C4F-8AEF-0FA97D70126A}" v="81" dt="2026-06-08T11:10:13.6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17"/>
    <p:restoredTop sz="94633"/>
  </p:normalViewPr>
  <p:slideViewPr>
    <p:cSldViewPr snapToGrid="0">
      <p:cViewPr>
        <p:scale>
          <a:sx n="106" d="100"/>
          <a:sy n="106" d="100"/>
        </p:scale>
        <p:origin x="1632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undo custSel addSld delSld modSld addSection modSection">
      <pc:chgData name="耀泉 马" userId="19e30af8d5659de2" providerId="LiveId" clId="{C3594856-CEDA-5129-B2AF-7962E3CA4CA3}" dt="2026-06-08T12:29:40.101" v="3532" actId="20577"/>
      <pc:docMkLst>
        <pc:docMk/>
      </pc:docMkLst>
      <pc:sldChg chg="modSp mod">
        <pc:chgData name="耀泉 马" userId="19e30af8d5659de2" providerId="LiveId" clId="{C3594856-CEDA-5129-B2AF-7962E3CA4CA3}" dt="2026-05-27T10:24:08.631" v="580" actId="20577"/>
        <pc:sldMkLst>
          <pc:docMk/>
          <pc:sldMk cId="2290531363" sldId="256"/>
        </pc:sldMkLst>
        <pc:spChg chg="mod">
          <ac:chgData name="耀泉 马" userId="19e30af8d5659de2" providerId="LiveId" clId="{C3594856-CEDA-5129-B2AF-7962E3CA4CA3}" dt="2026-05-27T10:24:08.631" v="580" actId="20577"/>
          <ac:spMkLst>
            <pc:docMk/>
            <pc:sldMk cId="2290531363" sldId="256"/>
            <ac:spMk id="2" creationId="{F0E8EB94-C6DD-EB25-B42A-C0EE77F781F9}"/>
          </ac:spMkLst>
        </pc:spChg>
      </pc:sldChg>
      <pc:sldChg chg="modSp mod">
        <pc:chgData name="耀泉 马" userId="19e30af8d5659de2" providerId="LiveId" clId="{C3594856-CEDA-5129-B2AF-7962E3CA4CA3}" dt="2026-05-30T12:48:38.217" v="1636" actId="21"/>
        <pc:sldMkLst>
          <pc:docMk/>
          <pc:sldMk cId="2621794148" sldId="257"/>
        </pc:sldMkLst>
        <pc:spChg chg="mod">
          <ac:chgData name="耀泉 马" userId="19e30af8d5659de2" providerId="LiveId" clId="{C3594856-CEDA-5129-B2AF-7962E3CA4CA3}" dt="2026-05-30T12:46:41.666" v="1617" actId="20577"/>
          <ac:spMkLst>
            <pc:docMk/>
            <pc:sldMk cId="2621794148" sldId="257"/>
            <ac:spMk id="2" creationId="{73FF0AC1-191B-A69F-9504-49F22BCD7B03}"/>
          </ac:spMkLst>
        </pc:spChg>
        <pc:spChg chg="mod">
          <ac:chgData name="耀泉 马" userId="19e30af8d5659de2" providerId="LiveId" clId="{C3594856-CEDA-5129-B2AF-7962E3CA4CA3}" dt="2026-05-30T12:48:38.217" v="1636" actId="21"/>
          <ac:spMkLst>
            <pc:docMk/>
            <pc:sldMk cId="2621794148" sldId="257"/>
            <ac:spMk id="3" creationId="{C0190995-3564-B1CE-A3D1-396A01B6A52D}"/>
          </ac:spMkLst>
        </pc:spChg>
      </pc:sldChg>
      <pc:sldChg chg="modSp new mod">
        <pc:chgData name="耀泉 马" userId="19e30af8d5659de2" providerId="LiveId" clId="{C3594856-CEDA-5129-B2AF-7962E3CA4CA3}" dt="2026-05-26T19:07:07.485" v="499" actId="20577"/>
        <pc:sldMkLst>
          <pc:docMk/>
          <pc:sldMk cId="1448075068" sldId="258"/>
        </pc:sldMkLst>
        <pc:spChg chg="mod">
          <ac:chgData name="耀泉 马" userId="19e30af8d5659de2" providerId="LiveId" clId="{C3594856-CEDA-5129-B2AF-7962E3CA4CA3}" dt="2026-05-26T19:07:07.485" v="499" actId="20577"/>
          <ac:spMkLst>
            <pc:docMk/>
            <pc:sldMk cId="1448075068" sldId="258"/>
            <ac:spMk id="2" creationId="{1E7AE818-7882-9A9B-C8F8-D37943F90866}"/>
          </ac:spMkLst>
        </pc:spChg>
        <pc:spChg chg="mod">
          <ac:chgData name="耀泉 马" userId="19e30af8d5659de2" providerId="LiveId" clId="{C3594856-CEDA-5129-B2AF-7962E3CA4CA3}" dt="2026-05-26T19:06:58.902" v="490" actId="20577"/>
          <ac:spMkLst>
            <pc:docMk/>
            <pc:sldMk cId="1448075068" sldId="258"/>
            <ac:spMk id="3" creationId="{CC04344F-77B7-01A4-3529-F2F127313405}"/>
          </ac:spMkLst>
        </pc:spChg>
      </pc:sldChg>
      <pc:sldChg chg="modSp new mod">
        <pc:chgData name="耀泉 马" userId="19e30af8d5659de2" providerId="LiveId" clId="{C3594856-CEDA-5129-B2AF-7962E3CA4CA3}" dt="2026-06-08T12:27:55.430" v="3446" actId="27636"/>
        <pc:sldMkLst>
          <pc:docMk/>
          <pc:sldMk cId="2290997006" sldId="259"/>
        </pc:sldMkLst>
        <pc:spChg chg="mod">
          <ac:chgData name="耀泉 马" userId="19e30af8d5659de2" providerId="LiveId" clId="{C3594856-CEDA-5129-B2AF-7962E3CA4CA3}" dt="2026-05-29T11:03:48.727" v="1598" actId="20577"/>
          <ac:spMkLst>
            <pc:docMk/>
            <pc:sldMk cId="2290997006" sldId="259"/>
            <ac:spMk id="2" creationId="{C4C9DB24-529F-E8F9-536A-6C8005194892}"/>
          </ac:spMkLst>
        </pc:spChg>
        <pc:spChg chg="mod">
          <ac:chgData name="耀泉 马" userId="19e30af8d5659de2" providerId="LiveId" clId="{C3594856-CEDA-5129-B2AF-7962E3CA4CA3}" dt="2026-06-08T12:27:55.430" v="3446" actId="27636"/>
          <ac:spMkLst>
            <pc:docMk/>
            <pc:sldMk cId="2290997006" sldId="259"/>
            <ac:spMk id="3" creationId="{21F482A8-7823-7754-9344-36EA99AB2D06}"/>
          </ac:spMkLst>
        </pc:spChg>
      </pc:sldChg>
      <pc:sldChg chg="modSp new mod">
        <pc:chgData name="耀泉 马" userId="19e30af8d5659de2" providerId="LiveId" clId="{C3594856-CEDA-5129-B2AF-7962E3CA4CA3}" dt="2026-06-08T10:18:11.467" v="3089" actId="20577"/>
        <pc:sldMkLst>
          <pc:docMk/>
          <pc:sldMk cId="4138975813" sldId="260"/>
        </pc:sldMkLst>
        <pc:spChg chg="mod">
          <ac:chgData name="耀泉 马" userId="19e30af8d5659de2" providerId="LiveId" clId="{C3594856-CEDA-5129-B2AF-7962E3CA4CA3}" dt="2026-05-30T12:46:37.414" v="1612" actId="20577"/>
          <ac:spMkLst>
            <pc:docMk/>
            <pc:sldMk cId="4138975813" sldId="260"/>
            <ac:spMk id="2" creationId="{E44F908C-28C7-6B0F-B44D-D2DA2C3C6071}"/>
          </ac:spMkLst>
        </pc:spChg>
        <pc:spChg chg="mod">
          <ac:chgData name="耀泉 马" userId="19e30af8d5659de2" providerId="LiveId" clId="{C3594856-CEDA-5129-B2AF-7962E3CA4CA3}" dt="2026-06-08T10:18:11.467" v="3089" actId="20577"/>
          <ac:spMkLst>
            <pc:docMk/>
            <pc:sldMk cId="4138975813" sldId="260"/>
            <ac:spMk id="3" creationId="{8F04DE2E-D81A-FC94-4DA8-8CE8BD15DED1}"/>
          </ac:spMkLst>
        </pc:spChg>
      </pc:sldChg>
      <pc:sldChg chg="modSp new mod">
        <pc:chgData name="耀泉 马" userId="19e30af8d5659de2" providerId="LiveId" clId="{C3594856-CEDA-5129-B2AF-7962E3CA4CA3}" dt="2026-06-08T08:46:38.316" v="3050" actId="21"/>
        <pc:sldMkLst>
          <pc:docMk/>
          <pc:sldMk cId="3186421945" sldId="261"/>
        </pc:sldMkLst>
        <pc:spChg chg="mod">
          <ac:chgData name="耀泉 马" userId="19e30af8d5659de2" providerId="LiveId" clId="{C3594856-CEDA-5129-B2AF-7962E3CA4CA3}" dt="2026-05-30T12:49:29.750" v="1658" actId="20577"/>
          <ac:spMkLst>
            <pc:docMk/>
            <pc:sldMk cId="3186421945" sldId="261"/>
            <ac:spMk id="2" creationId="{B72AF47D-19A6-CBF7-155E-C22C0B9CEB17}"/>
          </ac:spMkLst>
        </pc:spChg>
        <pc:spChg chg="mod">
          <ac:chgData name="耀泉 马" userId="19e30af8d5659de2" providerId="LiveId" clId="{C3594856-CEDA-5129-B2AF-7962E3CA4CA3}" dt="2026-06-08T08:46:38.316" v="3050" actId="21"/>
          <ac:spMkLst>
            <pc:docMk/>
            <pc:sldMk cId="3186421945" sldId="261"/>
            <ac:spMk id="3" creationId="{27F09DC5-3A9E-91B2-7AC9-A3742F077DAE}"/>
          </ac:spMkLst>
        </pc:spChg>
      </pc:sldChg>
      <pc:sldChg chg="modSp new mod">
        <pc:chgData name="耀泉 马" userId="19e30af8d5659de2" providerId="LiveId" clId="{C3594856-CEDA-5129-B2AF-7962E3CA4CA3}" dt="2026-06-08T12:29:40.101" v="3532" actId="20577"/>
        <pc:sldMkLst>
          <pc:docMk/>
          <pc:sldMk cId="2309705259" sldId="262"/>
        </pc:sldMkLst>
        <pc:spChg chg="mod">
          <ac:chgData name="耀泉 马" userId="19e30af8d5659de2" providerId="LiveId" clId="{C3594856-CEDA-5129-B2AF-7962E3CA4CA3}" dt="2026-06-07T09:15:35.182" v="1696" actId="20577"/>
          <ac:spMkLst>
            <pc:docMk/>
            <pc:sldMk cId="2309705259" sldId="262"/>
            <ac:spMk id="2" creationId="{41E3A87B-ECAC-199A-8822-FE2DCE222E91}"/>
          </ac:spMkLst>
        </pc:spChg>
        <pc:spChg chg="mod">
          <ac:chgData name="耀泉 马" userId="19e30af8d5659de2" providerId="LiveId" clId="{C3594856-CEDA-5129-B2AF-7962E3CA4CA3}" dt="2026-06-08T12:29:40.101" v="3532" actId="20577"/>
          <ac:spMkLst>
            <pc:docMk/>
            <pc:sldMk cId="2309705259" sldId="262"/>
            <ac:spMk id="3" creationId="{4F8644EC-8093-1525-2ADE-61340111EED5}"/>
          </ac:spMkLst>
        </pc:spChg>
      </pc:sldChg>
      <pc:sldChg chg="add del">
        <pc:chgData name="耀泉 马" userId="19e30af8d5659de2" providerId="LiveId" clId="{C3594856-CEDA-5129-B2AF-7962E3CA4CA3}" dt="2026-06-08T06:40:45.409" v="2711" actId="2696"/>
        <pc:sldMkLst>
          <pc:docMk/>
          <pc:sldMk cId="2484348594" sldId="263"/>
        </pc:sldMkLst>
      </pc:sldChg>
      <pc:sldChg chg="addSp delSp modSp new mod">
        <pc:chgData name="耀泉 马" userId="19e30af8d5659de2" providerId="LiveId" clId="{C3594856-CEDA-5129-B2AF-7962E3CA4CA3}" dt="2026-06-07T22:57:10.846" v="2436"/>
        <pc:sldMkLst>
          <pc:docMk/>
          <pc:sldMk cId="1460251189" sldId="264"/>
        </pc:sldMkLst>
        <pc:spChg chg="mod">
          <ac:chgData name="耀泉 马" userId="19e30af8d5659de2" providerId="LiveId" clId="{C3594856-CEDA-5129-B2AF-7962E3CA4CA3}" dt="2026-06-07T09:36:03.177" v="1805" actId="20577"/>
          <ac:spMkLst>
            <pc:docMk/>
            <pc:sldMk cId="1460251189" sldId="264"/>
            <ac:spMk id="2" creationId="{648A4D11-AA0E-D313-E919-DB54E3A35B19}"/>
          </ac:spMkLst>
        </pc:spChg>
        <pc:spChg chg="del">
          <ac:chgData name="耀泉 马" userId="19e30af8d5659de2" providerId="LiveId" clId="{C3594856-CEDA-5129-B2AF-7962E3CA4CA3}" dt="2026-06-07T09:41:41.528" v="1806" actId="3680"/>
          <ac:spMkLst>
            <pc:docMk/>
            <pc:sldMk cId="1460251189" sldId="264"/>
            <ac:spMk id="3" creationId="{7AA46B7E-6294-5267-3335-5095573E8887}"/>
          </ac:spMkLst>
        </pc:spChg>
        <pc:graphicFrameChg chg="add mod ord modGraphic">
          <ac:chgData name="耀泉 马" userId="19e30af8d5659de2" providerId="LiveId" clId="{C3594856-CEDA-5129-B2AF-7962E3CA4CA3}" dt="2026-06-07T22:57:10.846" v="2436"/>
          <ac:graphicFrameMkLst>
            <pc:docMk/>
            <pc:sldMk cId="1460251189" sldId="264"/>
            <ac:graphicFrameMk id="5" creationId="{70791B32-F5E3-0A59-4F83-9F0310339322}"/>
          </ac:graphicFrameMkLst>
        </pc:graphicFrameChg>
      </pc:sldChg>
      <pc:sldChg chg="modSp add mod">
        <pc:chgData name="耀泉 马" userId="19e30af8d5659de2" providerId="LiveId" clId="{C3594856-CEDA-5129-B2AF-7962E3CA4CA3}" dt="2026-06-08T06:40:14.104" v="2709" actId="20577"/>
        <pc:sldMkLst>
          <pc:docMk/>
          <pc:sldMk cId="3118782796" sldId="265"/>
        </pc:sldMkLst>
        <pc:spChg chg="mod">
          <ac:chgData name="耀泉 马" userId="19e30af8d5659de2" providerId="LiveId" clId="{C3594856-CEDA-5129-B2AF-7962E3CA4CA3}" dt="2026-06-07T22:57:38.189" v="2439" actId="27636"/>
          <ac:spMkLst>
            <pc:docMk/>
            <pc:sldMk cId="3118782796" sldId="265"/>
            <ac:spMk id="2" creationId="{E06D198E-1B51-0931-2D6A-D84BD3E2F704}"/>
          </ac:spMkLst>
        </pc:spChg>
        <pc:spChg chg="mod">
          <ac:chgData name="耀泉 马" userId="19e30af8d5659de2" providerId="LiveId" clId="{C3594856-CEDA-5129-B2AF-7962E3CA4CA3}" dt="2026-06-08T06:40:14.104" v="2709" actId="20577"/>
          <ac:spMkLst>
            <pc:docMk/>
            <pc:sldMk cId="3118782796" sldId="265"/>
            <ac:spMk id="3" creationId="{1C5EA4C7-9A0E-A4EA-C634-88AF5FA70FB9}"/>
          </ac:spMkLst>
        </pc:spChg>
      </pc:sldChg>
      <pc:sldChg chg="modSp add del mod">
        <pc:chgData name="耀泉 马" userId="19e30af8d5659de2" providerId="LiveId" clId="{C3594856-CEDA-5129-B2AF-7962E3CA4CA3}" dt="2026-06-08T06:40:31.468" v="2710" actId="2696"/>
        <pc:sldMkLst>
          <pc:docMk/>
          <pc:sldMk cId="1113305251" sldId="266"/>
        </pc:sldMkLst>
        <pc:spChg chg="mod">
          <ac:chgData name="耀泉 马" userId="19e30af8d5659de2" providerId="LiveId" clId="{C3594856-CEDA-5129-B2AF-7962E3CA4CA3}" dt="2026-06-07T23:04:55.868" v="2500" actId="27636"/>
          <ac:spMkLst>
            <pc:docMk/>
            <pc:sldMk cId="1113305251" sldId="266"/>
            <ac:spMk id="2" creationId="{D8276327-3960-656D-6E0E-1EA48B58BC62}"/>
          </ac:spMkLst>
        </pc:spChg>
      </pc:sldChg>
      <pc:sldChg chg="modSp add mod">
        <pc:chgData name="耀泉 马" userId="19e30af8d5659de2" providerId="LiveId" clId="{C3594856-CEDA-5129-B2AF-7962E3CA4CA3}" dt="2026-06-08T08:41:10.283" v="3039"/>
        <pc:sldMkLst>
          <pc:docMk/>
          <pc:sldMk cId="2827491839" sldId="267"/>
        </pc:sldMkLst>
        <pc:spChg chg="mod">
          <ac:chgData name="耀泉 马" userId="19e30af8d5659de2" providerId="LiveId" clId="{C3594856-CEDA-5129-B2AF-7962E3CA4CA3}" dt="2026-06-07T23:04:52.864" v="2498" actId="21"/>
          <ac:spMkLst>
            <pc:docMk/>
            <pc:sldMk cId="2827491839" sldId="267"/>
            <ac:spMk id="2" creationId="{D2DB52E8-0A49-4FA9-FE34-E91042019973}"/>
          </ac:spMkLst>
        </pc:spChg>
        <pc:spChg chg="mod">
          <ac:chgData name="耀泉 马" userId="19e30af8d5659de2" providerId="LiveId" clId="{C3594856-CEDA-5129-B2AF-7962E3CA4CA3}" dt="2026-06-08T06:45:09.689" v="2736" actId="20577"/>
          <ac:spMkLst>
            <pc:docMk/>
            <pc:sldMk cId="2827491839" sldId="267"/>
            <ac:spMk id="3" creationId="{6B1841B7-8422-EDB0-7428-83D0A97B8BDD}"/>
          </ac:spMkLst>
        </pc:spChg>
        <pc:spChg chg="mod">
          <ac:chgData name="耀泉 马" userId="19e30af8d5659de2" providerId="LiveId" clId="{C3594856-CEDA-5129-B2AF-7962E3CA4CA3}" dt="2026-06-08T08:41:10.283" v="3039"/>
          <ac:spMkLst>
            <pc:docMk/>
            <pc:sldMk cId="2827491839" sldId="267"/>
            <ac:spMk id="4" creationId="{B344A3AA-C2BF-F154-FF34-DB6F930337F2}"/>
          </ac:spMkLst>
        </pc:spChg>
      </pc:sldChg>
      <pc:sldChg chg="modSp new mod">
        <pc:chgData name="耀泉 马" userId="19e30af8d5659de2" providerId="LiveId" clId="{C3594856-CEDA-5129-B2AF-7962E3CA4CA3}" dt="2026-06-08T08:40:48.952" v="3038"/>
        <pc:sldMkLst>
          <pc:docMk/>
          <pc:sldMk cId="3891100127" sldId="268"/>
        </pc:sldMkLst>
        <pc:spChg chg="mod">
          <ac:chgData name="耀泉 马" userId="19e30af8d5659de2" providerId="LiveId" clId="{C3594856-CEDA-5129-B2AF-7962E3CA4CA3}" dt="2026-06-08T07:38:43.064" v="2801"/>
          <ac:spMkLst>
            <pc:docMk/>
            <pc:sldMk cId="3891100127" sldId="268"/>
            <ac:spMk id="2" creationId="{7E7F5A85-EA98-D8BD-1F9D-BEC7DFD03514}"/>
          </ac:spMkLst>
        </pc:spChg>
        <pc:spChg chg="mod">
          <ac:chgData name="耀泉 马" userId="19e30af8d5659de2" providerId="LiveId" clId="{C3594856-CEDA-5129-B2AF-7962E3CA4CA3}" dt="2026-06-08T08:31:42.636" v="3037" actId="20577"/>
          <ac:spMkLst>
            <pc:docMk/>
            <pc:sldMk cId="3891100127" sldId="268"/>
            <ac:spMk id="3" creationId="{548C3BED-7FC2-C206-C6C5-1FE537CE73FA}"/>
          </ac:spMkLst>
        </pc:spChg>
        <pc:spChg chg="mod">
          <ac:chgData name="耀泉 马" userId="19e30af8d5659de2" providerId="LiveId" clId="{C3594856-CEDA-5129-B2AF-7962E3CA4CA3}" dt="2026-06-08T08:40:48.952" v="3038"/>
          <ac:spMkLst>
            <pc:docMk/>
            <pc:sldMk cId="3891100127" sldId="268"/>
            <ac:spMk id="4" creationId="{D54363A0-9E80-90DC-5782-59061E15797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2D6C0-7D9E-504D-94AD-D6B570192357}" type="datetimeFigureOut">
              <a:rPr lang="en-US" smtClean="0"/>
              <a:t>5/29/26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A3861-0D7D-5747-A14C-DDF3C33A59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52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A2AE1-685C-0095-9CF1-7132DE147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B3FEA7-CC77-00AB-5CA8-F3AD34B017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9D9D7-E9CC-2D3C-34D9-3CB4E7CCD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53C98-49B1-1049-AD13-A5C3FE863A09}" type="datetime1">
              <a:rPr lang="en-GB" smtClean="0"/>
              <a:t>29/05/2026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31ECD-2DE9-CBA4-1C2A-07AC92481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38A0F-02CF-3959-A486-60E8E015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46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20748-5695-BBAA-B2A9-0330EAE83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605B4-497F-EDD4-7E84-D4058BD43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56AA2A-612B-892B-59DB-8503A21C0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74ED2-CD06-C640-B058-524353BA429A}" type="datetime1">
              <a:rPr lang="en-GB" smtClean="0"/>
              <a:t>29/05/2026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A5116-D17D-EADD-F57D-FA5C28E2A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5D357-5825-B3EF-5D56-1AC3205F2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583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B35AF-F39F-60EF-C7FA-A56EC5E48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031CB-D832-1C89-B139-7748F2772D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E434F-9E15-0878-1E62-2FA55CC2F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68EC3-48D0-F24D-BCEF-46DD66DDB969}" type="datetime1">
              <a:rPr lang="en-GB" smtClean="0"/>
              <a:t>29/05/2026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5FD16-8B51-4212-0331-0FAFB445D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2034-5878-F15A-9A94-B4C307C2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072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625D7-3AA5-1D5C-9C32-53867BD00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E17C0-100E-F604-E289-49E6DD4D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F5966B-E304-6064-2B33-D4A7F6B288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A4EBA-708D-4F34-BF61-6287DA7B2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697FC-8A6E-1942-A4C2-502684F162C1}" type="datetime1">
              <a:rPr lang="en-GB" smtClean="0"/>
              <a:t>29/05/2026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4F3696-FB09-3F89-B82F-0EA6CAA8E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86F7D0-1DF2-E355-D413-38142DA66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841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0423-69BF-482D-6EBA-753052260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2683A-616F-BA77-F8BC-0F7C77A22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2DFC0D-7593-A9B3-693F-AA60735E9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F8CE20-2DF2-86AD-024A-2529450C6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DEF890-76AD-A560-EFDB-2A09438DFC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BF866-795F-0636-7F4B-6F7CC12E4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A424FF-AF90-2E46-A679-3B9EBE55933D}" type="datetime1">
              <a:rPr lang="en-GB" smtClean="0"/>
              <a:t>29/05/2026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DA8AA5-77FB-D422-C471-4E493B1B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0C9163-365E-6610-841D-1904C0A8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491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1D703-AA99-9673-CFBF-F11EDC7A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81F7FF-223D-2FED-C1C3-30EF766B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A4DDD-11EB-F246-AB7A-9CEDEADBD1E3}" type="datetime1">
              <a:rPr lang="en-GB" smtClean="0"/>
              <a:t>29/05/2026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C00030-352F-7721-E0C4-2250E405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467309-885F-854F-30D7-49E7143F6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292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2F2B9E-E2E3-5B5C-740C-ABC2E89F2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D5473-7AAD-CB46-A9CF-E0F92F18C158}" type="datetime1">
              <a:rPr lang="en-GB" smtClean="0"/>
              <a:t>29/05/2026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1C12EE-5EDF-F23F-95CF-5E866FB74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1437C-B220-7A53-54AB-81708D29A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63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FA47-6AD2-E218-1601-A9BB8CCE0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0ACDD-FF05-3270-2530-68F906722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30426A-D9D4-5F63-2F3E-E39C6232D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323458-7B32-12BE-4327-362FF5DA6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58F6D-3F4A-DB48-AF7B-AA25146E46B7}" type="datetime1">
              <a:rPr lang="en-GB" smtClean="0"/>
              <a:t>29/05/2026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77F56-92CB-843F-3409-BEB69FA41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ECEBB-B488-69DC-A638-15EAF5D2B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65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E8BE6-1F7D-8062-5E23-51FA3CEC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4CA1CB-5A67-1024-37D8-E4954E070B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0900D2-5A48-B056-F096-7BBF7D4B8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CE8F3E-B363-704B-D4F4-B7CF452D6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C4FA6-ECCF-2748-B4C7-F5C8FE9BC957}" type="datetime1">
              <a:rPr lang="en-GB" smtClean="0"/>
              <a:t>29/05/2026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0A0FA-CAD4-6AFA-2BD7-E6078C0D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7EFAA4-1574-446F-95CE-27472D3E2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95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D7AB1-D456-4BC5-DA19-DD1E644AC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6782F1-B1AD-E5F0-A0C0-A9F9AD2749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80F4B-DF05-7D04-DB3A-179BA0191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C675B-64FF-9C44-A019-CB02FE026880}" type="datetime1">
              <a:rPr lang="en-GB" smtClean="0"/>
              <a:t>29/05/2026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4E54B-2A3F-9752-11F3-F3DFAB34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DC16B-68F5-42AE-1B25-779643C0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58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6D1443-7871-5C55-377B-3DF510BEB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0F32F0-FDD3-F07B-F442-A0CE8D95AD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FD21D-4FA8-C43C-68C4-AB256CBA7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3AEB0-98D9-D940-B26E-D6A1ED65D91A}" type="datetime1">
              <a:rPr lang="en-GB" smtClean="0"/>
              <a:t>29/05/2026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A6DC7-E422-2816-285A-7093F3DC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EA781-42CA-50D4-7D9B-2BE01D088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33363A-C4B9-0F3E-4C14-FF37FE2B7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1F52A-853A-B1AD-A8F8-4C83AD6CC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FE031-4829-6F57-6CBB-0356E16533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DDA0CB-5523-1E42-87CA-252FAC812744}" type="datetime1">
              <a:rPr lang="en-GB" smtClean="0"/>
              <a:t>29/05/2026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1623C-D1C6-E8BE-7632-75B4AD6674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https://www.nature.com/articles/s41598-026-40734-w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017055-E5D4-3CCD-CC0B-B051EEDEDC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4F8700-59A9-9F43-890F-FBD99AAFC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757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8EB94-C6DD-EB25-B42A-C0EE77F781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Literature</a:t>
            </a:r>
            <a:r>
              <a:rPr lang="zh-CN" altLang="en-US" dirty="0"/>
              <a:t> </a:t>
            </a:r>
            <a:r>
              <a:rPr lang="en-US" altLang="zh-CN" dirty="0"/>
              <a:t>Review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7CE56-52CC-8379-E5C1-9C3C2A5A23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EBB34D-2D56-E814-92A1-69CD5B068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2290531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0AC1-191B-A69F-9504-49F22BCD7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A privacy-preserving multi-user retrieval system for multimodal artificial intelligence</a:t>
            </a:r>
            <a:r>
              <a:rPr lang="zh-CN" altLang="en-US" b="1" dirty="0"/>
              <a:t> </a:t>
            </a:r>
            <a:r>
              <a:rPr lang="en-US" altLang="zh-CN" b="1" dirty="0"/>
              <a:t>-</a:t>
            </a:r>
            <a:r>
              <a:rPr lang="zh-CN" altLang="en-US" b="1" dirty="0"/>
              <a:t> </a:t>
            </a:r>
            <a:r>
              <a:rPr lang="en-US" altLang="zh-CN" b="1" dirty="0"/>
              <a:t>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90995-3564-B1CE-A3D1-396A01B6A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088"/>
            <a:ext cx="10783186" cy="453072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CN" sz="1400" b="1" dirty="0"/>
              <a:t>W</a:t>
            </a:r>
            <a:r>
              <a:rPr lang="en-GB" sz="1400" b="1" dirty="0"/>
              <a:t>hat problem</a:t>
            </a:r>
            <a:r>
              <a:rPr lang="en-US" altLang="zh-CN" sz="1400" b="1" dirty="0"/>
              <a:t>?</a:t>
            </a:r>
          </a:p>
          <a:p>
            <a:pPr lvl="1"/>
            <a:r>
              <a:rPr lang="en-US" altLang="zh-CN" sz="1400" b="1" dirty="0"/>
              <a:t>Main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Framework:</a:t>
            </a:r>
            <a:r>
              <a:rPr lang="zh-CN" altLang="en-US" sz="1400" b="1" dirty="0"/>
              <a:t> </a:t>
            </a:r>
            <a:r>
              <a:rPr lang="en-GB" sz="1400" dirty="0"/>
              <a:t>distributed edge nodes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cloud-based</a:t>
            </a:r>
            <a:r>
              <a:rPr lang="zh-CN" altLang="en-US" sz="1400" dirty="0"/>
              <a:t> </a:t>
            </a:r>
            <a:r>
              <a:rPr lang="en-US" altLang="zh-CN" sz="1400" dirty="0"/>
              <a:t>AI</a:t>
            </a:r>
            <a:r>
              <a:rPr lang="zh-CN" altLang="en-US" sz="1400" dirty="0"/>
              <a:t> </a:t>
            </a:r>
            <a:r>
              <a:rPr lang="en-US" altLang="zh-CN" sz="1400" dirty="0"/>
              <a:t>applications.</a:t>
            </a:r>
          </a:p>
          <a:p>
            <a:pPr lvl="1"/>
            <a:r>
              <a:rPr lang="en-US" altLang="zh-CN" sz="1400" b="1" dirty="0"/>
              <a:t>Edge-side:</a:t>
            </a:r>
            <a:r>
              <a:rPr lang="zh-CN" altLang="en-US" sz="1400" b="1" dirty="0"/>
              <a:t> </a:t>
            </a:r>
            <a:r>
              <a:rPr lang="en-GB" sz="1400" dirty="0"/>
              <a:t>User image / text</a:t>
            </a:r>
            <a:r>
              <a:rPr lang="zh-CN" altLang="en-US" sz="1400" dirty="0"/>
              <a:t> </a:t>
            </a:r>
            <a:r>
              <a:rPr lang="en-US" altLang="zh-CN" sz="1400" dirty="0"/>
              <a:t>-&gt;</a:t>
            </a:r>
            <a:r>
              <a:rPr lang="zh-CN" altLang="en-US" sz="1400" dirty="0"/>
              <a:t> </a:t>
            </a:r>
            <a:r>
              <a:rPr lang="en-GB" sz="1400" dirty="0"/>
              <a:t>Encoder</a:t>
            </a:r>
            <a:r>
              <a:rPr lang="zh-CN" altLang="en-US" sz="1400" dirty="0"/>
              <a:t> </a:t>
            </a:r>
            <a:r>
              <a:rPr lang="en-US" altLang="zh-CN" sz="1400" dirty="0"/>
              <a:t>-&gt;</a:t>
            </a:r>
            <a:r>
              <a:rPr lang="zh-CN" altLang="en-US" sz="1400" dirty="0"/>
              <a:t> </a:t>
            </a:r>
            <a:r>
              <a:rPr lang="en-GB" sz="1400" dirty="0"/>
              <a:t>Embedding</a:t>
            </a:r>
            <a:r>
              <a:rPr lang="zh-CN" altLang="en-US" sz="1400" dirty="0"/>
              <a:t> </a:t>
            </a:r>
            <a:endParaRPr lang="en-US" altLang="zh-CN" sz="1400" dirty="0"/>
          </a:p>
          <a:p>
            <a:pPr lvl="1"/>
            <a:r>
              <a:rPr lang="en-US" altLang="zh-CN" sz="1400" b="1" dirty="0"/>
              <a:t>Cloud–side:</a:t>
            </a:r>
            <a:r>
              <a:rPr lang="zh-CN" altLang="en-US" sz="1400" b="1" dirty="0"/>
              <a:t> </a:t>
            </a:r>
            <a:r>
              <a:rPr lang="en-GB" sz="1400" dirty="0"/>
              <a:t>Cloud retrieval / matching</a:t>
            </a:r>
            <a:r>
              <a:rPr lang="zh-CN" altLang="en-US" sz="1400" dirty="0"/>
              <a:t> </a:t>
            </a:r>
            <a:r>
              <a:rPr lang="en-US" altLang="zh-CN" sz="1400" dirty="0"/>
              <a:t>-&gt;</a:t>
            </a:r>
            <a:r>
              <a:rPr lang="zh-CN" altLang="en-US" sz="1400" dirty="0"/>
              <a:t> </a:t>
            </a:r>
            <a:r>
              <a:rPr lang="en-GB" sz="1400" dirty="0"/>
              <a:t>Return relevant image</a:t>
            </a:r>
            <a:r>
              <a:rPr lang="en-US" altLang="zh-CN" sz="1400" dirty="0"/>
              <a:t>/text</a:t>
            </a:r>
            <a:r>
              <a:rPr lang="zh-CN" altLang="en-US" sz="1400" dirty="0"/>
              <a:t> </a:t>
            </a:r>
            <a:r>
              <a:rPr lang="en-US" altLang="zh-CN" sz="1400" dirty="0"/>
              <a:t>result</a:t>
            </a:r>
            <a:endParaRPr lang="en-GB" sz="1400" dirty="0"/>
          </a:p>
          <a:p>
            <a:pPr lvl="1"/>
            <a:r>
              <a:rPr lang="en-US" altLang="zh-CN" sz="1400" b="1" dirty="0"/>
              <a:t>Context:</a:t>
            </a:r>
            <a:r>
              <a:rPr lang="zh-CN" altLang="en-US" sz="1400" b="1" dirty="0"/>
              <a:t> </a:t>
            </a:r>
            <a:r>
              <a:rPr lang="en-GB" sz="1400" dirty="0"/>
              <a:t>Raw image, text, or embedding may contain private information.</a:t>
            </a:r>
          </a:p>
          <a:p>
            <a:pPr lvl="1"/>
            <a:r>
              <a:rPr lang="en-US" altLang="zh-CN" sz="1400" b="1" dirty="0"/>
              <a:t>Used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for:</a:t>
            </a:r>
            <a:r>
              <a:rPr lang="zh-CN" altLang="en-US" sz="1400" b="1" dirty="0"/>
              <a:t> </a:t>
            </a:r>
            <a:r>
              <a:rPr lang="en-GB" sz="1400" dirty="0"/>
              <a:t>medical image retrieval</a:t>
            </a:r>
            <a:r>
              <a:rPr lang="en-US" altLang="zh-CN" sz="1400" dirty="0"/>
              <a:t>,</a:t>
            </a:r>
            <a:r>
              <a:rPr lang="zh-CN" altLang="en-US" sz="1400" dirty="0"/>
              <a:t> </a:t>
            </a:r>
            <a:r>
              <a:rPr lang="en-GB" sz="1400" dirty="0"/>
              <a:t>privacy-conscious customer service bots</a:t>
            </a:r>
            <a:r>
              <a:rPr lang="en-US" altLang="zh-CN" sz="1400" dirty="0"/>
              <a:t>.</a:t>
            </a:r>
          </a:p>
          <a:p>
            <a:r>
              <a:rPr lang="en-US" altLang="zh-CN" sz="1400" b="1" dirty="0"/>
              <a:t>W</a:t>
            </a:r>
            <a:r>
              <a:rPr lang="en-GB" sz="1400" b="1" dirty="0"/>
              <a:t>hat method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(Main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Idea)?</a:t>
            </a:r>
          </a:p>
          <a:p>
            <a:pPr lvl="1">
              <a:lnSpc>
                <a:spcPct val="120000"/>
              </a:lnSpc>
            </a:pPr>
            <a:r>
              <a:rPr lang="en-US" altLang="zh-CN" sz="1400" dirty="0"/>
              <a:t>Present</a:t>
            </a:r>
            <a:r>
              <a:rPr lang="zh-CN" altLang="en-US" sz="1400" dirty="0"/>
              <a:t> </a:t>
            </a:r>
            <a:r>
              <a:rPr lang="en-US" altLang="zh-CN" sz="1400" dirty="0"/>
              <a:t>PMIRS,</a:t>
            </a:r>
            <a:r>
              <a:rPr lang="zh-CN" altLang="en-US" sz="1400" dirty="0"/>
              <a:t> </a:t>
            </a:r>
            <a:r>
              <a:rPr lang="en-US" altLang="zh-CN" sz="1400" dirty="0"/>
              <a:t>a</a:t>
            </a:r>
            <a:r>
              <a:rPr lang="zh-CN" altLang="en-US" sz="1400" dirty="0"/>
              <a:t> </a:t>
            </a:r>
            <a:r>
              <a:rPr lang="en-US" altLang="zh-CN" sz="1400" dirty="0"/>
              <a:t>system</a:t>
            </a:r>
            <a:r>
              <a:rPr lang="zh-CN" altLang="en-US" sz="1400" dirty="0"/>
              <a:t> </a:t>
            </a:r>
            <a:r>
              <a:rPr lang="en-US" altLang="zh-CN" sz="1400" dirty="0"/>
              <a:t>Combinates</a:t>
            </a:r>
            <a:r>
              <a:rPr lang="zh-CN" altLang="en-US" sz="1400" dirty="0"/>
              <a:t> </a:t>
            </a:r>
            <a:r>
              <a:rPr lang="en-US" altLang="zh-CN" sz="1400" dirty="0"/>
              <a:t>obfuscation</a:t>
            </a:r>
            <a:r>
              <a:rPr lang="zh-CN" altLang="en-US" sz="1400" dirty="0"/>
              <a:t> </a:t>
            </a:r>
            <a:r>
              <a:rPr lang="en-US" altLang="zh-CN" sz="1400" dirty="0"/>
              <a:t>techniques</a:t>
            </a:r>
            <a:r>
              <a:rPr lang="zh-CN" altLang="en-US" sz="1400" dirty="0"/>
              <a:t> </a:t>
            </a:r>
            <a:r>
              <a:rPr lang="en-US" altLang="zh-CN" sz="1400" dirty="0"/>
              <a:t>(</a:t>
            </a:r>
            <a:r>
              <a:rPr lang="en-GB" sz="1400" dirty="0"/>
              <a:t>block-wise projection</a:t>
            </a:r>
            <a:r>
              <a:rPr lang="en-US" altLang="zh-CN" sz="1400" dirty="0"/>
              <a:t>),</a:t>
            </a:r>
            <a:r>
              <a:rPr lang="zh-CN" altLang="en-US" sz="1400" dirty="0"/>
              <a:t> </a:t>
            </a:r>
            <a:r>
              <a:rPr lang="en-US" altLang="zh-CN" sz="1400" dirty="0"/>
              <a:t>encrypted</a:t>
            </a:r>
            <a:r>
              <a:rPr lang="zh-CN" altLang="en-US" sz="1400" dirty="0"/>
              <a:t> </a:t>
            </a:r>
            <a:r>
              <a:rPr lang="en-US" altLang="zh-CN" sz="1400" dirty="0"/>
              <a:t>inference</a:t>
            </a:r>
            <a:r>
              <a:rPr lang="zh-CN" altLang="en-US" sz="1400" dirty="0"/>
              <a:t> </a:t>
            </a:r>
            <a:r>
              <a:rPr lang="en-US" altLang="zh-CN" sz="1400" dirty="0"/>
              <a:t>(AES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CBC</a:t>
            </a:r>
            <a:r>
              <a:rPr lang="zh-CN" altLang="en-US" sz="1400" dirty="0"/>
              <a:t> </a:t>
            </a:r>
            <a:r>
              <a:rPr lang="en-US" altLang="zh-CN" sz="1400" dirty="0"/>
              <a:t>1</a:t>
            </a:r>
            <a:r>
              <a:rPr lang="en-GB" sz="1400" dirty="0"/>
              <a:t>28-bit keys</a:t>
            </a:r>
            <a:r>
              <a:rPr lang="en-US" altLang="zh-CN" sz="1400" dirty="0"/>
              <a:t>),</a:t>
            </a:r>
            <a:r>
              <a:rPr lang="zh-CN" altLang="en-US" sz="1400" dirty="0"/>
              <a:t> </a:t>
            </a:r>
            <a:r>
              <a:rPr lang="en-GB" sz="1400" dirty="0"/>
              <a:t>secure</a:t>
            </a:r>
            <a:r>
              <a:rPr lang="zh-CN" altLang="en-US" sz="1400" dirty="0"/>
              <a:t> </a:t>
            </a:r>
            <a:r>
              <a:rPr lang="en-US" altLang="zh-CN" sz="1400" dirty="0"/>
              <a:t>key</a:t>
            </a:r>
            <a:r>
              <a:rPr lang="zh-CN" altLang="en-US" sz="1400" dirty="0"/>
              <a:t> </a:t>
            </a:r>
            <a:r>
              <a:rPr lang="en-US" altLang="zh-CN" sz="1400" dirty="0"/>
              <a:t>management</a:t>
            </a:r>
            <a:r>
              <a:rPr lang="zh-CN" altLang="en-US" sz="1400" dirty="0"/>
              <a:t> </a:t>
            </a:r>
            <a:r>
              <a:rPr lang="en-US" altLang="zh-CN" sz="1400" dirty="0"/>
              <a:t>(</a:t>
            </a:r>
            <a:r>
              <a:rPr lang="en-GB" sz="1400" dirty="0"/>
              <a:t>Diffie-Hellman</a:t>
            </a:r>
            <a:r>
              <a:rPr lang="en-US" altLang="zh-CN" sz="1400" dirty="0"/>
              <a:t>)</a:t>
            </a:r>
            <a:r>
              <a:rPr lang="zh-CN" altLang="en-US" sz="1400" dirty="0"/>
              <a:t> 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federated</a:t>
            </a:r>
            <a:r>
              <a:rPr lang="zh-CN" altLang="en-US" sz="1400" dirty="0"/>
              <a:t> </a:t>
            </a:r>
            <a:r>
              <a:rPr lang="en-US" altLang="zh-CN" sz="1400" dirty="0"/>
              <a:t>learning.</a:t>
            </a:r>
            <a:r>
              <a:rPr lang="zh-CN" altLang="en-US" sz="1400" dirty="0"/>
              <a:t> </a:t>
            </a:r>
            <a:endParaRPr lang="en-GB" altLang="zh-CN" sz="1400" dirty="0"/>
          </a:p>
          <a:p>
            <a:pPr lvl="1">
              <a:lnSpc>
                <a:spcPct val="120000"/>
              </a:lnSpc>
            </a:pPr>
            <a:r>
              <a:rPr lang="en-GB" sz="1400" dirty="0"/>
              <a:t>In the training phase, using Federated learning for Privacy-Preserving Training, which improves the F1-score and precision of the model without user-sensitive data.  In the inference phase, combining obfuscation techniques, encrypted techniques (AES + CBC) and DH for secure key management.</a:t>
            </a:r>
            <a:endParaRPr lang="en-GB" altLang="zh-CN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5F6BB6-488C-819E-0492-AB04D9C63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www.nature.com</a:t>
            </a:r>
            <a:r>
              <a:rPr lang="en-US" dirty="0"/>
              <a:t>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2621794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F908C-28C7-6B0F-B44D-D2DA2C3C6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A privacy-preserving multi-user retrieval system for multimodal artificial intelligence</a:t>
            </a:r>
            <a:r>
              <a:rPr lang="zh-CN" altLang="en-US" b="1" dirty="0"/>
              <a:t> </a:t>
            </a:r>
            <a:r>
              <a:rPr lang="en-US" altLang="zh-CN" b="1" dirty="0"/>
              <a:t>-</a:t>
            </a:r>
            <a:r>
              <a:rPr lang="zh-CN" altLang="en-US" b="1" dirty="0"/>
              <a:t> </a:t>
            </a:r>
            <a:r>
              <a:rPr lang="en-US" altLang="zh-CN" b="1" dirty="0"/>
              <a:t>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4DE2E-D81A-FC94-4DA8-8CE8BD15D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zh-CN" sz="1400" b="1" dirty="0"/>
              <a:t>Threat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Model</a:t>
            </a:r>
            <a:r>
              <a:rPr lang="en-US" altLang="zh-CN" sz="1400" dirty="0"/>
              <a:t>:</a:t>
            </a:r>
            <a:r>
              <a:rPr lang="zh-CN" altLang="en-US" sz="1400" dirty="0"/>
              <a:t> </a:t>
            </a:r>
            <a:r>
              <a:rPr lang="en-GB" sz="1400" dirty="0"/>
              <a:t>The threat model assumes that the cloud server is not fully trusted</a:t>
            </a:r>
            <a:r>
              <a:rPr lang="en-US" altLang="zh-CN" sz="1400" dirty="0"/>
              <a:t>.</a:t>
            </a:r>
          </a:p>
          <a:p>
            <a:r>
              <a:rPr lang="en-US" altLang="zh-CN" sz="1400" b="1" dirty="0"/>
              <a:t>Framework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Design: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r>
              <a:rPr lang="en-US" altLang="zh-CN" sz="1400" b="1" dirty="0"/>
              <a:t>Component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Selection:</a:t>
            </a:r>
          </a:p>
          <a:p>
            <a:pPr lvl="1"/>
            <a:r>
              <a:rPr lang="en-US" altLang="zh-CN" sz="1400" dirty="0"/>
              <a:t>A</a:t>
            </a:r>
            <a:r>
              <a:rPr lang="zh-CN" altLang="en-US" sz="1400" dirty="0"/>
              <a:t> </a:t>
            </a:r>
            <a:r>
              <a:rPr lang="en-US" altLang="zh-CN" sz="1400" dirty="0"/>
              <a:t>lightweight</a:t>
            </a:r>
            <a:r>
              <a:rPr lang="zh-CN" altLang="en-US" sz="1400" dirty="0"/>
              <a:t> </a:t>
            </a:r>
            <a:r>
              <a:rPr lang="en-US" altLang="zh-CN" sz="1400" dirty="0"/>
              <a:t>model</a:t>
            </a:r>
            <a:r>
              <a:rPr lang="zh-CN" altLang="en-US" sz="1400" dirty="0"/>
              <a:t> </a:t>
            </a:r>
            <a:r>
              <a:rPr lang="en-US" altLang="zh-CN" sz="1400" dirty="0"/>
              <a:t>based</a:t>
            </a:r>
            <a:r>
              <a:rPr lang="zh-CN" altLang="en-US" sz="1400" dirty="0"/>
              <a:t> </a:t>
            </a:r>
            <a:r>
              <a:rPr lang="en-US" altLang="zh-CN" sz="1400" dirty="0"/>
              <a:t>on</a:t>
            </a:r>
            <a:r>
              <a:rPr lang="zh-CN" altLang="en-US" sz="1400" dirty="0"/>
              <a:t> </a:t>
            </a:r>
            <a:r>
              <a:rPr lang="en-US" altLang="zh-CN" sz="1400" dirty="0"/>
              <a:t>the</a:t>
            </a:r>
            <a:r>
              <a:rPr lang="zh-CN" altLang="en-US" sz="1400" dirty="0"/>
              <a:t> </a:t>
            </a:r>
            <a:r>
              <a:rPr lang="en-US" altLang="zh-CN" sz="1400" dirty="0"/>
              <a:t>CLIP</a:t>
            </a:r>
            <a:r>
              <a:rPr lang="zh-CN" altLang="en-US" sz="1400" dirty="0"/>
              <a:t> </a:t>
            </a:r>
            <a:r>
              <a:rPr lang="en-US" altLang="zh-CN" sz="1400" dirty="0"/>
              <a:t>codebase.</a:t>
            </a:r>
            <a:r>
              <a:rPr lang="zh-CN" altLang="en-US" sz="1400" dirty="0"/>
              <a:t> </a:t>
            </a:r>
            <a:r>
              <a:rPr lang="en-US" altLang="zh-CN" sz="1400" dirty="0"/>
              <a:t>(Pre-trained</a:t>
            </a:r>
            <a:r>
              <a:rPr lang="zh-CN" altLang="en-US" sz="1400" dirty="0"/>
              <a:t> </a:t>
            </a:r>
            <a:r>
              <a:rPr lang="en-US" altLang="zh-CN" sz="1400" dirty="0"/>
              <a:t>model</a:t>
            </a:r>
            <a:r>
              <a:rPr lang="zh-CN" altLang="en-US" sz="1400" dirty="0"/>
              <a:t> </a:t>
            </a:r>
            <a:r>
              <a:rPr lang="en-US" altLang="zh-CN" sz="1400" dirty="0"/>
              <a:t>and</a:t>
            </a:r>
            <a:r>
              <a:rPr lang="zh-CN" altLang="en-US" sz="1400" dirty="0"/>
              <a:t> </a:t>
            </a:r>
            <a:r>
              <a:rPr lang="en-US" altLang="zh-CN" sz="1400" dirty="0"/>
              <a:t>fine-tuned)</a:t>
            </a:r>
            <a:r>
              <a:rPr lang="zh-CN" altLang="en-US" sz="1400" dirty="0"/>
              <a:t> </a:t>
            </a:r>
            <a:endParaRPr lang="en-US" altLang="zh-CN" sz="1400" dirty="0"/>
          </a:p>
          <a:p>
            <a:pPr lvl="1"/>
            <a:r>
              <a:rPr lang="en-US" altLang="zh-CN" sz="1400" dirty="0"/>
              <a:t>Encryption</a:t>
            </a:r>
            <a:r>
              <a:rPr lang="zh-CN" altLang="en-US" sz="1400" dirty="0"/>
              <a:t> </a:t>
            </a:r>
            <a:r>
              <a:rPr lang="en-US" altLang="zh-CN" sz="1400" dirty="0"/>
              <a:t>Algorithm</a:t>
            </a:r>
            <a:r>
              <a:rPr lang="zh-CN" altLang="en-US" sz="1400" dirty="0"/>
              <a:t> </a:t>
            </a:r>
            <a:r>
              <a:rPr lang="en-US" altLang="zh-CN" sz="1400" dirty="0"/>
              <a:t>:</a:t>
            </a:r>
            <a:r>
              <a:rPr lang="zh-CN" altLang="en-US" sz="1400" dirty="0"/>
              <a:t> </a:t>
            </a:r>
            <a:r>
              <a:rPr lang="en-US" altLang="zh-CN" sz="1400" dirty="0"/>
              <a:t>AES-CBC</a:t>
            </a:r>
            <a:r>
              <a:rPr lang="zh-CN" altLang="en-US" sz="1400" dirty="0"/>
              <a:t> </a:t>
            </a:r>
            <a:r>
              <a:rPr lang="en-US" altLang="zh-CN" sz="1400" dirty="0"/>
              <a:t>128</a:t>
            </a:r>
            <a:r>
              <a:rPr lang="zh-CN" altLang="en-US" sz="1400" dirty="0"/>
              <a:t> </a:t>
            </a:r>
            <a:r>
              <a:rPr lang="en-US" altLang="zh-CN" sz="1400" dirty="0"/>
              <a:t>bits,</a:t>
            </a:r>
            <a:r>
              <a:rPr lang="zh-CN" altLang="en-US" sz="1400" dirty="0"/>
              <a:t>                                      </a:t>
            </a:r>
            <a:endParaRPr lang="en-GB" altLang="zh-CN" sz="1400" dirty="0"/>
          </a:p>
          <a:p>
            <a:pPr lvl="1"/>
            <a:r>
              <a:rPr lang="en-GB" sz="1400" b="1" dirty="0"/>
              <a:t>Fine-tuning method: </a:t>
            </a:r>
            <a:r>
              <a:rPr lang="en-GB" sz="1400" dirty="0"/>
              <a:t>Federated Learning</a:t>
            </a:r>
            <a:r>
              <a:rPr lang="zh-CN" altLang="en-US" sz="1400" dirty="0"/>
              <a:t> </a:t>
            </a:r>
            <a:r>
              <a:rPr lang="en-US" altLang="zh-CN" sz="1400" dirty="0"/>
              <a:t>(Upload</a:t>
            </a:r>
            <a:r>
              <a:rPr lang="zh-CN" altLang="en-US" sz="1400" dirty="0"/>
              <a:t> </a:t>
            </a:r>
            <a:r>
              <a:rPr lang="en-US" altLang="zh-CN" sz="1400" dirty="0"/>
              <a:t>weights</a:t>
            </a:r>
            <a:r>
              <a:rPr lang="zh-CN" altLang="en-US" sz="1400" dirty="0"/>
              <a:t> </a:t>
            </a:r>
            <a:r>
              <a:rPr lang="en-US" altLang="zh-CN" sz="1400" dirty="0"/>
              <a:t>with</a:t>
            </a:r>
            <a:r>
              <a:rPr lang="zh-CN" altLang="en-US" sz="1400" dirty="0"/>
              <a:t> </a:t>
            </a:r>
            <a:r>
              <a:rPr lang="en-US" altLang="zh-CN" sz="1400" dirty="0"/>
              <a:t>AES</a:t>
            </a:r>
            <a:r>
              <a:rPr lang="zh-CN" altLang="en-US" sz="1400" dirty="0"/>
              <a:t> </a:t>
            </a:r>
            <a:r>
              <a:rPr lang="en-US" altLang="zh-CN" sz="1400" dirty="0"/>
              <a:t>Encryption)</a:t>
            </a:r>
            <a:endParaRPr lang="en-GB" altLang="zh-CN" sz="1400" dirty="0"/>
          </a:p>
          <a:p>
            <a:pPr>
              <a:lnSpc>
                <a:spcPct val="100000"/>
              </a:lnSpc>
            </a:pPr>
            <a:r>
              <a:rPr lang="en-US" altLang="zh-CN" sz="1400" b="1" dirty="0"/>
              <a:t>Evaluation:</a:t>
            </a:r>
          </a:p>
          <a:p>
            <a:pPr lvl="1">
              <a:lnSpc>
                <a:spcPct val="100000"/>
              </a:lnSpc>
            </a:pPr>
            <a:r>
              <a:rPr lang="en-GB" sz="1400" dirty="0"/>
              <a:t>Simulated cloud-based LLM environment </a:t>
            </a:r>
          </a:p>
          <a:p>
            <a:pPr lvl="1">
              <a:lnSpc>
                <a:spcPct val="100000"/>
              </a:lnSpc>
            </a:pPr>
            <a:r>
              <a:rPr lang="en-US" altLang="zh-CN" sz="1400" dirty="0"/>
              <a:t>F1-score</a:t>
            </a:r>
          </a:p>
          <a:p>
            <a:pPr>
              <a:lnSpc>
                <a:spcPct val="100000"/>
              </a:lnSpc>
            </a:pPr>
            <a:r>
              <a:rPr lang="en-US" altLang="zh-CN" sz="1400" b="1" dirty="0"/>
              <a:t>Data</a:t>
            </a:r>
            <a:r>
              <a:rPr lang="zh-CN" altLang="en-US" sz="1400" b="1" dirty="0"/>
              <a:t> </a:t>
            </a:r>
            <a:r>
              <a:rPr lang="en-US" altLang="zh-CN" sz="1400" b="1" dirty="0"/>
              <a:t>Set:</a:t>
            </a:r>
          </a:p>
          <a:p>
            <a:pPr lvl="1">
              <a:lnSpc>
                <a:spcPct val="100000"/>
              </a:lnSpc>
            </a:pPr>
            <a:r>
              <a:rPr lang="en-GB" altLang="zh-CN" sz="1400" dirty="0"/>
              <a:t>ImageNet</a:t>
            </a:r>
            <a:endParaRPr lang="en-US" altLang="zh-CN" sz="1400" dirty="0"/>
          </a:p>
          <a:p>
            <a:pPr>
              <a:lnSpc>
                <a:spcPct val="100000"/>
              </a:lnSpc>
            </a:pPr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A341F8-C67F-B0B7-7EF7-16F1814F2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413897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AF47D-19A6-CBF7-155E-C22C0B9C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A privacy-preserving multi-user retrieval system for multimodal artificial intelligence</a:t>
            </a:r>
            <a:r>
              <a:rPr lang="zh-CN" altLang="en-US" b="1" dirty="0"/>
              <a:t> </a:t>
            </a:r>
            <a:r>
              <a:rPr lang="en-US" altLang="zh-CN" b="1" dirty="0"/>
              <a:t>-</a:t>
            </a:r>
            <a:r>
              <a:rPr lang="zh-CN" altLang="en-US" b="1" dirty="0"/>
              <a:t> </a:t>
            </a:r>
            <a:r>
              <a:rPr lang="en-US" altLang="zh-CN" b="1" dirty="0"/>
              <a:t>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09DC5-3A9E-91B2-7AC9-A3742F077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sz="1400" b="1" dirty="0"/>
              <a:t>Limitations:</a:t>
            </a:r>
          </a:p>
          <a:p>
            <a:pPr lvl="1">
              <a:lnSpc>
                <a:spcPct val="100000"/>
              </a:lnSpc>
            </a:pPr>
            <a:r>
              <a:rPr lang="en-GB" sz="1400" dirty="0"/>
              <a:t>Although PMIRS presents a layered privacy-preserving design, its security architecture is not optimal. </a:t>
            </a:r>
          </a:p>
          <a:p>
            <a:pPr lvl="1">
              <a:lnSpc>
                <a:spcPct val="100000"/>
              </a:lnSpc>
            </a:pPr>
            <a:endParaRPr lang="en-GB" sz="1400" dirty="0"/>
          </a:p>
          <a:p>
            <a:pPr lvl="1">
              <a:lnSpc>
                <a:spcPct val="100000"/>
              </a:lnSpc>
            </a:pPr>
            <a:r>
              <a:rPr lang="en-GB" sz="1400" dirty="0"/>
              <a:t>First, the use of AES-CBC with 128-bit keys only provides confidentiality and does not offer built-in integrity protection. Without an authentication tag or MAC, encrypted embeddings may still be vulnerable to tampering or ciphertext manipulation. A modern authenticated encryption scheme such as AES-GCM or ChaCha20-Poly1305 would be more appropriate, especially for latency-sensitive edge or mobile environments. </a:t>
            </a:r>
          </a:p>
          <a:p>
            <a:pPr lvl="1">
              <a:lnSpc>
                <a:spcPct val="100000"/>
              </a:lnSpc>
            </a:pPr>
            <a:endParaRPr lang="en-GB" sz="1400" dirty="0"/>
          </a:p>
          <a:p>
            <a:pPr lvl="1">
              <a:lnSpc>
                <a:spcPct val="100000"/>
              </a:lnSpc>
            </a:pPr>
            <a:r>
              <a:rPr lang="en-GB" sz="1400" dirty="0"/>
              <a:t>Second, Diffie–Hellman is mainly a key agreement protocol rather than a complete authentication mechanism. If DH is performed for every session, it may introduce unnecessary computational and communication overhead, and without signatures or certificates, it may also be vulnerable to man-in-the-middle attacks. </a:t>
            </a:r>
          </a:p>
          <a:p>
            <a:pPr lvl="1">
              <a:lnSpc>
                <a:spcPct val="100000"/>
              </a:lnSpc>
            </a:pPr>
            <a:endParaRPr lang="en-GB" sz="1400" dirty="0"/>
          </a:p>
          <a:p>
            <a:pPr lvl="1">
              <a:lnSpc>
                <a:spcPct val="100000"/>
              </a:lnSpc>
            </a:pPr>
            <a:r>
              <a:rPr lang="en-GB" sz="1400" dirty="0"/>
              <a:t>Third, although federated learning reduces raw data exposure by keeping user data local, the system does not provide clear </a:t>
            </a:r>
            <a:r>
              <a:rPr lang="en-GB" sz="1400" dirty="0" err="1"/>
              <a:t>defenses</a:t>
            </a:r>
            <a:r>
              <a:rPr lang="en-GB" sz="1400" dirty="0"/>
              <a:t> against malicious clients. 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6FEAA-DFC8-C950-105B-0334C349F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3186421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AE818-7882-9A9B-C8F8-D37943F90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344F-77B7-01A4-3529-F2F127313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</a:t>
            </a:r>
            <a:r>
              <a:rPr lang="en-GB" dirty="0"/>
              <a:t>hat problem</a:t>
            </a:r>
            <a:r>
              <a:rPr lang="en-US" altLang="zh-CN" dirty="0"/>
              <a:t>?</a:t>
            </a:r>
          </a:p>
          <a:p>
            <a:r>
              <a:rPr lang="en-US" altLang="zh-CN" dirty="0"/>
              <a:t>W</a:t>
            </a:r>
            <a:r>
              <a:rPr lang="en-GB" dirty="0"/>
              <a:t>hat method</a:t>
            </a:r>
            <a:r>
              <a:rPr lang="zh-CN" altLang="en-US" dirty="0"/>
              <a:t> </a:t>
            </a:r>
            <a:r>
              <a:rPr lang="en-US" altLang="zh-CN" dirty="0"/>
              <a:t>(Main</a:t>
            </a:r>
            <a:r>
              <a:rPr lang="zh-CN" altLang="en-US" dirty="0"/>
              <a:t> </a:t>
            </a:r>
            <a:r>
              <a:rPr lang="en-US" altLang="zh-CN" dirty="0"/>
              <a:t>Idea)</a:t>
            </a:r>
          </a:p>
          <a:p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Selection:</a:t>
            </a:r>
          </a:p>
          <a:p>
            <a:r>
              <a:rPr lang="en-US" altLang="zh-CN" dirty="0"/>
              <a:t>Evaluation:</a:t>
            </a:r>
          </a:p>
          <a:p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Set:</a:t>
            </a:r>
          </a:p>
          <a:p>
            <a:r>
              <a:rPr lang="en-US" altLang="zh-CN" dirty="0"/>
              <a:t>Limitations: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F37021-6BEC-43E9-9CEA-8955EB682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1448075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CCCFF-AF7C-A08C-979A-4F8AB7D20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D198E-1B51-0931-2D6A-D84BD3E2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Semantic Edge–Cloud Communication for Real-Time Urban Traffic Surveillance With </a:t>
            </a:r>
            <a:r>
              <a:rPr lang="en-GB" dirty="0" err="1"/>
              <a:t>ViT</a:t>
            </a:r>
            <a:r>
              <a:rPr lang="en-GB" dirty="0"/>
              <a:t> and LLMs Over Mobile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A4C7-9A0E-A4EA-C634-88AF5FA70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 The</a:t>
            </a:r>
            <a:r>
              <a:rPr lang="zh-CN" altLang="en-US" dirty="0"/>
              <a:t> </a:t>
            </a:r>
            <a:r>
              <a:rPr lang="en-US" altLang="zh-CN" dirty="0"/>
              <a:t>Literature</a:t>
            </a:r>
            <a:r>
              <a:rPr lang="zh-CN" altLang="en-US" dirty="0"/>
              <a:t> </a:t>
            </a:r>
            <a:r>
              <a:rPr lang="en-GB" dirty="0"/>
              <a:t>illustrates the proposed edge-cloud semantic communication pipeline, where YOLOv11 first extracts vehicle-centric area at the edge, </a:t>
            </a:r>
            <a:r>
              <a:rPr lang="en-GB" dirty="0" err="1"/>
              <a:t>ViT</a:t>
            </a:r>
            <a:r>
              <a:rPr lang="en-GB" dirty="0"/>
              <a:t> converts these area into compact embeddings for mobile network transmission, and the cloud reconstructs the images and uses </a:t>
            </a:r>
            <a:r>
              <a:rPr lang="en-GB" dirty="0" err="1"/>
              <a:t>LLaVA</a:t>
            </a:r>
            <a:r>
              <a:rPr lang="en-GB" dirty="0"/>
              <a:t> to generate traffic surveillance responses.</a:t>
            </a:r>
          </a:p>
          <a:p>
            <a:endParaRPr lang="en-GB" altLang="zh-CN" dirty="0"/>
          </a:p>
          <a:p>
            <a:endParaRPr lang="en-GB" altLang="zh-CN" dirty="0"/>
          </a:p>
          <a:p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Useful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my</a:t>
            </a:r>
            <a:r>
              <a:rPr lang="zh-CN" altLang="en-US" dirty="0"/>
              <a:t> </a:t>
            </a:r>
            <a:r>
              <a:rPr lang="en-US" altLang="zh-CN" dirty="0"/>
              <a:t>research</a:t>
            </a:r>
            <a:r>
              <a:rPr lang="zh-CN" altLang="en-US" dirty="0"/>
              <a:t> </a:t>
            </a:r>
            <a:r>
              <a:rPr lang="en-US" altLang="zh-CN" dirty="0"/>
              <a:t>topic.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E73662-629B-12DB-0460-C54907366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3118782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773E-0C59-C610-190B-B70A9C180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B52E8-0A49-4FA9-FE34-E91042019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Vision-Language Models for Edge Networks: A Comprehensive Survey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841B7-8422-EDB0-7428-83D0A97B8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i="1" dirty="0"/>
              <a:t>Summary</a:t>
            </a:r>
            <a:r>
              <a:rPr lang="en-US" altLang="zh-CN" b="1" i="1" dirty="0"/>
              <a:t>:</a:t>
            </a:r>
            <a:r>
              <a:rPr lang="zh-CN" altLang="en-US" b="1" i="1" dirty="0"/>
              <a:t> </a:t>
            </a:r>
            <a:r>
              <a:rPr lang="en-GB" b="1" dirty="0"/>
              <a:t>Privacy-preserving and secure edge AI techniques</a:t>
            </a:r>
          </a:p>
          <a:p>
            <a:r>
              <a:rPr lang="en-GB" b="1" dirty="0"/>
              <a:t>Federated Learning:</a:t>
            </a:r>
            <a:r>
              <a:rPr lang="en-GB" dirty="0"/>
              <a:t> Keeps data localized on edge devices and only shares model </a:t>
            </a:r>
            <a:r>
              <a:rPr lang="en-US" altLang="zh-CN" dirty="0"/>
              <a:t>weights</a:t>
            </a:r>
            <a:r>
              <a:rPr lang="en-GB" dirty="0"/>
              <a:t> instead of raw data.</a:t>
            </a:r>
          </a:p>
          <a:p>
            <a:r>
              <a:rPr lang="en-GB" b="1" dirty="0"/>
              <a:t>Differential Privacy:</a:t>
            </a:r>
            <a:r>
              <a:rPr lang="en-GB" dirty="0"/>
              <a:t> Adds controlled noise to model updates or outputs to reduce the risk of reconstructing sensitive information.</a:t>
            </a:r>
          </a:p>
          <a:p>
            <a:r>
              <a:rPr lang="en-GB" b="1" dirty="0"/>
              <a:t>Secure Aggregation:</a:t>
            </a:r>
            <a:r>
              <a:rPr lang="en-GB" dirty="0"/>
              <a:t> Ensures that the server can only access aggregated model updates, not individual client updates.</a:t>
            </a:r>
          </a:p>
          <a:p>
            <a:r>
              <a:rPr lang="en-GB" b="1" dirty="0"/>
              <a:t>Homomorphic Encryption:</a:t>
            </a:r>
            <a:r>
              <a:rPr lang="en-GB" dirty="0"/>
              <a:t> Enables computation to be performed directly on encrypted data without decrypting it.</a:t>
            </a:r>
          </a:p>
          <a:p>
            <a:r>
              <a:rPr lang="en-GB" b="1" dirty="0"/>
              <a:t>Secure Multiparty Computation:</a:t>
            </a:r>
            <a:r>
              <a:rPr lang="en-GB" dirty="0"/>
              <a:t> Allows multiple parties to jointly compute a result without revealing their private inputs to one another.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A3AA-C2BF-F154-FF34-DB6F9303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/document/11032085</a:t>
            </a:r>
          </a:p>
        </p:txBody>
      </p:sp>
    </p:spTree>
    <p:extLst>
      <p:ext uri="{BB962C8B-B14F-4D97-AF65-F5344CB8AC3E}">
        <p14:creationId xmlns:p14="http://schemas.microsoft.com/office/powerpoint/2010/main" val="2827491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F5A85-EA98-D8BD-1F9D-BEC7DFD0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ENCRYPTION-FRIENDLY LLM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C3BED-7FC2-C206-C6C5-1FE537CE7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HE is applied to both the fine-tuning phase and the inference phase.</a:t>
            </a:r>
          </a:p>
          <a:p>
            <a:r>
              <a:rPr lang="en-GB" dirty="0"/>
              <a:t>Gaussian Kernel attention is used instead of </a:t>
            </a:r>
            <a:r>
              <a:rPr lang="en-GB" dirty="0" err="1"/>
              <a:t>Softmax</a:t>
            </a:r>
            <a:r>
              <a:rPr lang="en-GB" dirty="0"/>
              <a:t> attention to reduce computational cost under HE.</a:t>
            </a:r>
          </a:p>
          <a:p>
            <a:r>
              <a:rPr lang="en-GB" dirty="0" err="1"/>
              <a:t>LoRA</a:t>
            </a:r>
            <a:r>
              <a:rPr lang="en-GB" dirty="0"/>
              <a:t> fine-tuning is used to reduce large ciphertext-ciphertext matrix multiplications.</a:t>
            </a:r>
          </a:p>
          <a:p>
            <a:r>
              <a:rPr lang="en-GB" dirty="0"/>
              <a:t>The architecture makes private fine-tuning and encrypted inference more practical.</a:t>
            </a:r>
          </a:p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4363A0-9E80-90DC-5782-59061E15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arxiv.org</a:t>
            </a:r>
            <a:r>
              <a:rPr lang="en-US" dirty="0"/>
              <a:t>/abs/2410.02486</a:t>
            </a:r>
          </a:p>
        </p:txBody>
      </p:sp>
    </p:spTree>
    <p:extLst>
      <p:ext uri="{BB962C8B-B14F-4D97-AF65-F5344CB8AC3E}">
        <p14:creationId xmlns:p14="http://schemas.microsoft.com/office/powerpoint/2010/main" val="38911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A4D11-AA0E-D313-E919-DB54E3A3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Related</a:t>
            </a:r>
            <a:r>
              <a:rPr lang="zh-CN" altLang="en-US" dirty="0"/>
              <a:t> </a:t>
            </a:r>
            <a:r>
              <a:rPr lang="en-US" altLang="zh-CN" dirty="0"/>
              <a:t>work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0791B32-F5E3-0A59-4F83-9F03103393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2499741"/>
              </p:ext>
            </p:extLst>
          </p:nvPr>
        </p:nvGraphicFramePr>
        <p:xfrm>
          <a:off x="324853" y="1825625"/>
          <a:ext cx="11028948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2994">
                  <a:extLst>
                    <a:ext uri="{9D8B030D-6E8A-4147-A177-3AD203B41FA5}">
                      <a16:colId xmlns:a16="http://schemas.microsoft.com/office/drawing/2014/main" val="2762800554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3288806568"/>
                    </a:ext>
                  </a:extLst>
                </a:gridCol>
                <a:gridCol w="1472557">
                  <a:extLst>
                    <a:ext uri="{9D8B030D-6E8A-4147-A177-3AD203B41FA5}">
                      <a16:colId xmlns:a16="http://schemas.microsoft.com/office/drawing/2014/main" val="1868085366"/>
                    </a:ext>
                  </a:extLst>
                </a:gridCol>
                <a:gridCol w="2757237">
                  <a:extLst>
                    <a:ext uri="{9D8B030D-6E8A-4147-A177-3AD203B41FA5}">
                      <a16:colId xmlns:a16="http://schemas.microsoft.com/office/drawing/2014/main" val="40474090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DataSet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21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  <a:p>
                      <a:r>
                        <a:rPr lang="en-US" sz="1200" dirty="0"/>
                        <a:t>Inference</a:t>
                      </a:r>
                      <a:r>
                        <a:rPr lang="zh-CN" altLang="en-US" sz="1200" dirty="0"/>
                        <a:t>：</a:t>
                      </a:r>
                      <a:r>
                        <a:rPr lang="en-US" sz="1200" dirty="0"/>
                        <a:t>Obfuscation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embedding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+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encrypted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image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(AES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 err="1"/>
                        <a:t>Encrptyion</a:t>
                      </a:r>
                      <a:r>
                        <a:rPr lang="en-US" altLang="zh-CN" sz="1200" dirty="0"/>
                        <a:t>)</a:t>
                      </a:r>
                    </a:p>
                    <a:p>
                      <a:endParaRPr lang="en-US" altLang="zh-CN" sz="1200" dirty="0"/>
                    </a:p>
                    <a:p>
                      <a:r>
                        <a:rPr lang="en-US" altLang="zh-CN" sz="1200" dirty="0"/>
                        <a:t>Retrieval: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Obfuscation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embedding</a:t>
                      </a:r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Multi-user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Authentication: </a:t>
                      </a:r>
                      <a:r>
                        <a:rPr lang="en-GB" sz="1200" dirty="0"/>
                        <a:t>Diffie-Hellman</a:t>
                      </a:r>
                      <a:endParaRPr lang="en-US" altLang="zh-CN" sz="1200" dirty="0"/>
                    </a:p>
                    <a:p>
                      <a:endParaRPr lang="en-US" sz="1200" dirty="0"/>
                    </a:p>
                    <a:p>
                      <a:r>
                        <a:rPr lang="en-US" sz="1200" dirty="0"/>
                        <a:t>Fed</a:t>
                      </a:r>
                      <a:r>
                        <a:rPr lang="en-US" altLang="zh-CN" sz="1200" dirty="0"/>
                        <a:t>e</a:t>
                      </a:r>
                      <a:r>
                        <a:rPr lang="en-US" sz="1200" dirty="0"/>
                        <a:t>rated Learning:</a:t>
                      </a:r>
                      <a:r>
                        <a:rPr lang="zh-CN" altLang="en-US" sz="1200" dirty="0"/>
                        <a:t>  </a:t>
                      </a:r>
                      <a:r>
                        <a:rPr lang="en-US" altLang="zh-CN" sz="1200" dirty="0"/>
                        <a:t>Local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model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weights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+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AES</a:t>
                      </a:r>
                      <a:r>
                        <a:rPr lang="zh-CN" altLang="en-US" sz="1200" dirty="0"/>
                        <a:t> </a:t>
                      </a:r>
                      <a:r>
                        <a:rPr lang="en-US" altLang="zh-CN" sz="1200" dirty="0"/>
                        <a:t>encryption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PMIRS combines block-wise embedding obfuscation, AES-128-CBC encryption, Diffie-Hellman key exchange, and federated learning to support privacy-preserving multimodal retrieval. It protects query embeddings during inference, secures multi-user key sharing, and encrypts local model weights during federated aggregation.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ImageNet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obfuscated embeddings</a:t>
                      </a:r>
                      <a:r>
                        <a:rPr lang="zh-CN" alt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altLang="zh-CN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remains a risk of information leakage</a:t>
                      </a:r>
                      <a:r>
                        <a:rPr lang="en-US" altLang="zh-CN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altLang="zh-CN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The system relies on a semi-trusted cloud server assumption</a:t>
                      </a:r>
                      <a:r>
                        <a:rPr lang="zh-CN" alt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(Just leak user data)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ot yet fully support advanced search functions such as multi-keyword queries, fuzzy search, or contextual semantic refinement.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62102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703690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3950A9-7076-3034-010B-C53DBAF0A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1460251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DB24-529F-E8F9-536A-6C8005194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Initial</a:t>
            </a:r>
            <a:r>
              <a:rPr lang="zh-CN" altLang="en-US" dirty="0"/>
              <a:t> </a:t>
            </a:r>
            <a:r>
              <a:rPr lang="en-US" altLang="zh-CN" dirty="0"/>
              <a:t>Ideas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482A8-7823-7754-9344-36EA99AB2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DTLS 1.3</a:t>
            </a:r>
            <a:r>
              <a:rPr lang="zh-CN" altLang="en-US" dirty="0"/>
              <a:t> </a:t>
            </a:r>
            <a:r>
              <a:rPr lang="en-US" altLang="zh-CN" dirty="0"/>
              <a:t>(UDP,</a:t>
            </a:r>
            <a:r>
              <a:rPr lang="zh-CN" altLang="en-US" dirty="0"/>
              <a:t> </a:t>
            </a:r>
            <a:r>
              <a:rPr lang="en-US" altLang="zh-CN" dirty="0"/>
              <a:t>reduce</a:t>
            </a:r>
            <a:r>
              <a:rPr lang="zh-CN" altLang="en-US" dirty="0"/>
              <a:t> </a:t>
            </a:r>
            <a:r>
              <a:rPr lang="en-US" altLang="zh-CN" dirty="0"/>
              <a:t>latency,</a:t>
            </a:r>
            <a:r>
              <a:rPr lang="zh-CN" altLang="en-US" dirty="0"/>
              <a:t> </a:t>
            </a:r>
            <a:r>
              <a:rPr lang="en-US" altLang="zh-CN" dirty="0"/>
              <a:t>Encryption</a:t>
            </a:r>
            <a:r>
              <a:rPr lang="zh-CN" altLang="en-US" dirty="0"/>
              <a:t> </a:t>
            </a:r>
            <a:r>
              <a:rPr lang="en-US" altLang="zh-CN" dirty="0"/>
              <a:t>Algorithm,</a:t>
            </a:r>
            <a:r>
              <a:rPr lang="zh-CN" altLang="en-US" dirty="0"/>
              <a:t> </a:t>
            </a:r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exchange)</a:t>
            </a:r>
            <a:r>
              <a:rPr lang="zh-CN" altLang="en-US" dirty="0"/>
              <a:t> </a:t>
            </a:r>
            <a:endParaRPr lang="en-GB" dirty="0"/>
          </a:p>
          <a:p>
            <a:r>
              <a:rPr lang="en-US" altLang="zh-CN" dirty="0" err="1"/>
              <a:t>DataSet</a:t>
            </a:r>
            <a:r>
              <a:rPr lang="zh-CN" altLang="en-US" dirty="0"/>
              <a:t>：</a:t>
            </a:r>
            <a:r>
              <a:rPr lang="en-US" altLang="zh-CN" dirty="0" err="1"/>
              <a:t>coco_sample</a:t>
            </a:r>
            <a:endParaRPr lang="en-US" altLang="zh-CN" dirty="0"/>
          </a:p>
          <a:p>
            <a:r>
              <a:rPr lang="en-US" dirty="0"/>
              <a:t>Model</a:t>
            </a:r>
            <a:r>
              <a:rPr lang="zh-CN" altLang="en-US" dirty="0"/>
              <a:t>：</a:t>
            </a:r>
            <a:r>
              <a:rPr lang="en-US" altLang="zh-CN" dirty="0" err="1"/>
              <a:t>nanoVLM</a:t>
            </a:r>
            <a:endParaRPr lang="en-US" altLang="zh-CN" dirty="0"/>
          </a:p>
          <a:p>
            <a:r>
              <a:rPr lang="en-US" altLang="zh-CN" dirty="0"/>
              <a:t>Encryption:</a:t>
            </a:r>
            <a:r>
              <a:rPr lang="zh-CN" altLang="en-US" dirty="0"/>
              <a:t> </a:t>
            </a:r>
            <a:r>
              <a:rPr lang="en-US" altLang="zh-CN" dirty="0"/>
              <a:t>ChaChao20</a:t>
            </a:r>
          </a:p>
          <a:p>
            <a:r>
              <a:rPr lang="en-US" altLang="zh-CN" dirty="0"/>
              <a:t>MAC:</a:t>
            </a:r>
            <a:r>
              <a:rPr lang="zh-CN" altLang="en-US" dirty="0"/>
              <a:t> </a:t>
            </a:r>
            <a:r>
              <a:rPr lang="en-US" altLang="zh-CN" dirty="0"/>
              <a:t>Poly1305</a:t>
            </a:r>
            <a:endParaRPr lang="en-GB" altLang="zh-CN" dirty="0"/>
          </a:p>
          <a:p>
            <a:r>
              <a:rPr lang="en-US" altLang="zh-CN" dirty="0"/>
              <a:t>Authentication:</a:t>
            </a:r>
            <a:r>
              <a:rPr lang="zh-CN" altLang="en-US" dirty="0"/>
              <a:t> </a:t>
            </a:r>
            <a:r>
              <a:rPr lang="en-US" altLang="zh-CN" dirty="0"/>
              <a:t>Round-level</a:t>
            </a:r>
            <a:r>
              <a:rPr lang="zh-CN" altLang="en-US" dirty="0"/>
              <a:t>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GB" altLang="zh-CN" dirty="0"/>
              <a:t> Double Ratchet Algorithm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Inference</a:t>
            </a:r>
            <a:r>
              <a:rPr lang="zh-CN" altLang="en-US" dirty="0"/>
              <a:t> </a:t>
            </a:r>
            <a:r>
              <a:rPr lang="en-US" altLang="zh-CN" dirty="0"/>
              <a:t>phase:</a:t>
            </a:r>
            <a:r>
              <a:rPr lang="zh-CN" altLang="en-US" dirty="0"/>
              <a:t> </a:t>
            </a:r>
            <a:r>
              <a:rPr lang="en-US" altLang="zh-CN" dirty="0"/>
              <a:t>DTLS</a:t>
            </a:r>
            <a:r>
              <a:rPr lang="zh-CN" altLang="en-US" dirty="0"/>
              <a:t> </a:t>
            </a:r>
            <a:r>
              <a:rPr lang="en-US" altLang="zh-CN" dirty="0"/>
              <a:t>1.3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ChaChao20</a:t>
            </a:r>
            <a:r>
              <a:rPr lang="zh-CN" altLang="en-US" dirty="0"/>
              <a:t> </a:t>
            </a:r>
            <a:r>
              <a:rPr lang="en-US" altLang="zh-CN" dirty="0"/>
              <a:t>Poly1305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5A7550-6A6F-9663-805A-FD359D882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229099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3A87B-ECAC-199A-8822-FE2DCE222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questions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644EC-8093-1525-2ADE-61340111E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Since ImageNet cannot be downloaded successfully, can I use the COCO sample dataset for evaluation instead? Should I also consider fine-tuned model scenarios?</a:t>
            </a:r>
          </a:p>
          <a:p>
            <a:r>
              <a:rPr lang="en-GB" dirty="0"/>
              <a:t>Dataset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description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caption.</a:t>
            </a:r>
            <a:r>
              <a:rPr lang="zh-CN" altLang="en-US" dirty="0"/>
              <a:t> </a:t>
            </a:r>
            <a:r>
              <a:rPr lang="en-US" altLang="zh-CN" dirty="0" err="1"/>
              <a:t>nanoVLM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its</a:t>
            </a:r>
            <a:r>
              <a:rPr lang="zh-CN" altLang="en-US" dirty="0"/>
              <a:t> </a:t>
            </a:r>
            <a:r>
              <a:rPr lang="en-US" altLang="zh-CN" dirty="0"/>
              <a:t>own</a:t>
            </a:r>
            <a:r>
              <a:rPr lang="zh-CN" altLang="en-US" dirty="0"/>
              <a:t> </a:t>
            </a:r>
            <a:r>
              <a:rPr lang="en-US" altLang="zh-CN" dirty="0"/>
              <a:t>dataset.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Should I consider the fine-tuning phase separately in the evaluation?</a:t>
            </a:r>
          </a:p>
          <a:p>
            <a:endParaRPr lang="en-GB" dirty="0"/>
          </a:p>
          <a:p>
            <a:r>
              <a:rPr lang="en-GB" dirty="0"/>
              <a:t>My question is: which direction should I investigate: privacy-preserving mechanisms or traditional security mechanisms?</a:t>
            </a:r>
          </a:p>
          <a:p>
            <a:endParaRPr lang="en-GB" dirty="0"/>
          </a:p>
          <a:p>
            <a:r>
              <a:rPr lang="en-GB" dirty="0"/>
              <a:t>Threat</a:t>
            </a:r>
            <a:r>
              <a:rPr lang="zh-CN" altLang="en-US" dirty="0"/>
              <a:t> </a:t>
            </a:r>
            <a:r>
              <a:rPr lang="en-US" altLang="zh-CN" dirty="0"/>
              <a:t>Model:</a:t>
            </a:r>
            <a:r>
              <a:rPr lang="zh-CN" altLang="en-US"/>
              <a:t> </a:t>
            </a:r>
            <a:r>
              <a:rPr lang="en-GB"/>
              <a:t>Semi</a:t>
            </a:r>
            <a:r>
              <a:rPr lang="zh-CN" altLang="en-US" dirty="0"/>
              <a:t> </a:t>
            </a:r>
            <a:r>
              <a:rPr lang="en-US" altLang="zh-CN" dirty="0"/>
              <a:t>honest</a:t>
            </a:r>
            <a:r>
              <a:rPr lang="zh-CN" altLang="en-US" dirty="0"/>
              <a:t> </a:t>
            </a:r>
            <a:r>
              <a:rPr lang="en-US" altLang="zh-CN" dirty="0"/>
              <a:t>service</a:t>
            </a:r>
            <a:br>
              <a:rPr lang="en-GB" dirty="0"/>
            </a:br>
            <a:br>
              <a:rPr lang="en-GB" dirty="0"/>
            </a:br>
            <a:endParaRPr lang="en-GB" altLang="zh-CN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7501F-13D0-0434-E04D-430D4424D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https://www.nature.com/articles/s41598-026-40734-w</a:t>
            </a:r>
          </a:p>
        </p:txBody>
      </p:sp>
    </p:spTree>
    <p:extLst>
      <p:ext uri="{BB962C8B-B14F-4D97-AF65-F5344CB8AC3E}">
        <p14:creationId xmlns:p14="http://schemas.microsoft.com/office/powerpoint/2010/main" val="23097052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16335</TotalTime>
  <Words>1036</Words>
  <Application>Microsoft Macintosh PowerPoint</Application>
  <PresentationFormat>Widescreen</PresentationFormat>
  <Paragraphs>111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Literature Review</vt:lpstr>
      <vt:lpstr>A privacy-preserving multi-user retrieval system for multimodal artificial intelligence - 1</vt:lpstr>
      <vt:lpstr>A privacy-preserving multi-user retrieval system for multimodal artificial intelligence - 2</vt:lpstr>
      <vt:lpstr>A privacy-preserving multi-user retrieval system for multimodal artificial intelligence - 3</vt:lpstr>
      <vt:lpstr>Template</vt:lpstr>
      <vt:lpstr>Semantic Edge–Cloud Communication for Real-Time Urban Traffic Surveillance With ViT and LLMs Over Mobile Networks</vt:lpstr>
      <vt:lpstr>Vision-Language Models for Edge Networks: A Comprehensive Survey</vt:lpstr>
      <vt:lpstr>ENCRYPTION-FRIENDLY LLM ARCHITECTURE</vt:lpstr>
      <vt:lpstr>Related work</vt:lpstr>
      <vt:lpstr>Initial Ideas</vt:lpstr>
      <vt:lpstr>Some 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耀泉 马</dc:creator>
  <cp:lastModifiedBy>耀泉 马</cp:lastModifiedBy>
  <cp:revision>2</cp:revision>
  <dcterms:created xsi:type="dcterms:W3CDTF">2026-05-22T13:15:01Z</dcterms:created>
  <dcterms:modified xsi:type="dcterms:W3CDTF">2026-06-08T12:29:43Z</dcterms:modified>
</cp:coreProperties>
</file>