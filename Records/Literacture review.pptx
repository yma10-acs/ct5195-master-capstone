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5" r:id="rId3"/>
    <p:sldId id="269" r:id="rId4"/>
    <p:sldId id="272" r:id="rId5"/>
    <p:sldId id="273" r:id="rId6"/>
    <p:sldId id="274" r:id="rId7"/>
    <p:sldId id="277" r:id="rId8"/>
    <p:sldId id="276" r:id="rId9"/>
    <p:sldId id="278" r:id="rId10"/>
    <p:sldId id="259" r:id="rId11"/>
    <p:sldId id="270" r:id="rId12"/>
    <p:sldId id="271" r:id="rId13"/>
    <p:sldId id="257" r:id="rId14"/>
    <p:sldId id="260" r:id="rId15"/>
    <p:sldId id="261" r:id="rId16"/>
    <p:sldId id="265" r:id="rId17"/>
    <p:sldId id="267"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32702D-63F1-3D44-A7C6-5179FDCBED2E}">
          <p14:sldIdLst>
            <p14:sldId id="256"/>
            <p14:sldId id="275"/>
          </p14:sldIdLst>
        </p14:section>
        <p14:section name="Untitled Section" id="{1F83B6DB-6530-FD40-9ADB-F8E6CCB543FB}">
          <p14:sldIdLst>
            <p14:sldId id="269"/>
            <p14:sldId id="272"/>
            <p14:sldId id="273"/>
            <p14:sldId id="274"/>
            <p14:sldId id="277"/>
            <p14:sldId id="276"/>
            <p14:sldId id="278"/>
            <p14:sldId id="259"/>
            <p14:sldId id="270"/>
            <p14:sldId id="271"/>
            <p14:sldId id="257"/>
            <p14:sldId id="260"/>
            <p14:sldId id="261"/>
            <p14:sldId id="265"/>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80C0CE-4C80-8647-838F-7D9830C50597}" v="50" dt="2026-08-04T14:59:40.9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65"/>
    <p:restoredTop sz="73578"/>
  </p:normalViewPr>
  <p:slideViewPr>
    <p:cSldViewPr snapToGrid="0">
      <p:cViewPr>
        <p:scale>
          <a:sx n="127" d="100"/>
          <a:sy n="127" d="100"/>
        </p:scale>
        <p:origin x="912"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耀泉 马" userId="19e30af8d5659de2" providerId="LiveId" clId="{C3594856-CEDA-5129-B2AF-7962E3CA4CA3}"/>
    <pc:docChg chg="undo custSel addSld delSld modSld sldOrd addSection delSection modSection">
      <pc:chgData name="耀泉 马" userId="19e30af8d5659de2" providerId="LiveId" clId="{C3594856-CEDA-5129-B2AF-7962E3CA4CA3}" dt="2026-08-04T15:05:59.033" v="5686" actId="20577"/>
      <pc:docMkLst>
        <pc:docMk/>
      </pc:docMkLst>
      <pc:sldChg chg="addSp delSp modSp add mod">
        <pc:chgData name="耀泉 马" userId="19e30af8d5659de2" providerId="LiveId" clId="{C3594856-CEDA-5129-B2AF-7962E3CA4CA3}" dt="2026-08-04T15:05:59.033" v="5686" actId="20577"/>
        <pc:sldMkLst>
          <pc:docMk/>
          <pc:sldMk cId="3119878381" sldId="278"/>
        </pc:sldMkLst>
        <pc:spChg chg="del">
          <ac:chgData name="耀泉 马" userId="19e30af8d5659de2" providerId="LiveId" clId="{C3594856-CEDA-5129-B2AF-7962E3CA4CA3}" dt="2026-08-04T13:35:07.191" v="4807" actId="478"/>
          <ac:spMkLst>
            <pc:docMk/>
            <pc:sldMk cId="3119878381" sldId="278"/>
            <ac:spMk id="2" creationId="{731D0589-65BA-350C-57B3-ED0B1A5CAD76}"/>
          </ac:spMkLst>
        </pc:spChg>
        <pc:spChg chg="add del mod">
          <ac:chgData name="耀泉 马" userId="19e30af8d5659de2" providerId="LiveId" clId="{C3594856-CEDA-5129-B2AF-7962E3CA4CA3}" dt="2026-08-04T13:27:39.465" v="4722" actId="478"/>
          <ac:spMkLst>
            <pc:docMk/>
            <pc:sldMk cId="3119878381" sldId="278"/>
            <ac:spMk id="4" creationId="{61E644F7-AE8F-2F32-7FB1-DF477222E742}"/>
          </ac:spMkLst>
        </pc:spChg>
        <pc:spChg chg="add del">
          <ac:chgData name="耀泉 马" userId="19e30af8d5659de2" providerId="LiveId" clId="{C3594856-CEDA-5129-B2AF-7962E3CA4CA3}" dt="2026-08-04T13:27:20.249" v="4716" actId="11529"/>
          <ac:spMkLst>
            <pc:docMk/>
            <pc:sldMk cId="3119878381" sldId="278"/>
            <ac:spMk id="5" creationId="{34A65818-1CEC-FB1F-61D7-C34FBEA135F9}"/>
          </ac:spMkLst>
        </pc:spChg>
        <pc:spChg chg="del">
          <ac:chgData name="耀泉 马" userId="19e30af8d5659de2" providerId="LiveId" clId="{C3594856-CEDA-5129-B2AF-7962E3CA4CA3}" dt="2026-08-04T13:26:56.317" v="4714" actId="478"/>
          <ac:spMkLst>
            <pc:docMk/>
            <pc:sldMk cId="3119878381" sldId="278"/>
            <ac:spMk id="7" creationId="{8964B4F0-0E7A-4549-5365-87217DB72E9C}"/>
          </ac:spMkLst>
        </pc:spChg>
        <pc:spChg chg="add mod">
          <ac:chgData name="耀泉 马" userId="19e30af8d5659de2" providerId="LiveId" clId="{C3594856-CEDA-5129-B2AF-7962E3CA4CA3}" dt="2026-08-04T14:43:30.301" v="5438" actId="20577"/>
          <ac:spMkLst>
            <pc:docMk/>
            <pc:sldMk cId="3119878381" sldId="278"/>
            <ac:spMk id="8" creationId="{7AC27DC5-5F28-899C-44FA-33772F71BDF9}"/>
          </ac:spMkLst>
        </pc:spChg>
        <pc:spChg chg="add mod">
          <ac:chgData name="耀泉 马" userId="19e30af8d5659de2" providerId="LiveId" clId="{C3594856-CEDA-5129-B2AF-7962E3CA4CA3}" dt="2026-08-04T14:43:34.101" v="5442" actId="20577"/>
          <ac:spMkLst>
            <pc:docMk/>
            <pc:sldMk cId="3119878381" sldId="278"/>
            <ac:spMk id="9" creationId="{B7A8941D-0DE7-F132-B4FD-7B0F7263AF29}"/>
          </ac:spMkLst>
        </pc:spChg>
        <pc:spChg chg="add mod">
          <ac:chgData name="耀泉 马" userId="19e30af8d5659de2" providerId="LiveId" clId="{C3594856-CEDA-5129-B2AF-7962E3CA4CA3}" dt="2026-08-04T15:04:00.392" v="5651" actId="1038"/>
          <ac:spMkLst>
            <pc:docMk/>
            <pc:sldMk cId="3119878381" sldId="278"/>
            <ac:spMk id="10" creationId="{C4DDAB4C-1AE7-1922-F4BC-A65CC78224B1}"/>
          </ac:spMkLst>
        </pc:spChg>
        <pc:spChg chg="add mod">
          <ac:chgData name="耀泉 马" userId="19e30af8d5659de2" providerId="LiveId" clId="{C3594856-CEDA-5129-B2AF-7962E3CA4CA3}" dt="2026-08-04T15:03:57.420" v="5650" actId="1038"/>
          <ac:spMkLst>
            <pc:docMk/>
            <pc:sldMk cId="3119878381" sldId="278"/>
            <ac:spMk id="11" creationId="{C164E22E-05CA-BBCC-AFE8-D3CE758510BC}"/>
          </ac:spMkLst>
        </pc:spChg>
        <pc:spChg chg="add mod">
          <ac:chgData name="耀泉 马" userId="19e30af8d5659de2" providerId="LiveId" clId="{C3594856-CEDA-5129-B2AF-7962E3CA4CA3}" dt="2026-08-04T15:03:52.841" v="5649" actId="1038"/>
          <ac:spMkLst>
            <pc:docMk/>
            <pc:sldMk cId="3119878381" sldId="278"/>
            <ac:spMk id="12" creationId="{2D66A471-B91A-D358-C21D-74AB14268A12}"/>
          </ac:spMkLst>
        </pc:spChg>
        <pc:spChg chg="add mod">
          <ac:chgData name="耀泉 马" userId="19e30af8d5659de2" providerId="LiveId" clId="{C3594856-CEDA-5129-B2AF-7962E3CA4CA3}" dt="2026-08-04T14:41:59.421" v="5408" actId="1038"/>
          <ac:spMkLst>
            <pc:docMk/>
            <pc:sldMk cId="3119878381" sldId="278"/>
            <ac:spMk id="18" creationId="{88F9D4CC-1D62-1860-9604-2F25D8CAD055}"/>
          </ac:spMkLst>
        </pc:spChg>
        <pc:spChg chg="add del mod">
          <ac:chgData name="耀泉 马" userId="19e30af8d5659de2" providerId="LiveId" clId="{C3594856-CEDA-5129-B2AF-7962E3CA4CA3}" dt="2026-08-04T14:42:13.553" v="5412" actId="478"/>
          <ac:spMkLst>
            <pc:docMk/>
            <pc:sldMk cId="3119878381" sldId="278"/>
            <ac:spMk id="20" creationId="{A6C0849B-DA5E-BD96-7B74-FDB458FA6CCC}"/>
          </ac:spMkLst>
        </pc:spChg>
        <pc:spChg chg="add del mod">
          <ac:chgData name="耀泉 马" userId="19e30af8d5659de2" providerId="LiveId" clId="{C3594856-CEDA-5129-B2AF-7962E3CA4CA3}" dt="2026-08-04T13:35:10.067" v="4808" actId="478"/>
          <ac:spMkLst>
            <pc:docMk/>
            <pc:sldMk cId="3119878381" sldId="278"/>
            <ac:spMk id="22" creationId="{4B1F8400-EA09-AD27-9945-9BAE076C7D94}"/>
          </ac:spMkLst>
        </pc:spChg>
        <pc:spChg chg="add del mod">
          <ac:chgData name="耀泉 马" userId="19e30af8d5659de2" providerId="LiveId" clId="{C3594856-CEDA-5129-B2AF-7962E3CA4CA3}" dt="2026-08-04T14:42:23.024" v="5417" actId="478"/>
          <ac:spMkLst>
            <pc:docMk/>
            <pc:sldMk cId="3119878381" sldId="278"/>
            <ac:spMk id="23" creationId="{F7171F72-131D-7D8D-E047-12A1516F09BD}"/>
          </ac:spMkLst>
        </pc:spChg>
        <pc:spChg chg="add del mod">
          <ac:chgData name="耀泉 马" userId="19e30af8d5659de2" providerId="LiveId" clId="{C3594856-CEDA-5129-B2AF-7962E3CA4CA3}" dt="2026-08-04T14:31:59.381" v="5213" actId="478"/>
          <ac:spMkLst>
            <pc:docMk/>
            <pc:sldMk cId="3119878381" sldId="278"/>
            <ac:spMk id="25" creationId="{0C289C8B-75AF-3DF8-5AED-F74E878A947B}"/>
          </ac:spMkLst>
        </pc:spChg>
        <pc:spChg chg="add del mod">
          <ac:chgData name="耀泉 马" userId="19e30af8d5659de2" providerId="LiveId" clId="{C3594856-CEDA-5129-B2AF-7962E3CA4CA3}" dt="2026-08-04T13:39:07.337" v="4863"/>
          <ac:spMkLst>
            <pc:docMk/>
            <pc:sldMk cId="3119878381" sldId="278"/>
            <ac:spMk id="26" creationId="{E5E15298-7329-782E-D3EA-51391DAF4B14}"/>
          </ac:spMkLst>
        </pc:spChg>
        <pc:spChg chg="add del mod">
          <ac:chgData name="耀泉 马" userId="19e30af8d5659de2" providerId="LiveId" clId="{C3594856-CEDA-5129-B2AF-7962E3CA4CA3}" dt="2026-08-04T14:32:54.944" v="5241"/>
          <ac:spMkLst>
            <pc:docMk/>
            <pc:sldMk cId="3119878381" sldId="278"/>
            <ac:spMk id="27" creationId="{F63E378E-A6CE-6980-B7B5-932F20344D3A}"/>
          </ac:spMkLst>
        </pc:spChg>
        <pc:spChg chg="add del mod">
          <ac:chgData name="耀泉 马" userId="19e30af8d5659de2" providerId="LiveId" clId="{C3594856-CEDA-5129-B2AF-7962E3CA4CA3}" dt="2026-08-04T13:40:36.708" v="4954"/>
          <ac:spMkLst>
            <pc:docMk/>
            <pc:sldMk cId="3119878381" sldId="278"/>
            <ac:spMk id="28" creationId="{A5734EB0-F5E4-F4F1-B4DF-5AD3198AFEFD}"/>
          </ac:spMkLst>
        </pc:spChg>
        <pc:spChg chg="add mod">
          <ac:chgData name="耀泉 马" userId="19e30af8d5659de2" providerId="LiveId" clId="{C3594856-CEDA-5129-B2AF-7962E3CA4CA3}" dt="2026-08-04T14:59:40.917" v="5599" actId="167"/>
          <ac:spMkLst>
            <pc:docMk/>
            <pc:sldMk cId="3119878381" sldId="278"/>
            <ac:spMk id="29" creationId="{494FA997-2D10-E415-416A-76FAE0307F92}"/>
          </ac:spMkLst>
        </pc:spChg>
        <pc:spChg chg="add mod">
          <ac:chgData name="耀泉 马" userId="19e30af8d5659de2" providerId="LiveId" clId="{C3594856-CEDA-5129-B2AF-7962E3CA4CA3}" dt="2026-08-04T14:16:09.216" v="5024" actId="255"/>
          <ac:spMkLst>
            <pc:docMk/>
            <pc:sldMk cId="3119878381" sldId="278"/>
            <ac:spMk id="34" creationId="{86AB97C0-EB97-54D2-A50E-0D07B0057592}"/>
          </ac:spMkLst>
        </pc:spChg>
        <pc:spChg chg="add mod">
          <ac:chgData name="耀泉 马" userId="19e30af8d5659de2" providerId="LiveId" clId="{C3594856-CEDA-5129-B2AF-7962E3CA4CA3}" dt="2026-08-04T14:30:23.557" v="5185" actId="1035"/>
          <ac:spMkLst>
            <pc:docMk/>
            <pc:sldMk cId="3119878381" sldId="278"/>
            <ac:spMk id="35" creationId="{CC8BFBAC-0B5E-B210-8F18-00548CEF9F66}"/>
          </ac:spMkLst>
        </pc:spChg>
        <pc:spChg chg="add mod">
          <ac:chgData name="耀泉 马" userId="19e30af8d5659de2" providerId="LiveId" clId="{C3594856-CEDA-5129-B2AF-7962E3CA4CA3}" dt="2026-08-04T14:30:18.955" v="5173" actId="1035"/>
          <ac:spMkLst>
            <pc:docMk/>
            <pc:sldMk cId="3119878381" sldId="278"/>
            <ac:spMk id="36" creationId="{1BB18A80-BC94-3685-3609-92BA732DFA61}"/>
          </ac:spMkLst>
        </pc:spChg>
        <pc:spChg chg="add del mod">
          <ac:chgData name="耀泉 马" userId="19e30af8d5659de2" providerId="LiveId" clId="{C3594856-CEDA-5129-B2AF-7962E3CA4CA3}" dt="2026-08-04T15:05:43.114" v="5652" actId="21"/>
          <ac:spMkLst>
            <pc:docMk/>
            <pc:sldMk cId="3119878381" sldId="278"/>
            <ac:spMk id="41" creationId="{0047C7E7-2CA2-E082-8991-F338702255C5}"/>
          </ac:spMkLst>
        </pc:spChg>
        <pc:spChg chg="add mod">
          <ac:chgData name="耀泉 马" userId="19e30af8d5659de2" providerId="LiveId" clId="{C3594856-CEDA-5129-B2AF-7962E3CA4CA3}" dt="2026-08-04T15:03:37.709" v="5646" actId="1036"/>
          <ac:spMkLst>
            <pc:docMk/>
            <pc:sldMk cId="3119878381" sldId="278"/>
            <ac:spMk id="48" creationId="{0BBC7B86-E722-E1D1-E9B1-4F06B98866AE}"/>
          </ac:spMkLst>
        </pc:spChg>
        <pc:spChg chg="add mod">
          <ac:chgData name="耀泉 马" userId="19e30af8d5659de2" providerId="LiveId" clId="{C3594856-CEDA-5129-B2AF-7962E3CA4CA3}" dt="2026-08-04T14:57:49.814" v="5587" actId="20577"/>
          <ac:spMkLst>
            <pc:docMk/>
            <pc:sldMk cId="3119878381" sldId="278"/>
            <ac:spMk id="49" creationId="{2A414B40-0706-EEE1-4362-180FB7A57B75}"/>
          </ac:spMkLst>
        </pc:spChg>
        <pc:spChg chg="add mod">
          <ac:chgData name="耀泉 马" userId="19e30af8d5659de2" providerId="LiveId" clId="{C3594856-CEDA-5129-B2AF-7962E3CA4CA3}" dt="2026-08-04T14:32:34.450" v="5226"/>
          <ac:spMkLst>
            <pc:docMk/>
            <pc:sldMk cId="3119878381" sldId="278"/>
            <ac:spMk id="50" creationId="{2E625D0F-A90A-86C5-4282-226666DD3BA6}"/>
          </ac:spMkLst>
        </pc:spChg>
        <pc:spChg chg="add mod">
          <ac:chgData name="耀泉 马" userId="19e30af8d5659de2" providerId="LiveId" clId="{C3594856-CEDA-5129-B2AF-7962E3CA4CA3}" dt="2026-08-04T14:49:19.955" v="5474" actId="1036"/>
          <ac:spMkLst>
            <pc:docMk/>
            <pc:sldMk cId="3119878381" sldId="278"/>
            <ac:spMk id="51" creationId="{B21157A1-75C7-7D39-C50E-74EBDD6B82AA}"/>
          </ac:spMkLst>
        </pc:spChg>
        <pc:spChg chg="add mod">
          <ac:chgData name="耀泉 马" userId="19e30af8d5659de2" providerId="LiveId" clId="{C3594856-CEDA-5129-B2AF-7962E3CA4CA3}" dt="2026-08-04T14:57:53.396" v="5589" actId="20577"/>
          <ac:spMkLst>
            <pc:docMk/>
            <pc:sldMk cId="3119878381" sldId="278"/>
            <ac:spMk id="56" creationId="{F102A57D-098F-4011-B740-8D7704BE1B91}"/>
          </ac:spMkLst>
        </pc:spChg>
        <pc:spChg chg="add mod">
          <ac:chgData name="耀泉 马" userId="19e30af8d5659de2" providerId="LiveId" clId="{C3594856-CEDA-5129-B2AF-7962E3CA4CA3}" dt="2026-08-04T15:03:37.709" v="5646" actId="1036"/>
          <ac:spMkLst>
            <pc:docMk/>
            <pc:sldMk cId="3119878381" sldId="278"/>
            <ac:spMk id="57" creationId="{48B03B15-0CF5-4DDD-F885-C0B99F2E55CB}"/>
          </ac:spMkLst>
        </pc:spChg>
        <pc:spChg chg="add mod">
          <ac:chgData name="耀泉 马" userId="19e30af8d5659de2" providerId="LiveId" clId="{C3594856-CEDA-5129-B2AF-7962E3CA4CA3}" dt="2026-08-04T14:42:18.007" v="5414"/>
          <ac:spMkLst>
            <pc:docMk/>
            <pc:sldMk cId="3119878381" sldId="278"/>
            <ac:spMk id="58" creationId="{5A639947-7071-0E60-4F67-A444EF1B513B}"/>
          </ac:spMkLst>
        </pc:spChg>
        <pc:spChg chg="add del mod">
          <ac:chgData name="耀泉 马" userId="19e30af8d5659de2" providerId="LiveId" clId="{C3594856-CEDA-5129-B2AF-7962E3CA4CA3}" dt="2026-08-04T14:56:39.061" v="5579" actId="478"/>
          <ac:spMkLst>
            <pc:docMk/>
            <pc:sldMk cId="3119878381" sldId="278"/>
            <ac:spMk id="59" creationId="{DF807CB9-A6D2-59DD-0BF1-1CAD25BE0017}"/>
          </ac:spMkLst>
        </pc:spChg>
        <pc:spChg chg="add mod">
          <ac:chgData name="耀泉 马" userId="19e30af8d5659de2" providerId="LiveId" clId="{C3594856-CEDA-5129-B2AF-7962E3CA4CA3}" dt="2026-08-04T14:37:28.591" v="5320"/>
          <ac:spMkLst>
            <pc:docMk/>
            <pc:sldMk cId="3119878381" sldId="278"/>
            <ac:spMk id="60" creationId="{98AB59E9-36B3-D81C-2833-5742A666128C}"/>
          </ac:spMkLst>
        </pc:spChg>
        <pc:spChg chg="add del">
          <ac:chgData name="耀泉 马" userId="19e30af8d5659de2" providerId="LiveId" clId="{C3594856-CEDA-5129-B2AF-7962E3CA4CA3}" dt="2026-08-04T14:38:26.761" v="5341" actId="11529"/>
          <ac:spMkLst>
            <pc:docMk/>
            <pc:sldMk cId="3119878381" sldId="278"/>
            <ac:spMk id="66" creationId="{E31A07AB-D45E-551C-DDDA-2EEB2846959D}"/>
          </ac:spMkLst>
        </pc:spChg>
        <pc:spChg chg="add mod">
          <ac:chgData name="耀泉 马" userId="19e30af8d5659de2" providerId="LiveId" clId="{C3594856-CEDA-5129-B2AF-7962E3CA4CA3}" dt="2026-08-04T15:03:37.709" v="5646" actId="1036"/>
          <ac:spMkLst>
            <pc:docMk/>
            <pc:sldMk cId="3119878381" sldId="278"/>
            <ac:spMk id="67" creationId="{2E3DBB46-C938-2DC5-97D9-EB88A127BCBA}"/>
          </ac:spMkLst>
        </pc:spChg>
        <pc:spChg chg="add del mod">
          <ac:chgData name="耀泉 马" userId="19e30af8d5659de2" providerId="LiveId" clId="{C3594856-CEDA-5129-B2AF-7962E3CA4CA3}" dt="2026-08-04T14:56:41.727" v="5580" actId="478"/>
          <ac:spMkLst>
            <pc:docMk/>
            <pc:sldMk cId="3119878381" sldId="278"/>
            <ac:spMk id="68" creationId="{BE58A273-1ECA-BCA0-CE6D-9B269DDA81E9}"/>
          </ac:spMkLst>
        </pc:spChg>
        <pc:spChg chg="add mod">
          <ac:chgData name="耀泉 马" userId="19e30af8d5659de2" providerId="LiveId" clId="{C3594856-CEDA-5129-B2AF-7962E3CA4CA3}" dt="2026-08-04T14:40:52.037" v="5391" actId="14100"/>
          <ac:spMkLst>
            <pc:docMk/>
            <pc:sldMk cId="3119878381" sldId="278"/>
            <ac:spMk id="69" creationId="{DA8C3B23-AEE1-1DC4-61E5-B707E620234A}"/>
          </ac:spMkLst>
        </pc:spChg>
        <pc:spChg chg="add mod">
          <ac:chgData name="耀泉 马" userId="19e30af8d5659de2" providerId="LiveId" clId="{C3594856-CEDA-5129-B2AF-7962E3CA4CA3}" dt="2026-08-04T14:40:45.028" v="5390" actId="14100"/>
          <ac:spMkLst>
            <pc:docMk/>
            <pc:sldMk cId="3119878381" sldId="278"/>
            <ac:spMk id="70" creationId="{6A7BBC29-A0EE-F4A3-4348-DFFB531DC605}"/>
          </ac:spMkLst>
        </pc:spChg>
        <pc:spChg chg="add mod">
          <ac:chgData name="耀泉 马" userId="19e30af8d5659de2" providerId="LiveId" clId="{C3594856-CEDA-5129-B2AF-7962E3CA4CA3}" dt="2026-08-04T14:42:28.893" v="5418"/>
          <ac:spMkLst>
            <pc:docMk/>
            <pc:sldMk cId="3119878381" sldId="278"/>
            <ac:spMk id="76" creationId="{836B97C0-E73C-2183-E423-593959FC569A}"/>
          </ac:spMkLst>
        </pc:spChg>
        <pc:spChg chg="add mod">
          <ac:chgData name="耀泉 马" userId="19e30af8d5659de2" providerId="LiveId" clId="{C3594856-CEDA-5129-B2AF-7962E3CA4CA3}" dt="2026-08-04T14:42:36.311" v="5419"/>
          <ac:spMkLst>
            <pc:docMk/>
            <pc:sldMk cId="3119878381" sldId="278"/>
            <ac:spMk id="77" creationId="{6CAA9B10-72C4-FD23-B865-58BF79A472CE}"/>
          </ac:spMkLst>
        </pc:spChg>
        <pc:spChg chg="add mod">
          <ac:chgData name="耀泉 马" userId="19e30af8d5659de2" providerId="LiveId" clId="{C3594856-CEDA-5129-B2AF-7962E3CA4CA3}" dt="2026-08-04T14:42:36.311" v="5419"/>
          <ac:spMkLst>
            <pc:docMk/>
            <pc:sldMk cId="3119878381" sldId="278"/>
            <ac:spMk id="78" creationId="{3A57EE04-7DC9-9772-FF86-0E8D1283B7A4}"/>
          </ac:spMkLst>
        </pc:spChg>
        <pc:spChg chg="add mod">
          <ac:chgData name="耀泉 马" userId="19e30af8d5659de2" providerId="LiveId" clId="{C3594856-CEDA-5129-B2AF-7962E3CA4CA3}" dt="2026-08-04T14:42:36.311" v="5419"/>
          <ac:spMkLst>
            <pc:docMk/>
            <pc:sldMk cId="3119878381" sldId="278"/>
            <ac:spMk id="79" creationId="{A5A69CF1-2069-37FF-0469-6ADF2BED6183}"/>
          </ac:spMkLst>
        </pc:spChg>
        <pc:spChg chg="add mod">
          <ac:chgData name="耀泉 马" userId="19e30af8d5659de2" providerId="LiveId" clId="{C3594856-CEDA-5129-B2AF-7962E3CA4CA3}" dt="2026-08-04T14:42:36.311" v="5419"/>
          <ac:spMkLst>
            <pc:docMk/>
            <pc:sldMk cId="3119878381" sldId="278"/>
            <ac:spMk id="80" creationId="{2B0B94CD-7308-EDCB-8639-A52C054EE9DB}"/>
          </ac:spMkLst>
        </pc:spChg>
        <pc:spChg chg="add del mod">
          <ac:chgData name="耀泉 马" userId="19e30af8d5659de2" providerId="LiveId" clId="{C3594856-CEDA-5129-B2AF-7962E3CA4CA3}" dt="2026-08-04T14:58:54.966" v="5590" actId="21"/>
          <ac:spMkLst>
            <pc:docMk/>
            <pc:sldMk cId="3119878381" sldId="278"/>
            <ac:spMk id="81" creationId="{FE00956F-B2B0-0645-6E8E-86412AE90912}"/>
          </ac:spMkLst>
        </pc:spChg>
        <pc:spChg chg="add del mod">
          <ac:chgData name="耀泉 马" userId="19e30af8d5659de2" providerId="LiveId" clId="{C3594856-CEDA-5129-B2AF-7962E3CA4CA3}" dt="2026-08-04T14:47:53.092" v="5458" actId="478"/>
          <ac:spMkLst>
            <pc:docMk/>
            <pc:sldMk cId="3119878381" sldId="278"/>
            <ac:spMk id="82" creationId="{FF713B1C-AA03-C6D1-F7EE-5CCAB9FD08DF}"/>
          </ac:spMkLst>
        </pc:spChg>
        <pc:spChg chg="add del mod">
          <ac:chgData name="耀泉 马" userId="19e30af8d5659de2" providerId="LiveId" clId="{C3594856-CEDA-5129-B2AF-7962E3CA4CA3}" dt="2026-08-04T14:47:55.520" v="5459" actId="478"/>
          <ac:spMkLst>
            <pc:docMk/>
            <pc:sldMk cId="3119878381" sldId="278"/>
            <ac:spMk id="83" creationId="{D2E40215-7C97-D2D6-F2EC-606D0D8A7274}"/>
          </ac:spMkLst>
        </pc:spChg>
        <pc:spChg chg="add mod">
          <ac:chgData name="耀泉 马" userId="19e30af8d5659de2" providerId="LiveId" clId="{C3594856-CEDA-5129-B2AF-7962E3CA4CA3}" dt="2026-08-04T14:59:03.214" v="5592" actId="14100"/>
          <ac:spMkLst>
            <pc:docMk/>
            <pc:sldMk cId="3119878381" sldId="278"/>
            <ac:spMk id="104" creationId="{C6BB7DEB-225F-C068-6B63-7AD28F411E56}"/>
          </ac:spMkLst>
        </pc:spChg>
        <pc:spChg chg="add del mod">
          <ac:chgData name="耀泉 马" userId="19e30af8d5659de2" providerId="LiveId" clId="{C3594856-CEDA-5129-B2AF-7962E3CA4CA3}" dt="2026-08-04T14:58:57.493" v="5591" actId="478"/>
          <ac:spMkLst>
            <pc:docMk/>
            <pc:sldMk cId="3119878381" sldId="278"/>
            <ac:spMk id="105" creationId="{DF733B75-E3AB-9D63-FBEF-2F6F87B99BE9}"/>
          </ac:spMkLst>
        </pc:spChg>
        <pc:spChg chg="add del mod">
          <ac:chgData name="耀泉 马" userId="19e30af8d5659de2" providerId="LiveId" clId="{C3594856-CEDA-5129-B2AF-7962E3CA4CA3}" dt="2026-08-04T15:02:32.751" v="5608" actId="21"/>
          <ac:spMkLst>
            <pc:docMk/>
            <pc:sldMk cId="3119878381" sldId="278"/>
            <ac:spMk id="106" creationId="{6901B576-A332-2448-F537-3F67793773B1}"/>
          </ac:spMkLst>
        </pc:spChg>
        <pc:spChg chg="add mod">
          <ac:chgData name="耀泉 马" userId="19e30af8d5659de2" providerId="LiveId" clId="{C3594856-CEDA-5129-B2AF-7962E3CA4CA3}" dt="2026-08-04T15:05:59.033" v="5686" actId="20577"/>
          <ac:spMkLst>
            <pc:docMk/>
            <pc:sldMk cId="3119878381" sldId="278"/>
            <ac:spMk id="108" creationId="{C1CEEDE8-E9EB-8338-7BC9-0A1EAE87CAE6}"/>
          </ac:spMkLst>
        </pc:spChg>
        <pc:picChg chg="del">
          <ac:chgData name="耀泉 马" userId="19e30af8d5659de2" providerId="LiveId" clId="{C3594856-CEDA-5129-B2AF-7962E3CA4CA3}" dt="2026-08-04T13:26:56.317" v="4714" actId="478"/>
          <ac:picMkLst>
            <pc:docMk/>
            <pc:sldMk cId="3119878381" sldId="278"/>
            <ac:picMk id="6" creationId="{2864CD42-FA9A-89F2-14E2-6E2E71286A33}"/>
          </ac:picMkLst>
        </pc:picChg>
        <pc:cxnChg chg="add mod">
          <ac:chgData name="耀泉 马" userId="19e30af8d5659de2" providerId="LiveId" clId="{C3594856-CEDA-5129-B2AF-7962E3CA4CA3}" dt="2026-08-04T15:04:00.392" v="5651" actId="1038"/>
          <ac:cxnSpMkLst>
            <pc:docMk/>
            <pc:sldMk cId="3119878381" sldId="278"/>
            <ac:cxnSpMk id="14" creationId="{9DDE814D-729A-80CC-789C-CDCD3D8519AF}"/>
          </ac:cxnSpMkLst>
        </pc:cxnChg>
        <pc:cxnChg chg="add mod">
          <ac:chgData name="耀泉 马" userId="19e30af8d5659de2" providerId="LiveId" clId="{C3594856-CEDA-5129-B2AF-7962E3CA4CA3}" dt="2026-08-04T15:03:57.420" v="5650" actId="1038"/>
          <ac:cxnSpMkLst>
            <pc:docMk/>
            <pc:sldMk cId="3119878381" sldId="278"/>
            <ac:cxnSpMk id="17" creationId="{D7DDBCB5-7D6E-7A8C-4429-CEC9907BD60D}"/>
          </ac:cxnSpMkLst>
        </pc:cxnChg>
        <pc:cxnChg chg="add mod">
          <ac:chgData name="耀泉 马" userId="19e30af8d5659de2" providerId="LiveId" clId="{C3594856-CEDA-5129-B2AF-7962E3CA4CA3}" dt="2026-08-04T15:03:52.841" v="5649" actId="1038"/>
          <ac:cxnSpMkLst>
            <pc:docMk/>
            <pc:sldMk cId="3119878381" sldId="278"/>
            <ac:cxnSpMk id="38" creationId="{F2F27438-F9C2-5B9D-DCBC-AE29DACD9A4D}"/>
          </ac:cxnSpMkLst>
        </pc:cxnChg>
        <pc:cxnChg chg="add mod">
          <ac:chgData name="耀泉 马" userId="19e30af8d5659de2" providerId="LiveId" clId="{C3594856-CEDA-5129-B2AF-7962E3CA4CA3}" dt="2026-08-04T14:30:29.058" v="5186" actId="14100"/>
          <ac:cxnSpMkLst>
            <pc:docMk/>
            <pc:sldMk cId="3119878381" sldId="278"/>
            <ac:cxnSpMk id="43" creationId="{2C959B12-81D1-01EE-0C45-2AA93BA6963A}"/>
          </ac:cxnSpMkLst>
        </pc:cxnChg>
        <pc:cxnChg chg="add mod">
          <ac:chgData name="耀泉 马" userId="19e30af8d5659de2" providerId="LiveId" clId="{C3594856-CEDA-5129-B2AF-7962E3CA4CA3}" dt="2026-08-04T14:30:23.557" v="5185" actId="1035"/>
          <ac:cxnSpMkLst>
            <pc:docMk/>
            <pc:sldMk cId="3119878381" sldId="278"/>
            <ac:cxnSpMk id="45" creationId="{6AF4A15B-0AA0-F584-7A5D-EE410872F786}"/>
          </ac:cxnSpMkLst>
        </pc:cxnChg>
        <pc:cxnChg chg="add mod">
          <ac:chgData name="耀泉 马" userId="19e30af8d5659de2" providerId="LiveId" clId="{C3594856-CEDA-5129-B2AF-7962E3CA4CA3}" dt="2026-08-04T14:49:19.955" v="5474" actId="1036"/>
          <ac:cxnSpMkLst>
            <pc:docMk/>
            <pc:sldMk cId="3119878381" sldId="278"/>
            <ac:cxnSpMk id="55" creationId="{23AACDE0-8837-06D5-AC5D-6AED4E6160E4}"/>
          </ac:cxnSpMkLst>
        </pc:cxnChg>
        <pc:cxnChg chg="add del mod">
          <ac:chgData name="耀泉 马" userId="19e30af8d5659de2" providerId="LiveId" clId="{C3594856-CEDA-5129-B2AF-7962E3CA4CA3}" dt="2026-08-04T14:38:17.353" v="5337" actId="478"/>
          <ac:cxnSpMkLst>
            <pc:docMk/>
            <pc:sldMk cId="3119878381" sldId="278"/>
            <ac:cxnSpMk id="62" creationId="{ED7484EA-8FF5-EDD7-E2E5-FD1B75A7BCC8}"/>
          </ac:cxnSpMkLst>
        </pc:cxnChg>
        <pc:cxnChg chg="add del mod">
          <ac:chgData name="耀泉 马" userId="19e30af8d5659de2" providerId="LiveId" clId="{C3594856-CEDA-5129-B2AF-7962E3CA4CA3}" dt="2026-08-04T14:38:15.049" v="5336" actId="478"/>
          <ac:cxnSpMkLst>
            <pc:docMk/>
            <pc:sldMk cId="3119878381" sldId="278"/>
            <ac:cxnSpMk id="63" creationId="{5E176BAC-F3C9-22D7-53AF-53A15248BEA7}"/>
          </ac:cxnSpMkLst>
        </pc:cxnChg>
        <pc:cxnChg chg="add mod">
          <ac:chgData name="耀泉 马" userId="19e30af8d5659de2" providerId="LiveId" clId="{C3594856-CEDA-5129-B2AF-7962E3CA4CA3}" dt="2026-08-04T15:03:37.709" v="5646" actId="1036"/>
          <ac:cxnSpMkLst>
            <pc:docMk/>
            <pc:sldMk cId="3119878381" sldId="278"/>
            <ac:cxnSpMk id="72" creationId="{D3BBAA70-1361-82C9-01DF-441081A74775}"/>
          </ac:cxnSpMkLst>
        </pc:cxnChg>
        <pc:cxnChg chg="add mod">
          <ac:chgData name="耀泉 马" userId="19e30af8d5659de2" providerId="LiveId" clId="{C3594856-CEDA-5129-B2AF-7962E3CA4CA3}" dt="2026-08-04T14:44:17.741" v="5443" actId="692"/>
          <ac:cxnSpMkLst>
            <pc:docMk/>
            <pc:sldMk cId="3119878381" sldId="278"/>
            <ac:cxnSpMk id="74" creationId="{B8B3B404-2FFE-39B0-DCE2-D2BD9D1C53E9}"/>
          </ac:cxnSpMkLst>
        </pc:cxnChg>
        <pc:cxnChg chg="add mod">
          <ac:chgData name="耀泉 马" userId="19e30af8d5659de2" providerId="LiveId" clId="{C3594856-CEDA-5129-B2AF-7962E3CA4CA3}" dt="2026-08-04T15:03:37.709" v="5646" actId="1036"/>
          <ac:cxnSpMkLst>
            <pc:docMk/>
            <pc:sldMk cId="3119878381" sldId="278"/>
            <ac:cxnSpMk id="85" creationId="{A08011FF-EDC7-D46F-B1D7-40C485358480}"/>
          </ac:cxnSpMkLst>
        </pc:cxnChg>
        <pc:cxnChg chg="add mod">
          <ac:chgData name="耀泉 马" userId="19e30af8d5659de2" providerId="LiveId" clId="{C3594856-CEDA-5129-B2AF-7962E3CA4CA3}" dt="2026-08-04T14:49:19.955" v="5474" actId="1036"/>
          <ac:cxnSpMkLst>
            <pc:docMk/>
            <pc:sldMk cId="3119878381" sldId="278"/>
            <ac:cxnSpMk id="90" creationId="{F2345AD3-4445-C74A-7F76-68714DBEF64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2D6C0-7D9E-504D-94AD-D6B570192357}" type="datetimeFigureOut">
              <a:rPr lang="en-US" smtClean="0"/>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CA3861-0D7D-5747-A14C-DDF3C33A59C2}" type="slidenum">
              <a:rPr lang="en-US" smtClean="0"/>
              <a:t>‹#›</a:t>
            </a:fld>
            <a:endParaRPr lang="en-US"/>
          </a:p>
        </p:txBody>
      </p:sp>
    </p:spTree>
    <p:extLst>
      <p:ext uri="{BB962C8B-B14F-4D97-AF65-F5344CB8AC3E}">
        <p14:creationId xmlns:p14="http://schemas.microsoft.com/office/powerpoint/2010/main" val="3110952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explains the logic of the literature review and the research gap of this project.</a:t>
            </a:r>
          </a:p>
          <a:p>
            <a:endParaRPr lang="en-GB" dirty="0"/>
          </a:p>
          <a:p>
            <a:r>
              <a:rPr lang="en-GB" dirty="0"/>
              <a:t>First, full vision-language models are difficult to deploy on resource-constrained edge devices. They require high computational power and memory, which are often not available on devices such as mobile or IoT platforms.</a:t>
            </a:r>
          </a:p>
          <a:p>
            <a:endParaRPr lang="en-GB" dirty="0"/>
          </a:p>
          <a:p>
            <a:endParaRPr lang="en-GB" dirty="0"/>
          </a:p>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2</a:t>
            </a:fld>
            <a:endParaRPr lang="en-US"/>
          </a:p>
        </p:txBody>
      </p:sp>
    </p:spTree>
    <p:extLst>
      <p:ext uri="{BB962C8B-B14F-4D97-AF65-F5344CB8AC3E}">
        <p14:creationId xmlns:p14="http://schemas.microsoft.com/office/powerpoint/2010/main" val="1120842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If transport encryption is compromised, an attacker may obtain the intermediate embeddings. To perform feature inversion, the attacker usually needs knowledge of the encoder, access to the encoder, or sufficient auxiliary data to train a substitute model.</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On the other hand, an attacker can use embedding–image pairs to learn an approximate inverse mapping from embeddings to input images. To generate a large number of such pairs independently, the attacker needs knowledge of the encoder or access to an embedding-generation service.</a:t>
            </a:r>
          </a:p>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5</a:t>
            </a:fld>
            <a:endParaRPr lang="en-US"/>
          </a:p>
        </p:txBody>
      </p:sp>
    </p:spTree>
    <p:extLst>
      <p:ext uri="{BB962C8B-B14F-4D97-AF65-F5344CB8AC3E}">
        <p14:creationId xmlns:p14="http://schemas.microsoft.com/office/powerpoint/2010/main" val="1656005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7</a:t>
            </a:fld>
            <a:endParaRPr lang="en-US"/>
          </a:p>
        </p:txBody>
      </p:sp>
    </p:spTree>
    <p:extLst>
      <p:ext uri="{BB962C8B-B14F-4D97-AF65-F5344CB8AC3E}">
        <p14:creationId xmlns:p14="http://schemas.microsoft.com/office/powerpoint/2010/main" val="2250651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8</a:t>
            </a:fld>
            <a:endParaRPr lang="en-US"/>
          </a:p>
        </p:txBody>
      </p:sp>
    </p:spTree>
    <p:extLst>
      <p:ext uri="{BB962C8B-B14F-4D97-AF65-F5344CB8AC3E}">
        <p14:creationId xmlns:p14="http://schemas.microsoft.com/office/powerpoint/2010/main" val="2953043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3753B-653C-2F91-1F5F-94315D9F9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253D9-A9EF-93E5-0F16-BA9BB73379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9B951-29EA-CAC5-9392-7DB1F3B6B9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D3B49B-78FF-C378-E13C-15795181E5A7}"/>
              </a:ext>
            </a:extLst>
          </p:cNvPr>
          <p:cNvSpPr>
            <a:spLocks noGrp="1"/>
          </p:cNvSpPr>
          <p:nvPr>
            <p:ph type="sldNum" sz="quarter" idx="5"/>
          </p:nvPr>
        </p:nvSpPr>
        <p:spPr/>
        <p:txBody>
          <a:bodyPr/>
          <a:lstStyle/>
          <a:p>
            <a:fld id="{92CA3861-0D7D-5747-A14C-DDF3C33A59C2}" type="slidenum">
              <a:rPr lang="en-US" smtClean="0"/>
              <a:t>9</a:t>
            </a:fld>
            <a:endParaRPr lang="en-US"/>
          </a:p>
        </p:txBody>
      </p:sp>
    </p:spTree>
    <p:extLst>
      <p:ext uri="{BB962C8B-B14F-4D97-AF65-F5344CB8AC3E}">
        <p14:creationId xmlns:p14="http://schemas.microsoft.com/office/powerpoint/2010/main" val="838537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10</a:t>
            </a:fld>
            <a:endParaRPr lang="en-US"/>
          </a:p>
        </p:txBody>
      </p:sp>
    </p:spTree>
    <p:extLst>
      <p:ext uri="{BB962C8B-B14F-4D97-AF65-F5344CB8AC3E}">
        <p14:creationId xmlns:p14="http://schemas.microsoft.com/office/powerpoint/2010/main" val="3443562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A2AE1-685C-0095-9CF1-7132DE14791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9B3FEA7-CC77-00AB-5CA8-F3AD34B017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829D9D7-E9CC-2D3C-34D9-3CB4E7CCDA5E}"/>
              </a:ext>
            </a:extLst>
          </p:cNvPr>
          <p:cNvSpPr>
            <a:spLocks noGrp="1"/>
          </p:cNvSpPr>
          <p:nvPr>
            <p:ph type="dt" sz="half" idx="10"/>
          </p:nvPr>
        </p:nvSpPr>
        <p:spPr/>
        <p:txBody>
          <a:bodyPr/>
          <a:lstStyle/>
          <a:p>
            <a:fld id="{66953C98-49B1-1049-AD13-A5C3FE863A09}" type="datetime1">
              <a:rPr lang="en-GB" smtClean="0"/>
              <a:t>04/08/2026</a:t>
            </a:fld>
            <a:endParaRPr lang="en-US"/>
          </a:p>
        </p:txBody>
      </p:sp>
      <p:sp>
        <p:nvSpPr>
          <p:cNvPr id="5" name="Footer Placeholder 4">
            <a:extLst>
              <a:ext uri="{FF2B5EF4-FFF2-40B4-BE49-F238E27FC236}">
                <a16:creationId xmlns:a16="http://schemas.microsoft.com/office/drawing/2014/main" id="{29531ECD-2DE9-CBA4-1C2A-07AC9248181A}"/>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D4138A0F-02CF-3959-A486-60E8E015B815}"/>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77654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20748-5695-BBAA-B2A9-0330EAE8334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F8605B4-497F-EDD4-7E84-D4058BD43A2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456AA2A-612B-892B-59DB-8503A21C0634}"/>
              </a:ext>
            </a:extLst>
          </p:cNvPr>
          <p:cNvSpPr>
            <a:spLocks noGrp="1"/>
          </p:cNvSpPr>
          <p:nvPr>
            <p:ph type="dt" sz="half" idx="10"/>
          </p:nvPr>
        </p:nvSpPr>
        <p:spPr/>
        <p:txBody>
          <a:bodyPr/>
          <a:lstStyle/>
          <a:p>
            <a:fld id="{74B74ED2-CD06-C640-B058-524353BA429A}" type="datetime1">
              <a:rPr lang="en-GB" smtClean="0"/>
              <a:t>04/08/2026</a:t>
            </a:fld>
            <a:endParaRPr lang="en-US"/>
          </a:p>
        </p:txBody>
      </p:sp>
      <p:sp>
        <p:nvSpPr>
          <p:cNvPr id="5" name="Footer Placeholder 4">
            <a:extLst>
              <a:ext uri="{FF2B5EF4-FFF2-40B4-BE49-F238E27FC236}">
                <a16:creationId xmlns:a16="http://schemas.microsoft.com/office/drawing/2014/main" id="{3FBA5116-D17D-EADD-F57D-FA5C28E2A437}"/>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2945D357-5825-B3EF-5D56-1AC3205F27DE}"/>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4150583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B35AF-F39F-60EF-C7FA-A56EC5E48B4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F2031CB-D832-1C89-B139-7748F2772D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6CE434F-9E15-0878-1E62-2FA55CC2FA48}"/>
              </a:ext>
            </a:extLst>
          </p:cNvPr>
          <p:cNvSpPr>
            <a:spLocks noGrp="1"/>
          </p:cNvSpPr>
          <p:nvPr>
            <p:ph type="dt" sz="half" idx="10"/>
          </p:nvPr>
        </p:nvSpPr>
        <p:spPr/>
        <p:txBody>
          <a:bodyPr/>
          <a:lstStyle/>
          <a:p>
            <a:fld id="{3C668EC3-48D0-F24D-BCEF-46DD66DDB969}" type="datetime1">
              <a:rPr lang="en-GB" smtClean="0"/>
              <a:t>04/08/2026</a:t>
            </a:fld>
            <a:endParaRPr lang="en-US"/>
          </a:p>
        </p:txBody>
      </p:sp>
      <p:sp>
        <p:nvSpPr>
          <p:cNvPr id="5" name="Footer Placeholder 4">
            <a:extLst>
              <a:ext uri="{FF2B5EF4-FFF2-40B4-BE49-F238E27FC236}">
                <a16:creationId xmlns:a16="http://schemas.microsoft.com/office/drawing/2014/main" id="{08A5FD16-8B51-4212-0331-0FAFB445DED9}"/>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089A2034-5878-F15A-9A94-B4C307C225AB}"/>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202072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625D7-3AA5-1D5C-9C32-53867BD007D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EBE17C0-100E-F604-E289-49E6DD4D427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3F5966B-E304-6064-2B33-D4A7F6B288A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2DA4EBA-708D-4F34-BF61-6287DA7B2D91}"/>
              </a:ext>
            </a:extLst>
          </p:cNvPr>
          <p:cNvSpPr>
            <a:spLocks noGrp="1"/>
          </p:cNvSpPr>
          <p:nvPr>
            <p:ph type="dt" sz="half" idx="10"/>
          </p:nvPr>
        </p:nvSpPr>
        <p:spPr/>
        <p:txBody>
          <a:bodyPr/>
          <a:lstStyle/>
          <a:p>
            <a:fld id="{C1E697FC-8A6E-1942-A4C2-502684F162C1}" type="datetime1">
              <a:rPr lang="en-GB" smtClean="0"/>
              <a:t>04/08/2026</a:t>
            </a:fld>
            <a:endParaRPr lang="en-US"/>
          </a:p>
        </p:txBody>
      </p:sp>
      <p:sp>
        <p:nvSpPr>
          <p:cNvPr id="6" name="Footer Placeholder 5">
            <a:extLst>
              <a:ext uri="{FF2B5EF4-FFF2-40B4-BE49-F238E27FC236}">
                <a16:creationId xmlns:a16="http://schemas.microsoft.com/office/drawing/2014/main" id="{DB4F3696-FB09-3F89-B82F-0EA6CAA8EAB6}"/>
              </a:ext>
            </a:extLst>
          </p:cNvPr>
          <p:cNvSpPr>
            <a:spLocks noGrp="1"/>
          </p:cNvSpPr>
          <p:nvPr>
            <p:ph type="ftr" sz="quarter" idx="11"/>
          </p:nvPr>
        </p:nvSpPr>
        <p:spPr/>
        <p:txBody>
          <a:bodyPr/>
          <a:lstStyle/>
          <a:p>
            <a:r>
              <a:rPr lang="en-US"/>
              <a:t>https://www.nature.com/articles/s41598-026-40734-w</a:t>
            </a:r>
          </a:p>
        </p:txBody>
      </p:sp>
      <p:sp>
        <p:nvSpPr>
          <p:cNvPr id="7" name="Slide Number Placeholder 6">
            <a:extLst>
              <a:ext uri="{FF2B5EF4-FFF2-40B4-BE49-F238E27FC236}">
                <a16:creationId xmlns:a16="http://schemas.microsoft.com/office/drawing/2014/main" id="{CC86F7D0-1DF2-E355-D413-38142DA66045}"/>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896841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10423-69BF-482D-6EBA-75305226099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BF2683A-616F-BA77-F8BC-0F7C77A225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72DFC0D-7593-A9B3-693F-AA60735E997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BF8CE20-2DF2-86AD-024A-2529450C61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1DEF890-76AD-A560-EFDB-2A09438DFC7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2CBF866-795F-0636-7F4B-6F7CC12E4AED}"/>
              </a:ext>
            </a:extLst>
          </p:cNvPr>
          <p:cNvSpPr>
            <a:spLocks noGrp="1"/>
          </p:cNvSpPr>
          <p:nvPr>
            <p:ph type="dt" sz="half" idx="10"/>
          </p:nvPr>
        </p:nvSpPr>
        <p:spPr/>
        <p:txBody>
          <a:bodyPr/>
          <a:lstStyle/>
          <a:p>
            <a:fld id="{72A424FF-AF90-2E46-A679-3B9EBE55933D}" type="datetime1">
              <a:rPr lang="en-GB" smtClean="0"/>
              <a:t>04/08/2026</a:t>
            </a:fld>
            <a:endParaRPr lang="en-US"/>
          </a:p>
        </p:txBody>
      </p:sp>
      <p:sp>
        <p:nvSpPr>
          <p:cNvPr id="8" name="Footer Placeholder 7">
            <a:extLst>
              <a:ext uri="{FF2B5EF4-FFF2-40B4-BE49-F238E27FC236}">
                <a16:creationId xmlns:a16="http://schemas.microsoft.com/office/drawing/2014/main" id="{BEDA8AA5-77FB-D422-C471-4E493B1BB063}"/>
              </a:ext>
            </a:extLst>
          </p:cNvPr>
          <p:cNvSpPr>
            <a:spLocks noGrp="1"/>
          </p:cNvSpPr>
          <p:nvPr>
            <p:ph type="ftr" sz="quarter" idx="11"/>
          </p:nvPr>
        </p:nvSpPr>
        <p:spPr/>
        <p:txBody>
          <a:bodyPr/>
          <a:lstStyle/>
          <a:p>
            <a:r>
              <a:rPr lang="en-US"/>
              <a:t>https://www.nature.com/articles/s41598-026-40734-w</a:t>
            </a:r>
          </a:p>
        </p:txBody>
      </p:sp>
      <p:sp>
        <p:nvSpPr>
          <p:cNvPr id="9" name="Slide Number Placeholder 8">
            <a:extLst>
              <a:ext uri="{FF2B5EF4-FFF2-40B4-BE49-F238E27FC236}">
                <a16:creationId xmlns:a16="http://schemas.microsoft.com/office/drawing/2014/main" id="{5A0C9163-365E-6610-841D-1904C0A8B325}"/>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1981491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D703-AA99-9673-CFBF-F11EDC7A148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781F7FF-223D-2FED-C1C3-30EF766B7656}"/>
              </a:ext>
            </a:extLst>
          </p:cNvPr>
          <p:cNvSpPr>
            <a:spLocks noGrp="1"/>
          </p:cNvSpPr>
          <p:nvPr>
            <p:ph type="dt" sz="half" idx="10"/>
          </p:nvPr>
        </p:nvSpPr>
        <p:spPr/>
        <p:txBody>
          <a:bodyPr/>
          <a:lstStyle/>
          <a:p>
            <a:fld id="{C9DA4DDD-11EB-F246-AB7A-9CEDEADBD1E3}" type="datetime1">
              <a:rPr lang="en-GB" smtClean="0"/>
              <a:t>04/08/2026</a:t>
            </a:fld>
            <a:endParaRPr lang="en-US"/>
          </a:p>
        </p:txBody>
      </p:sp>
      <p:sp>
        <p:nvSpPr>
          <p:cNvPr id="4" name="Footer Placeholder 3">
            <a:extLst>
              <a:ext uri="{FF2B5EF4-FFF2-40B4-BE49-F238E27FC236}">
                <a16:creationId xmlns:a16="http://schemas.microsoft.com/office/drawing/2014/main" id="{F7C00030-352F-7721-E0C4-2250E405C534}"/>
              </a:ext>
            </a:extLst>
          </p:cNvPr>
          <p:cNvSpPr>
            <a:spLocks noGrp="1"/>
          </p:cNvSpPr>
          <p:nvPr>
            <p:ph type="ftr" sz="quarter" idx="11"/>
          </p:nvPr>
        </p:nvSpPr>
        <p:spPr/>
        <p:txBody>
          <a:bodyPr/>
          <a:lstStyle/>
          <a:p>
            <a:r>
              <a:rPr lang="en-US"/>
              <a:t>https://www.nature.com/articles/s41598-026-40734-w</a:t>
            </a:r>
          </a:p>
        </p:txBody>
      </p:sp>
      <p:sp>
        <p:nvSpPr>
          <p:cNvPr id="5" name="Slide Number Placeholder 4">
            <a:extLst>
              <a:ext uri="{FF2B5EF4-FFF2-40B4-BE49-F238E27FC236}">
                <a16:creationId xmlns:a16="http://schemas.microsoft.com/office/drawing/2014/main" id="{A3467309-885F-854F-30D7-49E7143F6D0B}"/>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64029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2F2B9E-E2E3-5B5C-740C-ABC2E89F21AD}"/>
              </a:ext>
            </a:extLst>
          </p:cNvPr>
          <p:cNvSpPr>
            <a:spLocks noGrp="1"/>
          </p:cNvSpPr>
          <p:nvPr>
            <p:ph type="dt" sz="half" idx="10"/>
          </p:nvPr>
        </p:nvSpPr>
        <p:spPr/>
        <p:txBody>
          <a:bodyPr/>
          <a:lstStyle/>
          <a:p>
            <a:fld id="{8C9D5473-7AAD-CB46-A9CF-E0F92F18C158}" type="datetime1">
              <a:rPr lang="en-GB" smtClean="0"/>
              <a:t>04/08/2026</a:t>
            </a:fld>
            <a:endParaRPr lang="en-US"/>
          </a:p>
        </p:txBody>
      </p:sp>
      <p:sp>
        <p:nvSpPr>
          <p:cNvPr id="3" name="Footer Placeholder 2">
            <a:extLst>
              <a:ext uri="{FF2B5EF4-FFF2-40B4-BE49-F238E27FC236}">
                <a16:creationId xmlns:a16="http://schemas.microsoft.com/office/drawing/2014/main" id="{5F1C12EE-5EDF-F23F-95CF-5E866FB74839}"/>
              </a:ext>
            </a:extLst>
          </p:cNvPr>
          <p:cNvSpPr>
            <a:spLocks noGrp="1"/>
          </p:cNvSpPr>
          <p:nvPr>
            <p:ph type="ftr" sz="quarter" idx="11"/>
          </p:nvPr>
        </p:nvSpPr>
        <p:spPr/>
        <p:txBody>
          <a:bodyPr/>
          <a:lstStyle/>
          <a:p>
            <a:r>
              <a:rPr lang="en-US"/>
              <a:t>https://www.nature.com/articles/s41598-026-40734-w</a:t>
            </a:r>
          </a:p>
        </p:txBody>
      </p:sp>
      <p:sp>
        <p:nvSpPr>
          <p:cNvPr id="4" name="Slide Number Placeholder 3">
            <a:extLst>
              <a:ext uri="{FF2B5EF4-FFF2-40B4-BE49-F238E27FC236}">
                <a16:creationId xmlns:a16="http://schemas.microsoft.com/office/drawing/2014/main" id="{EE01437C-B220-7A53-54AB-81708D29A688}"/>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21063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8FA47-6AD2-E218-1601-A9BB8CCE0CC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DF0ACDD-FF05-3270-2530-68F9067220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A30426A-D9D4-5F63-2F3E-E39C6232DC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8323458-7B32-12BE-4327-362FF5DA6964}"/>
              </a:ext>
            </a:extLst>
          </p:cNvPr>
          <p:cNvSpPr>
            <a:spLocks noGrp="1"/>
          </p:cNvSpPr>
          <p:nvPr>
            <p:ph type="dt" sz="half" idx="10"/>
          </p:nvPr>
        </p:nvSpPr>
        <p:spPr/>
        <p:txBody>
          <a:bodyPr/>
          <a:lstStyle/>
          <a:p>
            <a:fld id="{3AC58F6D-3F4A-DB48-AF7B-AA25146E46B7}" type="datetime1">
              <a:rPr lang="en-GB" smtClean="0"/>
              <a:t>04/08/2026</a:t>
            </a:fld>
            <a:endParaRPr lang="en-US"/>
          </a:p>
        </p:txBody>
      </p:sp>
      <p:sp>
        <p:nvSpPr>
          <p:cNvPr id="6" name="Footer Placeholder 5">
            <a:extLst>
              <a:ext uri="{FF2B5EF4-FFF2-40B4-BE49-F238E27FC236}">
                <a16:creationId xmlns:a16="http://schemas.microsoft.com/office/drawing/2014/main" id="{DD777F56-92CB-843F-3409-BEB69FA41C8D}"/>
              </a:ext>
            </a:extLst>
          </p:cNvPr>
          <p:cNvSpPr>
            <a:spLocks noGrp="1"/>
          </p:cNvSpPr>
          <p:nvPr>
            <p:ph type="ftr" sz="quarter" idx="11"/>
          </p:nvPr>
        </p:nvSpPr>
        <p:spPr/>
        <p:txBody>
          <a:bodyPr/>
          <a:lstStyle/>
          <a:p>
            <a:r>
              <a:rPr lang="en-US"/>
              <a:t>https://www.nature.com/articles/s41598-026-40734-w</a:t>
            </a:r>
          </a:p>
        </p:txBody>
      </p:sp>
      <p:sp>
        <p:nvSpPr>
          <p:cNvPr id="7" name="Slide Number Placeholder 6">
            <a:extLst>
              <a:ext uri="{FF2B5EF4-FFF2-40B4-BE49-F238E27FC236}">
                <a16:creationId xmlns:a16="http://schemas.microsoft.com/office/drawing/2014/main" id="{0FAECEBB-B488-69DC-A638-15EAF5D2B9EE}"/>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811652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E8BE6-1F7D-8062-5E23-51FA3CEC0D3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D4CA1CB-5A67-1024-37D8-E4954E070B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0900D2-5A48-B056-F096-7BBF7D4B8B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0CE8F3E-B363-704B-D4F4-B7CF452D664D}"/>
              </a:ext>
            </a:extLst>
          </p:cNvPr>
          <p:cNvSpPr>
            <a:spLocks noGrp="1"/>
          </p:cNvSpPr>
          <p:nvPr>
            <p:ph type="dt" sz="half" idx="10"/>
          </p:nvPr>
        </p:nvSpPr>
        <p:spPr/>
        <p:txBody>
          <a:bodyPr/>
          <a:lstStyle/>
          <a:p>
            <a:fld id="{BAAC4FA6-ECCF-2748-B4C7-F5C8FE9BC957}" type="datetime1">
              <a:rPr lang="en-GB" smtClean="0"/>
              <a:t>04/08/2026</a:t>
            </a:fld>
            <a:endParaRPr lang="en-US"/>
          </a:p>
        </p:txBody>
      </p:sp>
      <p:sp>
        <p:nvSpPr>
          <p:cNvPr id="6" name="Footer Placeholder 5">
            <a:extLst>
              <a:ext uri="{FF2B5EF4-FFF2-40B4-BE49-F238E27FC236}">
                <a16:creationId xmlns:a16="http://schemas.microsoft.com/office/drawing/2014/main" id="{11F0A0FA-CAD4-6AFA-2BD7-E6078C0DAFBA}"/>
              </a:ext>
            </a:extLst>
          </p:cNvPr>
          <p:cNvSpPr>
            <a:spLocks noGrp="1"/>
          </p:cNvSpPr>
          <p:nvPr>
            <p:ph type="ftr" sz="quarter" idx="11"/>
          </p:nvPr>
        </p:nvSpPr>
        <p:spPr/>
        <p:txBody>
          <a:bodyPr/>
          <a:lstStyle/>
          <a:p>
            <a:r>
              <a:rPr lang="en-US"/>
              <a:t>https://www.nature.com/articles/s41598-026-40734-w</a:t>
            </a:r>
          </a:p>
        </p:txBody>
      </p:sp>
      <p:sp>
        <p:nvSpPr>
          <p:cNvPr id="7" name="Slide Number Placeholder 6">
            <a:extLst>
              <a:ext uri="{FF2B5EF4-FFF2-40B4-BE49-F238E27FC236}">
                <a16:creationId xmlns:a16="http://schemas.microsoft.com/office/drawing/2014/main" id="{567EFAA4-1574-446F-95CE-27472D3E29A1}"/>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424950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D7AB1-D456-4BC5-DA19-DD1E644AC6A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46782F1-B1AD-E5F0-A0C0-A9F9AD2749A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380F4B-DF05-7D04-DB3A-179BA0191885}"/>
              </a:ext>
            </a:extLst>
          </p:cNvPr>
          <p:cNvSpPr>
            <a:spLocks noGrp="1"/>
          </p:cNvSpPr>
          <p:nvPr>
            <p:ph type="dt" sz="half" idx="10"/>
          </p:nvPr>
        </p:nvSpPr>
        <p:spPr/>
        <p:txBody>
          <a:bodyPr/>
          <a:lstStyle/>
          <a:p>
            <a:fld id="{634C675B-64FF-9C44-A019-CB02FE026880}" type="datetime1">
              <a:rPr lang="en-GB" smtClean="0"/>
              <a:t>04/08/2026</a:t>
            </a:fld>
            <a:endParaRPr lang="en-US"/>
          </a:p>
        </p:txBody>
      </p:sp>
      <p:sp>
        <p:nvSpPr>
          <p:cNvPr id="5" name="Footer Placeholder 4">
            <a:extLst>
              <a:ext uri="{FF2B5EF4-FFF2-40B4-BE49-F238E27FC236}">
                <a16:creationId xmlns:a16="http://schemas.microsoft.com/office/drawing/2014/main" id="{6D34E54B-2A3F-9752-11F3-F3DFAB346568}"/>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68BDC16B-68F5-42AE-1B25-779643C0D6A6}"/>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467588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6D1443-7871-5C55-377B-3DF510BEB4D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40F32F0-FDD3-F07B-F442-A0CE8D95AD8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3FD21D-4FA8-C43C-68C4-AB256CBA7EC8}"/>
              </a:ext>
            </a:extLst>
          </p:cNvPr>
          <p:cNvSpPr>
            <a:spLocks noGrp="1"/>
          </p:cNvSpPr>
          <p:nvPr>
            <p:ph type="dt" sz="half" idx="10"/>
          </p:nvPr>
        </p:nvSpPr>
        <p:spPr/>
        <p:txBody>
          <a:bodyPr/>
          <a:lstStyle/>
          <a:p>
            <a:fld id="{E9F3AEB0-98D9-D940-B26E-D6A1ED65D91A}" type="datetime1">
              <a:rPr lang="en-GB" smtClean="0"/>
              <a:t>04/08/2026</a:t>
            </a:fld>
            <a:endParaRPr lang="en-US"/>
          </a:p>
        </p:txBody>
      </p:sp>
      <p:sp>
        <p:nvSpPr>
          <p:cNvPr id="5" name="Footer Placeholder 4">
            <a:extLst>
              <a:ext uri="{FF2B5EF4-FFF2-40B4-BE49-F238E27FC236}">
                <a16:creationId xmlns:a16="http://schemas.microsoft.com/office/drawing/2014/main" id="{DFBA6DC7-E422-2816-285A-7093F3DCA32B}"/>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C76EA781-42CA-50D4-7D9B-2BE01D08897B}"/>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4792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33363A-C4B9-0F3E-4C14-FF37FE2B7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1F1F52A-853A-B1AD-A8F8-4C83AD6CCB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EFE031-4829-6F57-6CBB-0356E16533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DDA0CB-5523-1E42-87CA-252FAC812744}" type="datetime1">
              <a:rPr lang="en-GB" smtClean="0"/>
              <a:t>04/08/2026</a:t>
            </a:fld>
            <a:endParaRPr lang="en-US"/>
          </a:p>
        </p:txBody>
      </p:sp>
      <p:sp>
        <p:nvSpPr>
          <p:cNvPr id="5" name="Footer Placeholder 4">
            <a:extLst>
              <a:ext uri="{FF2B5EF4-FFF2-40B4-BE49-F238E27FC236}">
                <a16:creationId xmlns:a16="http://schemas.microsoft.com/office/drawing/2014/main" id="{2141623C-D1C6-E8BE-7632-75B4AD6674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https://www.nature.com/articles/s41598-026-40734-w</a:t>
            </a:r>
          </a:p>
        </p:txBody>
      </p:sp>
      <p:sp>
        <p:nvSpPr>
          <p:cNvPr id="6" name="Slide Number Placeholder 5">
            <a:extLst>
              <a:ext uri="{FF2B5EF4-FFF2-40B4-BE49-F238E27FC236}">
                <a16:creationId xmlns:a16="http://schemas.microsoft.com/office/drawing/2014/main" id="{EA017055-E5D4-3CCD-CC0B-B051EEDEDC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4F8700-59A9-9F43-890F-FBD99AAFCE54}" type="slidenum">
              <a:rPr lang="en-US" smtClean="0"/>
              <a:t>‹#›</a:t>
            </a:fld>
            <a:endParaRPr lang="en-US"/>
          </a:p>
        </p:txBody>
      </p:sp>
    </p:spTree>
    <p:extLst>
      <p:ext uri="{BB962C8B-B14F-4D97-AF65-F5344CB8AC3E}">
        <p14:creationId xmlns:p14="http://schemas.microsoft.com/office/powerpoint/2010/main" val="842757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8EB94-C6DD-EB25-B42A-C0EE77F781F9}"/>
              </a:ext>
            </a:extLst>
          </p:cNvPr>
          <p:cNvSpPr>
            <a:spLocks noGrp="1"/>
          </p:cNvSpPr>
          <p:nvPr>
            <p:ph type="ctrTitle"/>
          </p:nvPr>
        </p:nvSpPr>
        <p:spPr/>
        <p:txBody>
          <a:bodyPr/>
          <a:lstStyle/>
          <a:p>
            <a:r>
              <a:rPr lang="en-US" dirty="0"/>
              <a:t>Literature</a:t>
            </a:r>
            <a:r>
              <a:rPr lang="zh-CN" altLang="en-US" dirty="0"/>
              <a:t> </a:t>
            </a:r>
            <a:r>
              <a:rPr lang="en-US" altLang="zh-CN" dirty="0"/>
              <a:t>Review</a:t>
            </a:r>
            <a:endParaRPr lang="en-US" dirty="0"/>
          </a:p>
        </p:txBody>
      </p:sp>
      <p:sp>
        <p:nvSpPr>
          <p:cNvPr id="3" name="Subtitle 2">
            <a:extLst>
              <a:ext uri="{FF2B5EF4-FFF2-40B4-BE49-F238E27FC236}">
                <a16:creationId xmlns:a16="http://schemas.microsoft.com/office/drawing/2014/main" id="{2E67CE56-52CC-8379-E5C1-9C3C2A5A2309}"/>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EFEBB34D-2D56-E814-92A1-69CD5B068CCB}"/>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2290531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0B489-2C50-AC2E-9C89-EAD07D82D7C2}"/>
              </a:ext>
            </a:extLst>
          </p:cNvPr>
          <p:cNvSpPr>
            <a:spLocks noGrp="1"/>
          </p:cNvSpPr>
          <p:nvPr>
            <p:ph type="title"/>
          </p:nvPr>
        </p:nvSpPr>
        <p:spPr/>
        <p:txBody>
          <a:bodyPr/>
          <a:lstStyle/>
          <a:p>
            <a:r>
              <a:rPr lang="en-US" altLang="zh-CN" dirty="0"/>
              <a:t>Literature</a:t>
            </a:r>
            <a:r>
              <a:rPr lang="zh-CN" altLang="en-US" dirty="0"/>
              <a:t> </a:t>
            </a:r>
            <a:r>
              <a:rPr lang="en-US" altLang="zh-CN" dirty="0"/>
              <a:t>Review</a:t>
            </a:r>
            <a:r>
              <a:rPr lang="zh-CN" altLang="en-US" dirty="0"/>
              <a:t> </a:t>
            </a:r>
            <a:r>
              <a:rPr lang="en-US" altLang="zh-CN" dirty="0"/>
              <a:t>Logic</a:t>
            </a:r>
            <a:r>
              <a:rPr lang="zh-CN" altLang="en-US" dirty="0"/>
              <a:t> </a:t>
            </a:r>
            <a:r>
              <a:rPr lang="en-US" altLang="zh-CN" dirty="0"/>
              <a:t>and</a:t>
            </a:r>
            <a:r>
              <a:rPr lang="zh-CN" altLang="en-US" dirty="0"/>
              <a:t> </a:t>
            </a:r>
            <a:r>
              <a:rPr lang="en-US" altLang="zh-CN" dirty="0"/>
              <a:t>Research</a:t>
            </a:r>
            <a:r>
              <a:rPr lang="zh-CN" altLang="en-US" dirty="0"/>
              <a:t> </a:t>
            </a:r>
            <a:r>
              <a:rPr lang="en-US" altLang="zh-CN" dirty="0"/>
              <a:t>Gap</a:t>
            </a:r>
            <a:endParaRPr lang="en-US" dirty="0"/>
          </a:p>
        </p:txBody>
      </p:sp>
      <p:pic>
        <p:nvPicPr>
          <p:cNvPr id="5" name="Content Placeholder 4">
            <a:extLst>
              <a:ext uri="{FF2B5EF4-FFF2-40B4-BE49-F238E27FC236}">
                <a16:creationId xmlns:a16="http://schemas.microsoft.com/office/drawing/2014/main" id="{175CE7D6-33CB-62FD-CE37-D17A77DC6539}"/>
              </a:ext>
            </a:extLst>
          </p:cNvPr>
          <p:cNvPicPr>
            <a:picLocks noGrp="1" noChangeAspect="1"/>
          </p:cNvPicPr>
          <p:nvPr>
            <p:ph idx="1"/>
          </p:nvPr>
        </p:nvPicPr>
        <p:blipFill>
          <a:blip r:embed="rId3"/>
          <a:stretch>
            <a:fillRect/>
          </a:stretch>
        </p:blipFill>
        <p:spPr>
          <a:xfrm>
            <a:off x="1397605" y="1690688"/>
            <a:ext cx="9232404" cy="4351338"/>
          </a:xfrm>
          <a:prstGeom prst="rect">
            <a:avLst/>
          </a:prstGeom>
        </p:spPr>
      </p:pic>
      <p:sp>
        <p:nvSpPr>
          <p:cNvPr id="7" name="TextBox 6">
            <a:extLst>
              <a:ext uri="{FF2B5EF4-FFF2-40B4-BE49-F238E27FC236}">
                <a16:creationId xmlns:a16="http://schemas.microsoft.com/office/drawing/2014/main" id="{1922252E-2022-2E9B-5941-BB5C00BBE8B6}"/>
              </a:ext>
            </a:extLst>
          </p:cNvPr>
          <p:cNvSpPr txBox="1"/>
          <p:nvPr/>
        </p:nvSpPr>
        <p:spPr>
          <a:xfrm>
            <a:off x="1397604" y="6169709"/>
            <a:ext cx="8917649" cy="369332"/>
          </a:xfrm>
          <a:prstGeom prst="rect">
            <a:avLst/>
          </a:prstGeom>
          <a:noFill/>
        </p:spPr>
        <p:txBody>
          <a:bodyPr wrap="square">
            <a:spAutoFit/>
          </a:bodyPr>
          <a:lstStyle/>
          <a:p>
            <a:r>
              <a:rPr lang="en-US" dirty="0"/>
              <a:t>The key gap is how to protect intermediate embedding in split VLM inference.</a:t>
            </a:r>
          </a:p>
        </p:txBody>
      </p:sp>
    </p:spTree>
    <p:extLst>
      <p:ext uri="{BB962C8B-B14F-4D97-AF65-F5344CB8AC3E}">
        <p14:creationId xmlns:p14="http://schemas.microsoft.com/office/powerpoint/2010/main" val="497191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8A0C4-6693-8B64-58F9-D1A41B326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56253-1225-28D3-AE49-6350DFCF1E16}"/>
              </a:ext>
            </a:extLst>
          </p:cNvPr>
          <p:cNvSpPr>
            <a:spLocks noGrp="1"/>
          </p:cNvSpPr>
          <p:nvPr>
            <p:ph type="title"/>
          </p:nvPr>
        </p:nvSpPr>
        <p:spPr>
          <a:xfrm>
            <a:off x="838200" y="-113846"/>
            <a:ext cx="10515600" cy="1325563"/>
          </a:xfrm>
        </p:spPr>
        <p:txBody>
          <a:bodyPr/>
          <a:lstStyle/>
          <a:p>
            <a:r>
              <a:rPr lang="en-US" altLang="zh-CN" dirty="0"/>
              <a:t>Related</a:t>
            </a:r>
            <a:r>
              <a:rPr lang="zh-CN" altLang="en-US" dirty="0"/>
              <a:t> </a:t>
            </a:r>
            <a:r>
              <a:rPr lang="en-US" altLang="zh-CN" dirty="0"/>
              <a:t>work</a:t>
            </a:r>
            <a:r>
              <a:rPr lang="zh-CN" altLang="en-US" dirty="0"/>
              <a:t> </a:t>
            </a:r>
            <a:r>
              <a:rPr lang="en-US" altLang="zh-CN" dirty="0"/>
              <a:t>-</a:t>
            </a:r>
            <a:r>
              <a:rPr lang="zh-CN" altLang="en-US" dirty="0"/>
              <a:t> </a:t>
            </a:r>
            <a:r>
              <a:rPr lang="en-US" altLang="zh-CN" dirty="0"/>
              <a:t>1</a:t>
            </a:r>
            <a:endParaRPr lang="en-US" dirty="0"/>
          </a:p>
        </p:txBody>
      </p:sp>
      <p:graphicFrame>
        <p:nvGraphicFramePr>
          <p:cNvPr id="10" name="Content Placeholder 9">
            <a:extLst>
              <a:ext uri="{FF2B5EF4-FFF2-40B4-BE49-F238E27FC236}">
                <a16:creationId xmlns:a16="http://schemas.microsoft.com/office/drawing/2014/main" id="{B631E433-B7DC-20F5-BDB8-5FFC5DFB35B0}"/>
              </a:ext>
            </a:extLst>
          </p:cNvPr>
          <p:cNvGraphicFramePr>
            <a:graphicFrameLocks noGrp="1"/>
          </p:cNvGraphicFramePr>
          <p:nvPr>
            <p:ph idx="1"/>
            <p:extLst>
              <p:ext uri="{D42A27DB-BD31-4B8C-83A1-F6EECF244321}">
                <p14:modId xmlns:p14="http://schemas.microsoft.com/office/powerpoint/2010/main" val="834359100"/>
              </p:ext>
            </p:extLst>
          </p:nvPr>
        </p:nvGraphicFramePr>
        <p:xfrm>
          <a:off x="838199" y="1825625"/>
          <a:ext cx="10421319" cy="3291840"/>
        </p:xfrm>
        <a:graphic>
          <a:graphicData uri="http://schemas.openxmlformats.org/drawingml/2006/table">
            <a:tbl>
              <a:tblPr firstRow="1" bandRow="1">
                <a:tableStyleId>{5C22544A-7EE6-4342-B048-85BDC9FD1C3A}</a:tableStyleId>
              </a:tblPr>
              <a:tblGrid>
                <a:gridCol w="2222087">
                  <a:extLst>
                    <a:ext uri="{9D8B030D-6E8A-4147-A177-3AD203B41FA5}">
                      <a16:colId xmlns:a16="http://schemas.microsoft.com/office/drawing/2014/main" val="334613793"/>
                    </a:ext>
                  </a:extLst>
                </a:gridCol>
                <a:gridCol w="2345172">
                  <a:extLst>
                    <a:ext uri="{9D8B030D-6E8A-4147-A177-3AD203B41FA5}">
                      <a16:colId xmlns:a16="http://schemas.microsoft.com/office/drawing/2014/main" val="2899099429"/>
                    </a:ext>
                  </a:extLst>
                </a:gridCol>
                <a:gridCol w="2896061">
                  <a:extLst>
                    <a:ext uri="{9D8B030D-6E8A-4147-A177-3AD203B41FA5}">
                      <a16:colId xmlns:a16="http://schemas.microsoft.com/office/drawing/2014/main" val="2893236229"/>
                    </a:ext>
                  </a:extLst>
                </a:gridCol>
                <a:gridCol w="2957999">
                  <a:extLst>
                    <a:ext uri="{9D8B030D-6E8A-4147-A177-3AD203B41FA5}">
                      <a16:colId xmlns:a16="http://schemas.microsoft.com/office/drawing/2014/main" val="1084029218"/>
                    </a:ext>
                  </a:extLst>
                </a:gridCol>
              </a:tblGrid>
              <a:tr h="370840">
                <a:tc>
                  <a:txBody>
                    <a:bodyPr/>
                    <a:lstStyle/>
                    <a:p>
                      <a:r>
                        <a:rPr lang="en-US" dirty="0"/>
                        <a:t>Theme</a:t>
                      </a:r>
                    </a:p>
                  </a:txBody>
                  <a:tcPr/>
                </a:tc>
                <a:tc>
                  <a:txBody>
                    <a:bodyPr/>
                    <a:lstStyle/>
                    <a:p>
                      <a:r>
                        <a:rPr lang="en-US" dirty="0"/>
                        <a:t>Representative Papers</a:t>
                      </a:r>
                    </a:p>
                  </a:txBody>
                  <a:tcPr/>
                </a:tc>
                <a:tc>
                  <a:txBody>
                    <a:bodyPr/>
                    <a:lstStyle/>
                    <a:p>
                      <a:r>
                        <a:rPr lang="en-US" dirty="0"/>
                        <a:t>Main Findings and Limitations</a:t>
                      </a:r>
                    </a:p>
                  </a:txBody>
                  <a:tcPr/>
                </a:tc>
                <a:tc>
                  <a:txBody>
                    <a:bodyPr/>
                    <a:lstStyle/>
                    <a:p>
                      <a:r>
                        <a:rPr lang="en-US" dirty="0"/>
                        <a:t>Relate</a:t>
                      </a:r>
                      <a:r>
                        <a:rPr lang="zh-CN" altLang="en-US" dirty="0"/>
                        <a:t> </a:t>
                      </a:r>
                      <a:r>
                        <a:rPr lang="en-US" altLang="zh-CN" dirty="0"/>
                        <a:t>to</a:t>
                      </a:r>
                      <a:r>
                        <a:rPr lang="zh-CN" altLang="en-US" dirty="0"/>
                        <a:t> </a:t>
                      </a:r>
                      <a:r>
                        <a:rPr lang="en-US" altLang="zh-CN" dirty="0"/>
                        <a:t>topic</a:t>
                      </a:r>
                      <a:endParaRPr lang="en-US" dirty="0"/>
                    </a:p>
                  </a:txBody>
                  <a:tcPr/>
                </a:tc>
                <a:extLst>
                  <a:ext uri="{0D108BD9-81ED-4DB2-BD59-A6C34878D82A}">
                    <a16:rowId xmlns:a16="http://schemas.microsoft.com/office/drawing/2014/main" val="593024618"/>
                  </a:ext>
                </a:extLst>
              </a:tr>
              <a:tr h="370840">
                <a:tc>
                  <a:txBody>
                    <a:bodyPr/>
                    <a:lstStyle/>
                    <a:p>
                      <a:r>
                        <a:rPr lang="en-US" sz="1200" dirty="0"/>
                        <a:t>Edge Deployment of</a:t>
                      </a:r>
                    </a:p>
                    <a:p>
                      <a:r>
                        <a:rPr lang="en-US" sz="1200" dirty="0"/>
                        <a:t>Vision–Language Models</a:t>
                      </a:r>
                    </a:p>
                  </a:txBody>
                  <a:tcPr/>
                </a:tc>
                <a:tc>
                  <a:txBody>
                    <a:bodyPr/>
                    <a:lstStyle/>
                    <a:p>
                      <a:r>
                        <a:rPr lang="en-US" sz="1200" dirty="0"/>
                        <a:t>VLM edge deployment survey;</a:t>
                      </a:r>
                    </a:p>
                    <a:p>
                      <a:r>
                        <a:rPr lang="en-US" sz="1200" dirty="0" err="1"/>
                        <a:t>MobileVLM</a:t>
                      </a:r>
                      <a:r>
                        <a:rPr lang="en-US" sz="1200" dirty="0"/>
                        <a:t>; </a:t>
                      </a:r>
                      <a:r>
                        <a:rPr lang="en-US" sz="1200" dirty="0" err="1"/>
                        <a:t>EdgeVL</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Lightweight architectures, efficient projectors, knowledge distillation, and quantisation can reduce the computational and memory demands of VLMs on resource-constrained devices. However, distillation and quantisation-aware training add training and engineering complexity, while model compression may reduce capability on complex vision–language tasks. Consequently, fully deploying capable VLMs on highly constrained edge devices remains challenging.</a:t>
                      </a:r>
                    </a:p>
                    <a:p>
                      <a:endParaRPr lang="en-US" sz="1200" dirty="0"/>
                    </a:p>
                  </a:txBody>
                  <a:tcPr/>
                </a:tc>
                <a:tc>
                  <a:txBody>
                    <a:bodyPr/>
                    <a:lstStyle/>
                    <a:p>
                      <a:r>
                        <a:rPr lang="en-US" sz="1200" dirty="0"/>
                        <a:t>Motivates splitting the VLM pipeline</a:t>
                      </a:r>
                    </a:p>
                    <a:p>
                      <a:r>
                        <a:rPr lang="en-US" sz="1200" dirty="0"/>
                        <a:t>between edge and cloud, while high</a:t>
                      </a:r>
                    </a:p>
                    <a:p>
                      <a:r>
                        <a:rPr lang="en-US" sz="1200" dirty="0"/>
                        <a:t>lighting the need to protect data generated at the split point.</a:t>
                      </a:r>
                    </a:p>
                  </a:txBody>
                  <a:tcPr/>
                </a:tc>
                <a:extLst>
                  <a:ext uri="{0D108BD9-81ED-4DB2-BD59-A6C34878D82A}">
                    <a16:rowId xmlns:a16="http://schemas.microsoft.com/office/drawing/2014/main" val="1190549666"/>
                  </a:ext>
                </a:extLst>
              </a:tr>
            </a:tbl>
          </a:graphicData>
        </a:graphic>
      </p:graphicFrame>
    </p:spTree>
    <p:extLst>
      <p:ext uri="{BB962C8B-B14F-4D97-AF65-F5344CB8AC3E}">
        <p14:creationId xmlns:p14="http://schemas.microsoft.com/office/powerpoint/2010/main" val="1166682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82EBB-FC49-6D6A-30A7-C8A895211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2E1B2-3CBD-6234-30FE-114832EA0415}"/>
              </a:ext>
            </a:extLst>
          </p:cNvPr>
          <p:cNvSpPr>
            <a:spLocks noGrp="1"/>
          </p:cNvSpPr>
          <p:nvPr>
            <p:ph type="title"/>
          </p:nvPr>
        </p:nvSpPr>
        <p:spPr>
          <a:xfrm>
            <a:off x="838200" y="-113846"/>
            <a:ext cx="10515600" cy="1325563"/>
          </a:xfrm>
        </p:spPr>
        <p:txBody>
          <a:bodyPr/>
          <a:lstStyle/>
          <a:p>
            <a:r>
              <a:rPr lang="en-US" altLang="zh-CN" dirty="0"/>
              <a:t>Related</a:t>
            </a:r>
            <a:r>
              <a:rPr lang="zh-CN" altLang="en-US" dirty="0"/>
              <a:t> </a:t>
            </a:r>
            <a:r>
              <a:rPr lang="en-US" altLang="zh-CN" dirty="0"/>
              <a:t>work</a:t>
            </a:r>
            <a:r>
              <a:rPr lang="zh-CN" altLang="en-US" dirty="0"/>
              <a:t> </a:t>
            </a:r>
            <a:r>
              <a:rPr lang="en-US" altLang="zh-CN" dirty="0"/>
              <a:t>-</a:t>
            </a:r>
            <a:r>
              <a:rPr lang="zh-CN" altLang="en-US" dirty="0"/>
              <a:t> </a:t>
            </a:r>
            <a:r>
              <a:rPr lang="en-US" altLang="zh-CN" dirty="0"/>
              <a:t>2</a:t>
            </a:r>
            <a:endParaRPr lang="en-US" dirty="0"/>
          </a:p>
        </p:txBody>
      </p:sp>
      <p:graphicFrame>
        <p:nvGraphicFramePr>
          <p:cNvPr id="10" name="Content Placeholder 9">
            <a:extLst>
              <a:ext uri="{FF2B5EF4-FFF2-40B4-BE49-F238E27FC236}">
                <a16:creationId xmlns:a16="http://schemas.microsoft.com/office/drawing/2014/main" id="{0245C92B-A193-1D64-635E-503E3033EF64}"/>
              </a:ext>
            </a:extLst>
          </p:cNvPr>
          <p:cNvGraphicFramePr>
            <a:graphicFrameLocks noGrp="1"/>
          </p:cNvGraphicFramePr>
          <p:nvPr>
            <p:ph idx="1"/>
            <p:extLst>
              <p:ext uri="{D42A27DB-BD31-4B8C-83A1-F6EECF244321}">
                <p14:modId xmlns:p14="http://schemas.microsoft.com/office/powerpoint/2010/main" val="928710994"/>
              </p:ext>
            </p:extLst>
          </p:nvPr>
        </p:nvGraphicFramePr>
        <p:xfrm>
          <a:off x="838199" y="1825625"/>
          <a:ext cx="10421319" cy="3291840"/>
        </p:xfrm>
        <a:graphic>
          <a:graphicData uri="http://schemas.openxmlformats.org/drawingml/2006/table">
            <a:tbl>
              <a:tblPr firstRow="1" bandRow="1">
                <a:tableStyleId>{5C22544A-7EE6-4342-B048-85BDC9FD1C3A}</a:tableStyleId>
              </a:tblPr>
              <a:tblGrid>
                <a:gridCol w="2222087">
                  <a:extLst>
                    <a:ext uri="{9D8B030D-6E8A-4147-A177-3AD203B41FA5}">
                      <a16:colId xmlns:a16="http://schemas.microsoft.com/office/drawing/2014/main" val="334613793"/>
                    </a:ext>
                  </a:extLst>
                </a:gridCol>
                <a:gridCol w="2345172">
                  <a:extLst>
                    <a:ext uri="{9D8B030D-6E8A-4147-A177-3AD203B41FA5}">
                      <a16:colId xmlns:a16="http://schemas.microsoft.com/office/drawing/2014/main" val="2899099429"/>
                    </a:ext>
                  </a:extLst>
                </a:gridCol>
                <a:gridCol w="2099001">
                  <a:extLst>
                    <a:ext uri="{9D8B030D-6E8A-4147-A177-3AD203B41FA5}">
                      <a16:colId xmlns:a16="http://schemas.microsoft.com/office/drawing/2014/main" val="2893236229"/>
                    </a:ext>
                  </a:extLst>
                </a:gridCol>
                <a:gridCol w="3755059">
                  <a:extLst>
                    <a:ext uri="{9D8B030D-6E8A-4147-A177-3AD203B41FA5}">
                      <a16:colId xmlns:a16="http://schemas.microsoft.com/office/drawing/2014/main" val="1084029218"/>
                    </a:ext>
                  </a:extLst>
                </a:gridCol>
              </a:tblGrid>
              <a:tr h="370840">
                <a:tc>
                  <a:txBody>
                    <a:bodyPr/>
                    <a:lstStyle/>
                    <a:p>
                      <a:r>
                        <a:rPr lang="en-US" dirty="0"/>
                        <a:t>Theme</a:t>
                      </a:r>
                    </a:p>
                  </a:txBody>
                  <a:tcPr/>
                </a:tc>
                <a:tc>
                  <a:txBody>
                    <a:bodyPr/>
                    <a:lstStyle/>
                    <a:p>
                      <a:r>
                        <a:rPr lang="en-US" dirty="0"/>
                        <a:t>Representative Papers</a:t>
                      </a:r>
                    </a:p>
                  </a:txBody>
                  <a:tcPr/>
                </a:tc>
                <a:tc>
                  <a:txBody>
                    <a:bodyPr/>
                    <a:lstStyle/>
                    <a:p>
                      <a:r>
                        <a:rPr lang="en-US" dirty="0"/>
                        <a:t>Main Findings and Limitations</a:t>
                      </a:r>
                    </a:p>
                  </a:txBody>
                  <a:tcPr/>
                </a:tc>
                <a:tc>
                  <a:txBody>
                    <a:bodyPr/>
                    <a:lstStyle/>
                    <a:p>
                      <a:r>
                        <a:rPr lang="en-US" dirty="0"/>
                        <a:t>Relate</a:t>
                      </a:r>
                      <a:r>
                        <a:rPr lang="zh-CN" altLang="en-US" dirty="0"/>
                        <a:t> </a:t>
                      </a:r>
                      <a:r>
                        <a:rPr lang="en-US" altLang="zh-CN" dirty="0"/>
                        <a:t>to</a:t>
                      </a:r>
                      <a:r>
                        <a:rPr lang="zh-CN" altLang="en-US" dirty="0"/>
                        <a:t> </a:t>
                      </a:r>
                      <a:r>
                        <a:rPr lang="en-US" altLang="zh-CN" dirty="0"/>
                        <a:t>topic</a:t>
                      </a:r>
                      <a:endParaRPr lang="en-US" dirty="0"/>
                    </a:p>
                  </a:txBody>
                  <a:tcPr/>
                </a:tc>
                <a:extLst>
                  <a:ext uri="{0D108BD9-81ED-4DB2-BD59-A6C34878D82A}">
                    <a16:rowId xmlns:a16="http://schemas.microsoft.com/office/drawing/2014/main" val="593024618"/>
                  </a:ext>
                </a:extLst>
              </a:tr>
              <a:tr h="370840">
                <a:tc>
                  <a:txBody>
                    <a:bodyPr/>
                    <a:lstStyle/>
                    <a:p>
                      <a:r>
                        <a:rPr lang="en-US" sz="1200" dirty="0"/>
                        <a:t>Split Inference and Dis-</a:t>
                      </a:r>
                    </a:p>
                    <a:p>
                      <a:r>
                        <a:rPr lang="en-US" sz="1200" dirty="0"/>
                        <a:t>tributed VLM </a:t>
                      </a:r>
                      <a:r>
                        <a:rPr lang="en-US" sz="1200" dirty="0" err="1"/>
                        <a:t>Architec</a:t>
                      </a:r>
                      <a:r>
                        <a:rPr lang="en-US" sz="1200" dirty="0"/>
                        <a:t>-</a:t>
                      </a:r>
                    </a:p>
                    <a:p>
                      <a:r>
                        <a:rPr lang="en-US" sz="1200" dirty="0" err="1"/>
                        <a:t>tures</a:t>
                      </a:r>
                      <a:endParaRPr lang="en-US" sz="1200" dirty="0"/>
                    </a:p>
                  </a:txBody>
                  <a:tcPr/>
                </a:tc>
                <a:tc>
                  <a:txBody>
                    <a:bodyPr/>
                    <a:lstStyle/>
                    <a:p>
                      <a:r>
                        <a:rPr lang="en-US" sz="1200" dirty="0"/>
                        <a:t>Neurosurgeon; distributed VLM architecture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Split inference partitions model execution between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edge and cloud resources. Recent distributed VLM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work sends projected visual embeddings from an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edge-side visual encoder and projection module to</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 cloud-side language decoder. The split point affects communication cost, local computation, cloud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computation, and end-to-end latency.</a:t>
                      </a:r>
                      <a:endParaRPr lang="en-US" sz="1200" dirty="0"/>
                    </a:p>
                  </a:txBody>
                  <a:tcPr/>
                </a:tc>
                <a:tc>
                  <a:txBody>
                    <a:bodyPr/>
                    <a:lstStyle/>
                    <a:p>
                      <a:r>
                        <a:rPr lang="en-US" sz="1200" dirty="0"/>
                        <a:t>Provides the technical basis for the</a:t>
                      </a:r>
                    </a:p>
                    <a:p>
                      <a:r>
                        <a:rPr lang="en-US" sz="1200" dirty="0"/>
                        <a:t>implemented pipeline, in which projected visual embeddings are generated at the edge and reconstructed for</a:t>
                      </a:r>
                      <a:r>
                        <a:rPr lang="zh-CN" altLang="en-US" sz="1200" dirty="0"/>
                        <a:t> </a:t>
                      </a:r>
                      <a:r>
                        <a:rPr lang="en-US" sz="1200" dirty="0"/>
                        <a:t>cloud-side VLM decoding.</a:t>
                      </a:r>
                    </a:p>
                  </a:txBody>
                  <a:tcPr/>
                </a:tc>
                <a:extLst>
                  <a:ext uri="{0D108BD9-81ED-4DB2-BD59-A6C34878D82A}">
                    <a16:rowId xmlns:a16="http://schemas.microsoft.com/office/drawing/2014/main" val="1190549666"/>
                  </a:ext>
                </a:extLst>
              </a:tr>
            </a:tbl>
          </a:graphicData>
        </a:graphic>
      </p:graphicFrame>
    </p:spTree>
    <p:extLst>
      <p:ext uri="{BB962C8B-B14F-4D97-AF65-F5344CB8AC3E}">
        <p14:creationId xmlns:p14="http://schemas.microsoft.com/office/powerpoint/2010/main" val="3417823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E1FB5-2240-8BC5-E9A6-2A01C99AF6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33540-61D0-4173-C6CA-19A1B3E62A09}"/>
              </a:ext>
            </a:extLst>
          </p:cNvPr>
          <p:cNvSpPr>
            <a:spLocks noGrp="1"/>
          </p:cNvSpPr>
          <p:nvPr>
            <p:ph type="title"/>
          </p:nvPr>
        </p:nvSpPr>
        <p:spPr>
          <a:xfrm>
            <a:off x="838200" y="-113846"/>
            <a:ext cx="10515600" cy="1325563"/>
          </a:xfrm>
        </p:spPr>
        <p:txBody>
          <a:bodyPr/>
          <a:lstStyle/>
          <a:p>
            <a:r>
              <a:rPr lang="en-US" altLang="zh-CN" dirty="0"/>
              <a:t>Related</a:t>
            </a:r>
            <a:r>
              <a:rPr lang="zh-CN" altLang="en-US" dirty="0"/>
              <a:t> </a:t>
            </a:r>
            <a:r>
              <a:rPr lang="en-US" altLang="zh-CN" dirty="0"/>
              <a:t>work</a:t>
            </a:r>
            <a:r>
              <a:rPr lang="zh-CN" altLang="en-US" dirty="0"/>
              <a:t> </a:t>
            </a:r>
            <a:r>
              <a:rPr lang="en-US" altLang="zh-CN" dirty="0"/>
              <a:t>-</a:t>
            </a:r>
            <a:r>
              <a:rPr lang="zh-CN" altLang="en-US" dirty="0"/>
              <a:t> </a:t>
            </a:r>
            <a:r>
              <a:rPr lang="en-US" altLang="zh-CN" dirty="0"/>
              <a:t>3</a:t>
            </a:r>
            <a:endParaRPr lang="en-US" dirty="0"/>
          </a:p>
        </p:txBody>
      </p:sp>
      <p:graphicFrame>
        <p:nvGraphicFramePr>
          <p:cNvPr id="10" name="Content Placeholder 9">
            <a:extLst>
              <a:ext uri="{FF2B5EF4-FFF2-40B4-BE49-F238E27FC236}">
                <a16:creationId xmlns:a16="http://schemas.microsoft.com/office/drawing/2014/main" id="{F91321FB-9101-E648-1EBE-2A17519DD438}"/>
              </a:ext>
            </a:extLst>
          </p:cNvPr>
          <p:cNvGraphicFramePr>
            <a:graphicFrameLocks noGrp="1"/>
          </p:cNvGraphicFramePr>
          <p:nvPr>
            <p:ph idx="1"/>
            <p:extLst>
              <p:ext uri="{D42A27DB-BD31-4B8C-83A1-F6EECF244321}">
                <p14:modId xmlns:p14="http://schemas.microsoft.com/office/powerpoint/2010/main" val="3902853269"/>
              </p:ext>
            </p:extLst>
          </p:nvPr>
        </p:nvGraphicFramePr>
        <p:xfrm>
          <a:off x="838199" y="1825625"/>
          <a:ext cx="10421319" cy="3749040"/>
        </p:xfrm>
        <a:graphic>
          <a:graphicData uri="http://schemas.openxmlformats.org/drawingml/2006/table">
            <a:tbl>
              <a:tblPr firstRow="1" bandRow="1">
                <a:tableStyleId>{5C22544A-7EE6-4342-B048-85BDC9FD1C3A}</a:tableStyleId>
              </a:tblPr>
              <a:tblGrid>
                <a:gridCol w="2222087">
                  <a:extLst>
                    <a:ext uri="{9D8B030D-6E8A-4147-A177-3AD203B41FA5}">
                      <a16:colId xmlns:a16="http://schemas.microsoft.com/office/drawing/2014/main" val="334613793"/>
                    </a:ext>
                  </a:extLst>
                </a:gridCol>
                <a:gridCol w="2345172">
                  <a:extLst>
                    <a:ext uri="{9D8B030D-6E8A-4147-A177-3AD203B41FA5}">
                      <a16:colId xmlns:a16="http://schemas.microsoft.com/office/drawing/2014/main" val="2899099429"/>
                    </a:ext>
                  </a:extLst>
                </a:gridCol>
                <a:gridCol w="3101544">
                  <a:extLst>
                    <a:ext uri="{9D8B030D-6E8A-4147-A177-3AD203B41FA5}">
                      <a16:colId xmlns:a16="http://schemas.microsoft.com/office/drawing/2014/main" val="2893236229"/>
                    </a:ext>
                  </a:extLst>
                </a:gridCol>
                <a:gridCol w="2752516">
                  <a:extLst>
                    <a:ext uri="{9D8B030D-6E8A-4147-A177-3AD203B41FA5}">
                      <a16:colId xmlns:a16="http://schemas.microsoft.com/office/drawing/2014/main" val="1084029218"/>
                    </a:ext>
                  </a:extLst>
                </a:gridCol>
              </a:tblGrid>
              <a:tr h="370840">
                <a:tc>
                  <a:txBody>
                    <a:bodyPr/>
                    <a:lstStyle/>
                    <a:p>
                      <a:r>
                        <a:rPr lang="en-US" dirty="0"/>
                        <a:t>Theme</a:t>
                      </a:r>
                    </a:p>
                  </a:txBody>
                  <a:tcPr/>
                </a:tc>
                <a:tc>
                  <a:txBody>
                    <a:bodyPr/>
                    <a:lstStyle/>
                    <a:p>
                      <a:r>
                        <a:rPr lang="en-US" dirty="0"/>
                        <a:t>Representative Papers</a:t>
                      </a:r>
                    </a:p>
                  </a:txBody>
                  <a:tcPr/>
                </a:tc>
                <a:tc>
                  <a:txBody>
                    <a:bodyPr/>
                    <a:lstStyle/>
                    <a:p>
                      <a:r>
                        <a:rPr lang="en-US" dirty="0"/>
                        <a:t>Main Findings and Limitations</a:t>
                      </a:r>
                    </a:p>
                  </a:txBody>
                  <a:tcPr/>
                </a:tc>
                <a:tc>
                  <a:txBody>
                    <a:bodyPr/>
                    <a:lstStyle/>
                    <a:p>
                      <a:r>
                        <a:rPr lang="en-US" dirty="0"/>
                        <a:t>Relate</a:t>
                      </a:r>
                      <a:r>
                        <a:rPr lang="zh-CN" altLang="en-US" dirty="0"/>
                        <a:t> </a:t>
                      </a:r>
                      <a:r>
                        <a:rPr lang="en-US" altLang="zh-CN" dirty="0"/>
                        <a:t>to</a:t>
                      </a:r>
                      <a:r>
                        <a:rPr lang="zh-CN" altLang="en-US" dirty="0"/>
                        <a:t> </a:t>
                      </a:r>
                      <a:r>
                        <a:rPr lang="en-US" altLang="zh-CN" dirty="0"/>
                        <a:t>topic</a:t>
                      </a:r>
                      <a:endParaRPr lang="en-US" dirty="0"/>
                    </a:p>
                  </a:txBody>
                  <a:tcPr/>
                </a:tc>
                <a:extLst>
                  <a:ext uri="{0D108BD9-81ED-4DB2-BD59-A6C34878D82A}">
                    <a16:rowId xmlns:a16="http://schemas.microsoft.com/office/drawing/2014/main" val="593024618"/>
                  </a:ext>
                </a:extLst>
              </a:tr>
              <a:tr h="370840">
                <a:tc>
                  <a:txBody>
                    <a:bodyPr/>
                    <a:lstStyle/>
                    <a:p>
                      <a:r>
                        <a:rPr lang="en-US" sz="1200" dirty="0"/>
                        <a:t>Privacy Risks of Intermediate Representations</a:t>
                      </a:r>
                    </a:p>
                  </a:txBody>
                  <a:tcPr/>
                </a:tc>
                <a:tc>
                  <a:txBody>
                    <a:bodyPr/>
                    <a:lstStyle/>
                    <a:p>
                      <a:r>
                        <a:rPr lang="en-US" sz="1200" dirty="0" err="1"/>
                        <a:t>UnSplit</a:t>
                      </a:r>
                      <a:r>
                        <a:rPr lang="en-US" sz="1200" dirty="0"/>
                        <a:t>; </a:t>
                      </a:r>
                    </a:p>
                    <a:p>
                      <a:r>
                        <a:rPr lang="en-US" sz="1200" dirty="0"/>
                        <a:t>Feature-Oriented Reconstruction Attack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a:t>
                      </a:r>
                      <a:r>
                        <a:rPr lang="en-GB" sz="1200" dirty="0"/>
                        <a:t>Both assume an </a:t>
                      </a:r>
                      <a:r>
                        <a:rPr lang="en-GB" sz="1200" b="1" dirty="0"/>
                        <a:t>honest-but-curious</a:t>
                      </a:r>
                      <a:r>
                        <a:rPr lang="en-US" altLang="zh-CN" sz="1200" dirty="0"/>
                        <a:t>)</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Intermediate representations (smashed data) can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reveal information about client inputs under particular split-learning threat models. Honest-but-curious servers may use received representations</a:t>
                      </a:r>
                      <a:r>
                        <a:rPr lang="zh-CN" altLang="en-US" sz="1200" dirty="0"/>
                        <a:t> </a:t>
                      </a:r>
                      <a:r>
                        <a:rPr lang="en-GB" sz="1200" dirty="0"/>
                        <a:t>and knowledge of the client-side model to reconstruct </a:t>
                      </a:r>
                      <a:r>
                        <a:rPr lang="en-GB" sz="1200" dirty="0" err="1"/>
                        <a:t>inputrelated</a:t>
                      </a:r>
                      <a:r>
                        <a:rPr lang="en-GB" sz="1200" dirty="0"/>
                        <a:t> information.</a:t>
                      </a:r>
                      <a:endParaRPr lang="en-US" sz="1200" dirty="0"/>
                    </a:p>
                  </a:txBody>
                  <a:tcPr/>
                </a:tc>
                <a:tc>
                  <a:txBody>
                    <a:bodyPr/>
                    <a:lstStyle/>
                    <a:p>
                      <a:r>
                        <a:rPr lang="en-US" sz="1200" dirty="0"/>
                        <a:t>Supports the security motivation of</a:t>
                      </a:r>
                    </a:p>
                    <a:p>
                      <a:r>
                        <a:rPr lang="en-US" sz="1200" dirty="0"/>
                        <a:t>the project: projected visual embed-</a:t>
                      </a:r>
                    </a:p>
                    <a:p>
                      <a:r>
                        <a:rPr lang="en-US" sz="1200" dirty="0"/>
                        <a:t>dings should not automatically be</a:t>
                      </a:r>
                    </a:p>
                    <a:p>
                      <a:r>
                        <a:rPr lang="en-US" sz="1200" dirty="0"/>
                        <a:t>treated as non-sensitive data, even</a:t>
                      </a:r>
                    </a:p>
                    <a:p>
                      <a:r>
                        <a:rPr lang="en-US" sz="1200" dirty="0"/>
                        <a:t>when raw images are not directly</a:t>
                      </a:r>
                    </a:p>
                    <a:p>
                      <a:r>
                        <a:rPr lang="en-US" sz="1200" dirty="0"/>
                        <a:t>transmitted.</a:t>
                      </a:r>
                    </a:p>
                  </a:txBody>
                  <a:tcPr/>
                </a:tc>
                <a:extLst>
                  <a:ext uri="{0D108BD9-81ED-4DB2-BD59-A6C34878D82A}">
                    <a16:rowId xmlns:a16="http://schemas.microsoft.com/office/drawing/2014/main" val="1190549666"/>
                  </a:ext>
                </a:extLst>
              </a:tr>
              <a:tr h="370840">
                <a:tc>
                  <a:txBody>
                    <a:bodyPr/>
                    <a:lstStyle/>
                    <a:p>
                      <a:r>
                        <a:rPr lang="en-US" sz="1200" dirty="0"/>
                        <a:t>Privacy-Preserving and</a:t>
                      </a:r>
                    </a:p>
                    <a:p>
                      <a:r>
                        <a:rPr lang="en-US" sz="1200" dirty="0"/>
                        <a:t>Secure Inference Methods</a:t>
                      </a:r>
                      <a:r>
                        <a:rPr lang="zh-CN" altLang="en-US" sz="1200" dirty="0"/>
                        <a:t> </a:t>
                      </a:r>
                      <a:r>
                        <a:rPr lang="en-US" altLang="zh-CN" sz="1200" dirty="0"/>
                        <a:t>(signal</a:t>
                      </a:r>
                      <a:r>
                        <a:rPr lang="zh-CN" altLang="en-US" sz="1200" dirty="0"/>
                        <a:t> </a:t>
                      </a:r>
                      <a:r>
                        <a:rPr lang="en-US" altLang="zh-CN" sz="1200" dirty="0"/>
                        <a:t>Methods)</a:t>
                      </a:r>
                      <a:endParaRPr lang="en-US" sz="1200" dirty="0"/>
                    </a:p>
                  </a:txBody>
                  <a:tcPr/>
                </a:tc>
                <a:tc>
                  <a:txBody>
                    <a:bodyPr/>
                    <a:lstStyle/>
                    <a:p>
                      <a:r>
                        <a:rPr lang="en-US" sz="1200" dirty="0"/>
                        <a:t>Federated Learning </a:t>
                      </a:r>
                      <a:r>
                        <a:rPr lang="en-US" sz="1200" dirty="0" err="1"/>
                        <a:t>FedAGRU</a:t>
                      </a:r>
                      <a:r>
                        <a:rPr lang="en-US" sz="1200" dirty="0"/>
                        <a:t>;</a:t>
                      </a:r>
                    </a:p>
                    <a:p>
                      <a:r>
                        <a:rPr lang="en-US" sz="1200" dirty="0"/>
                        <a:t>client selection; </a:t>
                      </a:r>
                    </a:p>
                    <a:p>
                      <a:r>
                        <a:rPr lang="en-US" sz="1200" dirty="0"/>
                        <a:t>Homomorphic</a:t>
                      </a:r>
                      <a:r>
                        <a:rPr lang="zh-CN" altLang="en-US" sz="1200" dirty="0"/>
                        <a:t> </a:t>
                      </a:r>
                      <a:r>
                        <a:rPr lang="en-US" sz="1200" dirty="0"/>
                        <a:t>Encryption</a:t>
                      </a:r>
                      <a:r>
                        <a:rPr lang="en-US" altLang="zh-CN" sz="1200" dirty="0"/>
                        <a:t>:</a:t>
                      </a:r>
                      <a:r>
                        <a:rPr lang="zh-CN" altLang="en-US" sz="1200" dirty="0"/>
                        <a:t> </a:t>
                      </a:r>
                      <a:r>
                        <a:rPr lang="en-GB" altLang="zh-CN" sz="1200" dirty="0"/>
                        <a:t>ENCRYPTION-FRIENDLY LLM ARCHITECTURE</a:t>
                      </a:r>
                    </a:p>
                    <a:p>
                      <a:endParaRPr lang="en-GB" sz="1200" dirty="0"/>
                    </a:p>
                    <a:p>
                      <a:r>
                        <a:rPr lang="en-US" sz="1200" dirty="0"/>
                        <a:t>Differential Privacy;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FL mainly protects training data by keeping it on</a:t>
                      </a:r>
                      <a:r>
                        <a:rPr lang="zh-CN" altLang="en-US" sz="1200" dirty="0"/>
                        <a:t> </a:t>
                      </a:r>
                      <a:r>
                        <a:rPr lang="en-US" sz="1200" dirty="0"/>
                        <a:t>local clients, while HE enables encrypted computation at substantial computational cost.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DP provides</a:t>
                      </a:r>
                      <a:r>
                        <a:rPr lang="zh-CN" altLang="en-US" sz="1200" dirty="0"/>
                        <a:t> </a:t>
                      </a:r>
                      <a:r>
                        <a:rPr lang="en-US" sz="1200" dirty="0"/>
                        <a:t>formal privacy guarantees through controlled noise</a:t>
                      </a:r>
                      <a:r>
                        <a:rPr lang="zh-CN" altLang="en-US" sz="1200" dirty="0"/>
                        <a:t> </a:t>
                      </a:r>
                      <a:r>
                        <a:rPr lang="en-US" sz="1200" dirty="0"/>
                        <a:t>addition, which may reduce utility.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r>
                        <a:rPr lang="en-US" sz="1200" dirty="0"/>
                        <a:t>Directly informs the proposed system, which evaluates protected embedding transmission and hardware-backed protection for cloud-side processing.</a:t>
                      </a:r>
                    </a:p>
                  </a:txBody>
                  <a:tcPr/>
                </a:tc>
                <a:extLst>
                  <a:ext uri="{0D108BD9-81ED-4DB2-BD59-A6C34878D82A}">
                    <a16:rowId xmlns:a16="http://schemas.microsoft.com/office/drawing/2014/main" val="4134217948"/>
                  </a:ext>
                </a:extLst>
              </a:tr>
            </a:tbl>
          </a:graphicData>
        </a:graphic>
      </p:graphicFrame>
    </p:spTree>
    <p:extLst>
      <p:ext uri="{BB962C8B-B14F-4D97-AF65-F5344CB8AC3E}">
        <p14:creationId xmlns:p14="http://schemas.microsoft.com/office/powerpoint/2010/main" val="2193795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BEE76-FBDB-F416-189B-4C974F3D3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BBF97-492F-15A3-4FE4-A6FD40273145}"/>
              </a:ext>
            </a:extLst>
          </p:cNvPr>
          <p:cNvSpPr>
            <a:spLocks noGrp="1"/>
          </p:cNvSpPr>
          <p:nvPr>
            <p:ph type="title"/>
          </p:nvPr>
        </p:nvSpPr>
        <p:spPr>
          <a:xfrm>
            <a:off x="838200" y="-113846"/>
            <a:ext cx="10515600" cy="1325563"/>
          </a:xfrm>
        </p:spPr>
        <p:txBody>
          <a:bodyPr/>
          <a:lstStyle/>
          <a:p>
            <a:r>
              <a:rPr lang="en-US" altLang="zh-CN" dirty="0"/>
              <a:t>Related</a:t>
            </a:r>
            <a:r>
              <a:rPr lang="zh-CN" altLang="en-US" dirty="0"/>
              <a:t> </a:t>
            </a:r>
            <a:r>
              <a:rPr lang="en-US" altLang="zh-CN" dirty="0"/>
              <a:t>work</a:t>
            </a:r>
            <a:r>
              <a:rPr lang="zh-CN" altLang="en-US" dirty="0"/>
              <a:t> </a:t>
            </a:r>
            <a:r>
              <a:rPr lang="en-US" altLang="zh-CN" dirty="0"/>
              <a:t>-</a:t>
            </a:r>
            <a:r>
              <a:rPr lang="zh-CN" altLang="en-US" dirty="0"/>
              <a:t> </a:t>
            </a:r>
            <a:r>
              <a:rPr lang="en-US" altLang="zh-CN" dirty="0"/>
              <a:t>4</a:t>
            </a:r>
            <a:endParaRPr lang="en-US" dirty="0"/>
          </a:p>
        </p:txBody>
      </p:sp>
      <p:graphicFrame>
        <p:nvGraphicFramePr>
          <p:cNvPr id="10" name="Content Placeholder 9">
            <a:extLst>
              <a:ext uri="{FF2B5EF4-FFF2-40B4-BE49-F238E27FC236}">
                <a16:creationId xmlns:a16="http://schemas.microsoft.com/office/drawing/2014/main" id="{8584577C-DA11-81F2-4273-1F74575E0F60}"/>
              </a:ext>
            </a:extLst>
          </p:cNvPr>
          <p:cNvGraphicFramePr>
            <a:graphicFrameLocks noGrp="1"/>
          </p:cNvGraphicFramePr>
          <p:nvPr>
            <p:ph idx="1"/>
            <p:extLst>
              <p:ext uri="{D42A27DB-BD31-4B8C-83A1-F6EECF244321}">
                <p14:modId xmlns:p14="http://schemas.microsoft.com/office/powerpoint/2010/main" val="2587519841"/>
              </p:ext>
            </p:extLst>
          </p:nvPr>
        </p:nvGraphicFramePr>
        <p:xfrm>
          <a:off x="838199" y="1825625"/>
          <a:ext cx="10421319" cy="4297680"/>
        </p:xfrm>
        <a:graphic>
          <a:graphicData uri="http://schemas.openxmlformats.org/drawingml/2006/table">
            <a:tbl>
              <a:tblPr firstRow="1" bandRow="1">
                <a:tableStyleId>{5C22544A-7EE6-4342-B048-85BDC9FD1C3A}</a:tableStyleId>
              </a:tblPr>
              <a:tblGrid>
                <a:gridCol w="2222087">
                  <a:extLst>
                    <a:ext uri="{9D8B030D-6E8A-4147-A177-3AD203B41FA5}">
                      <a16:colId xmlns:a16="http://schemas.microsoft.com/office/drawing/2014/main" val="334613793"/>
                    </a:ext>
                  </a:extLst>
                </a:gridCol>
                <a:gridCol w="2345172">
                  <a:extLst>
                    <a:ext uri="{9D8B030D-6E8A-4147-A177-3AD203B41FA5}">
                      <a16:colId xmlns:a16="http://schemas.microsoft.com/office/drawing/2014/main" val="2899099429"/>
                    </a:ext>
                  </a:extLst>
                </a:gridCol>
                <a:gridCol w="3101544">
                  <a:extLst>
                    <a:ext uri="{9D8B030D-6E8A-4147-A177-3AD203B41FA5}">
                      <a16:colId xmlns:a16="http://schemas.microsoft.com/office/drawing/2014/main" val="2893236229"/>
                    </a:ext>
                  </a:extLst>
                </a:gridCol>
                <a:gridCol w="2752516">
                  <a:extLst>
                    <a:ext uri="{9D8B030D-6E8A-4147-A177-3AD203B41FA5}">
                      <a16:colId xmlns:a16="http://schemas.microsoft.com/office/drawing/2014/main" val="1084029218"/>
                    </a:ext>
                  </a:extLst>
                </a:gridCol>
              </a:tblGrid>
              <a:tr h="370840">
                <a:tc>
                  <a:txBody>
                    <a:bodyPr/>
                    <a:lstStyle/>
                    <a:p>
                      <a:r>
                        <a:rPr lang="en-US" dirty="0"/>
                        <a:t>Theme</a:t>
                      </a:r>
                    </a:p>
                  </a:txBody>
                  <a:tcPr/>
                </a:tc>
                <a:tc>
                  <a:txBody>
                    <a:bodyPr/>
                    <a:lstStyle/>
                    <a:p>
                      <a:r>
                        <a:rPr lang="en-US" dirty="0"/>
                        <a:t>Representative Papers</a:t>
                      </a:r>
                    </a:p>
                  </a:txBody>
                  <a:tcPr/>
                </a:tc>
                <a:tc>
                  <a:txBody>
                    <a:bodyPr/>
                    <a:lstStyle/>
                    <a:p>
                      <a:r>
                        <a:rPr lang="en-US" dirty="0"/>
                        <a:t>Main Findings and Limitations</a:t>
                      </a:r>
                    </a:p>
                  </a:txBody>
                  <a:tcPr/>
                </a:tc>
                <a:tc>
                  <a:txBody>
                    <a:bodyPr/>
                    <a:lstStyle/>
                    <a:p>
                      <a:r>
                        <a:rPr lang="en-US" dirty="0"/>
                        <a:t>Relate</a:t>
                      </a:r>
                      <a:r>
                        <a:rPr lang="zh-CN" altLang="en-US" dirty="0"/>
                        <a:t> </a:t>
                      </a:r>
                      <a:r>
                        <a:rPr lang="en-US" altLang="zh-CN" dirty="0"/>
                        <a:t>to</a:t>
                      </a:r>
                      <a:r>
                        <a:rPr lang="zh-CN" altLang="en-US" dirty="0"/>
                        <a:t> </a:t>
                      </a:r>
                      <a:r>
                        <a:rPr lang="en-US" altLang="zh-CN" dirty="0"/>
                        <a:t>topic</a:t>
                      </a:r>
                      <a:endParaRPr lang="en-US" dirty="0"/>
                    </a:p>
                  </a:txBody>
                  <a:tcPr/>
                </a:tc>
                <a:extLst>
                  <a:ext uri="{0D108BD9-81ED-4DB2-BD59-A6C34878D82A}">
                    <a16:rowId xmlns:a16="http://schemas.microsoft.com/office/drawing/2014/main" val="593024618"/>
                  </a:ext>
                </a:extLst>
              </a:tr>
              <a:tr h="370840">
                <a:tc>
                  <a:txBody>
                    <a:bodyPr/>
                    <a:lstStyle/>
                    <a:p>
                      <a:r>
                        <a:rPr lang="en-US" sz="1200" dirty="0"/>
                        <a:t>Privacy-Preserving and</a:t>
                      </a:r>
                    </a:p>
                    <a:p>
                      <a:r>
                        <a:rPr lang="en-US" sz="1200" dirty="0"/>
                        <a:t>Secure Inference Methods</a:t>
                      </a:r>
                      <a:r>
                        <a:rPr lang="zh-CN" altLang="en-US" sz="1200" dirty="0"/>
                        <a:t> </a:t>
                      </a:r>
                      <a:r>
                        <a:rPr lang="en-US" altLang="zh-CN" sz="1200" dirty="0"/>
                        <a:t>(Combined</a:t>
                      </a:r>
                      <a:r>
                        <a:rPr lang="zh-CN" altLang="en-US" sz="1200" dirty="0"/>
                        <a:t> </a:t>
                      </a:r>
                      <a:r>
                        <a:rPr lang="en-US" altLang="zh-CN" sz="1200" dirty="0"/>
                        <a:t>Methods)</a:t>
                      </a:r>
                      <a:endParaRPr lang="en-US" sz="1200" dirty="0"/>
                    </a:p>
                  </a:txBody>
                  <a:tcPr/>
                </a:tc>
                <a:tc>
                  <a:txBody>
                    <a:bodyPr/>
                    <a:lstStyle/>
                    <a:p>
                      <a:r>
                        <a:rPr lang="en-US" sz="1200" dirty="0"/>
                        <a:t>Privacy-preserving multimodal</a:t>
                      </a:r>
                    </a:p>
                    <a:p>
                      <a:r>
                        <a:rPr lang="en-US" sz="1200" dirty="0"/>
                        <a:t>retrieva</a:t>
                      </a:r>
                      <a:r>
                        <a:rPr lang="en-US" altLang="zh-CN" sz="1200" dirty="0"/>
                        <a:t>l:</a:t>
                      </a:r>
                      <a:r>
                        <a:rPr lang="zh-CN" altLang="en-US" sz="1200" dirty="0"/>
                        <a:t> </a:t>
                      </a:r>
                      <a:r>
                        <a:rPr lang="en-GB" sz="1200" dirty="0"/>
                        <a:t>PMIRS</a:t>
                      </a:r>
                    </a:p>
                    <a:p>
                      <a:endParaRPr lang="en-GB" sz="1200" dirty="0"/>
                    </a:p>
                    <a:p>
                      <a:endParaRPr lang="en-GB" sz="1200" dirty="0"/>
                    </a:p>
                    <a:p>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Combined multimodal designs can use FL</a:t>
                      </a:r>
                      <a:r>
                        <a:rPr lang="zh-CN" altLang="en-US" sz="1200" dirty="0"/>
                        <a:t>， </a:t>
                      </a:r>
                      <a:r>
                        <a:rPr lang="en-US" sz="1200" dirty="0"/>
                        <a:t>feature obfuscation and</a:t>
                      </a:r>
                      <a:r>
                        <a:rPr lang="zh-CN" altLang="en-US" sz="1200" dirty="0"/>
                        <a:t> </a:t>
                      </a:r>
                      <a:r>
                        <a:rPr lang="en-US" sz="1200" dirty="0"/>
                        <a:t>encryption</a:t>
                      </a:r>
                      <a:r>
                        <a:rPr lang="zh-CN" altLang="en-US" sz="1200" dirty="0"/>
                        <a:t> </a:t>
                      </a:r>
                      <a:r>
                        <a:rPr lang="en-US" altLang="zh-CN" sz="1200" dirty="0"/>
                        <a:t>method</a:t>
                      </a:r>
                      <a:r>
                        <a:rPr lang="en-US" sz="1200" dirty="0"/>
                        <a:t>, but may focus on</a:t>
                      </a:r>
                      <a:r>
                        <a:rPr lang="zh-CN" altLang="en-US" sz="1200" dirty="0"/>
                        <a:t> </a:t>
                      </a:r>
                      <a:r>
                        <a:rPr lang="en-US" sz="1200" dirty="0"/>
                        <a:t>retrieval or</a:t>
                      </a:r>
                      <a:r>
                        <a:rPr lang="zh-CN" altLang="en-US" sz="1200" dirty="0"/>
                        <a:t> </a:t>
                      </a:r>
                      <a:r>
                        <a:rPr lang="en-US" sz="1200" dirty="0"/>
                        <a:t>training rather than online VLM</a:t>
                      </a:r>
                      <a:r>
                        <a:rPr lang="zh-CN" altLang="en-US" sz="1200" dirty="0"/>
                        <a:t> </a:t>
                      </a:r>
                      <a:r>
                        <a:rPr lang="en-US" sz="1200" dirty="0"/>
                        <a:t>inference.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GB" sz="1200" dirty="0"/>
                        <a:t>Main idea: federated learning is used to train or fine-tune a shared global model, while split learning divides the model between edge devices and the cloud during inference.</a:t>
                      </a:r>
                    </a:p>
                  </a:txBody>
                  <a:tcPr/>
                </a:tc>
                <a:tc>
                  <a:txBody>
                    <a:bodyPr/>
                    <a:lstStyle/>
                    <a:p>
                      <a:r>
                        <a:rPr lang="en-US" sz="1200" dirty="0"/>
                        <a:t>Supports the security motivation of</a:t>
                      </a:r>
                    </a:p>
                    <a:p>
                      <a:r>
                        <a:rPr lang="en-US" sz="1200" dirty="0"/>
                        <a:t>the project: projected </a:t>
                      </a:r>
                      <a:r>
                        <a:rPr lang="en-US" sz="1200"/>
                        <a:t>visual embeddings </a:t>
                      </a:r>
                      <a:r>
                        <a:rPr lang="en-US" sz="1200" dirty="0"/>
                        <a:t>should not automatically be</a:t>
                      </a:r>
                    </a:p>
                    <a:p>
                      <a:r>
                        <a:rPr lang="en-US" sz="1200" dirty="0"/>
                        <a:t>treated as non-sensitive data, even</a:t>
                      </a:r>
                    </a:p>
                    <a:p>
                      <a:r>
                        <a:rPr lang="en-US" sz="1200" dirty="0"/>
                        <a:t>when raw images are not directly</a:t>
                      </a:r>
                    </a:p>
                    <a:p>
                      <a:r>
                        <a:rPr lang="en-US" sz="1200" dirty="0"/>
                        <a:t>transmitted.</a:t>
                      </a:r>
                    </a:p>
                  </a:txBody>
                  <a:tcPr/>
                </a:tc>
                <a:extLst>
                  <a:ext uri="{0D108BD9-81ED-4DB2-BD59-A6C34878D82A}">
                    <a16:rowId xmlns:a16="http://schemas.microsoft.com/office/drawing/2014/main" val="1190549666"/>
                  </a:ext>
                </a:extLst>
              </a:tr>
              <a:tr h="370840">
                <a:tc>
                  <a:txBody>
                    <a:bodyPr/>
                    <a:lstStyle/>
                    <a:p>
                      <a:r>
                        <a:rPr lang="en-US" sz="1200" dirty="0"/>
                        <a:t>Secure Transport and Protected Cloud Execution</a:t>
                      </a:r>
                    </a:p>
                  </a:txBody>
                  <a:tcPr/>
                </a:tc>
                <a:tc>
                  <a:txBody>
                    <a:bodyPr/>
                    <a:lstStyle/>
                    <a:p>
                      <a:r>
                        <a:rPr lang="en-US" sz="1200" dirty="0"/>
                        <a:t>ChaCha20-Poly1305; confidential computing: </a:t>
                      </a:r>
                      <a:r>
                        <a:rPr lang="en-US" sz="1200" dirty="0" err="1"/>
                        <a:t>SecMdp</a:t>
                      </a:r>
                      <a:r>
                        <a:rPr lang="en-US" sz="1200" dirty="0"/>
                        <a:t>, </a:t>
                      </a:r>
                      <a:r>
                        <a:rPr lang="en-US" sz="1200" dirty="0" err="1"/>
                        <a:t>DarkneTZ</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Authenticated encryption can protect embedding</a:t>
                      </a:r>
                      <a:r>
                        <a:rPr lang="zh-CN" altLang="en-US" sz="1200" dirty="0"/>
                        <a:t> </a:t>
                      </a:r>
                      <a:r>
                        <a:rPr lang="en-US" sz="1200" dirty="0"/>
                        <a:t>confidentiality and integrity during network transmission. Trusted execution environments can isolate selected data and model components during execution. However, protected execution introduces deployment, compatibility, and runtime-overhead considerations</a:t>
                      </a:r>
                    </a:p>
                  </a:txBody>
                  <a:tcPr/>
                </a:tc>
                <a:tc>
                  <a:txBody>
                    <a:bodyPr/>
                    <a:lstStyle/>
                    <a:p>
                      <a:r>
                        <a:rPr lang="en-US" sz="1200" dirty="0"/>
                        <a:t>Directly informs the proposed system, which evaluates protected embedding transmission and hardware-backed protection for cloud-side processing.</a:t>
                      </a:r>
                    </a:p>
                  </a:txBody>
                  <a:tcPr/>
                </a:tc>
                <a:extLst>
                  <a:ext uri="{0D108BD9-81ED-4DB2-BD59-A6C34878D82A}">
                    <a16:rowId xmlns:a16="http://schemas.microsoft.com/office/drawing/2014/main" val="4134217948"/>
                  </a:ext>
                </a:extLst>
              </a:tr>
            </a:tbl>
          </a:graphicData>
        </a:graphic>
      </p:graphicFrame>
    </p:spTree>
    <p:extLst>
      <p:ext uri="{BB962C8B-B14F-4D97-AF65-F5344CB8AC3E}">
        <p14:creationId xmlns:p14="http://schemas.microsoft.com/office/powerpoint/2010/main" val="2397392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F2E3-35C1-E8F3-4BCE-00822C4B620A}"/>
              </a:ext>
            </a:extLst>
          </p:cNvPr>
          <p:cNvSpPr>
            <a:spLocks noGrp="1"/>
          </p:cNvSpPr>
          <p:nvPr>
            <p:ph type="title"/>
          </p:nvPr>
        </p:nvSpPr>
        <p:spPr>
          <a:xfrm>
            <a:off x="838200" y="0"/>
            <a:ext cx="10515600" cy="1325563"/>
          </a:xfrm>
        </p:spPr>
        <p:txBody>
          <a:bodyPr/>
          <a:lstStyle/>
          <a:p>
            <a:r>
              <a:rPr lang="en-US" dirty="0"/>
              <a:t>Threat</a:t>
            </a:r>
            <a:r>
              <a:rPr lang="zh-CN" altLang="en-US" dirty="0"/>
              <a:t> </a:t>
            </a:r>
            <a:r>
              <a:rPr lang="en-US" altLang="zh-CN" dirty="0"/>
              <a:t>Model</a:t>
            </a:r>
            <a:endParaRPr lang="en-US" dirty="0"/>
          </a:p>
        </p:txBody>
      </p:sp>
      <p:sp>
        <p:nvSpPr>
          <p:cNvPr id="3" name="Content Placeholder 2">
            <a:extLst>
              <a:ext uri="{FF2B5EF4-FFF2-40B4-BE49-F238E27FC236}">
                <a16:creationId xmlns:a16="http://schemas.microsoft.com/office/drawing/2014/main" id="{9AAE8A98-549D-53AF-021A-D36A2EC758C3}"/>
              </a:ext>
            </a:extLst>
          </p:cNvPr>
          <p:cNvSpPr>
            <a:spLocks noGrp="1"/>
          </p:cNvSpPr>
          <p:nvPr>
            <p:ph idx="1"/>
          </p:nvPr>
        </p:nvSpPr>
        <p:spPr>
          <a:xfrm>
            <a:off x="838200" y="1325563"/>
            <a:ext cx="4792038" cy="4351338"/>
          </a:xfrm>
        </p:spPr>
        <p:txBody>
          <a:bodyPr>
            <a:normAutofit fontScale="70000" lnSpcReduction="20000"/>
          </a:bodyPr>
          <a:lstStyle/>
          <a:p>
            <a:pPr marL="0" indent="0">
              <a:buNone/>
            </a:pPr>
            <a:r>
              <a:rPr lang="en-GB" b="1" dirty="0"/>
              <a:t>Trusted and untrusted components</a:t>
            </a:r>
            <a:endParaRPr lang="en-US" dirty="0"/>
          </a:p>
          <a:p>
            <a:r>
              <a:rPr lang="en-US" b="1" dirty="0"/>
              <a:t>Trusted:</a:t>
            </a:r>
          </a:p>
          <a:p>
            <a:pPr lvl="1"/>
            <a:r>
              <a:rPr lang="en-US" dirty="0"/>
              <a:t>Edge device and its local VLM visual encoder/projector</a:t>
            </a:r>
          </a:p>
          <a:p>
            <a:pPr lvl="1"/>
            <a:r>
              <a:rPr lang="en-US" dirty="0"/>
              <a:t>Input image before transmission</a:t>
            </a:r>
          </a:p>
          <a:p>
            <a:pPr lvl="1"/>
            <a:r>
              <a:rPr lang="en-US" dirty="0"/>
              <a:t>Cryptographic implementation</a:t>
            </a:r>
          </a:p>
          <a:p>
            <a:pPr lvl="1"/>
            <a:r>
              <a:rPr lang="en-US" dirty="0"/>
              <a:t>Trusted execution environment used for cloud-side decoding</a:t>
            </a:r>
          </a:p>
          <a:p>
            <a:r>
              <a:rPr lang="en-US" b="1" dirty="0"/>
              <a:t>Potentially untrusted:</a:t>
            </a:r>
          </a:p>
          <a:p>
            <a:pPr lvl="1"/>
            <a:r>
              <a:rPr lang="en-US" dirty="0"/>
              <a:t>Public network between edge and cloud</a:t>
            </a:r>
          </a:p>
          <a:p>
            <a:pPr lvl="1"/>
            <a:r>
              <a:rPr lang="en-US" dirty="0"/>
              <a:t>Cloud operating system, hypervisor, and infrastructure administrator</a:t>
            </a:r>
          </a:p>
          <a:p>
            <a:pPr lvl="1"/>
            <a:r>
              <a:rPr lang="en-US" dirty="0"/>
              <a:t>External attacker able to observe or interfere with network traffic</a:t>
            </a:r>
          </a:p>
          <a:p>
            <a:pPr marL="457200" lvl="1" indent="0">
              <a:buNone/>
            </a:pPr>
            <a:r>
              <a:rPr lang="en-GB" b="1" dirty="0"/>
              <a:t>LLM decoder is trusted only when it runs inside the confidential-computing environment</a:t>
            </a:r>
            <a:r>
              <a:rPr lang="en-GB" dirty="0"/>
              <a:t>.</a:t>
            </a:r>
            <a:endParaRPr lang="en-US" dirty="0"/>
          </a:p>
        </p:txBody>
      </p:sp>
      <p:sp>
        <p:nvSpPr>
          <p:cNvPr id="5" name="Content Placeholder 2">
            <a:extLst>
              <a:ext uri="{FF2B5EF4-FFF2-40B4-BE49-F238E27FC236}">
                <a16:creationId xmlns:a16="http://schemas.microsoft.com/office/drawing/2014/main" id="{E1F2CC37-57C3-C460-C13B-BAE5121F38F4}"/>
              </a:ext>
            </a:extLst>
          </p:cNvPr>
          <p:cNvSpPr txBox="1">
            <a:spLocks/>
          </p:cNvSpPr>
          <p:nvPr/>
        </p:nvSpPr>
        <p:spPr>
          <a:xfrm>
            <a:off x="6374258" y="1325563"/>
            <a:ext cx="4792038" cy="41128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600" b="1" dirty="0"/>
              <a:t>Main attacker</a:t>
            </a:r>
            <a:endParaRPr lang="en-US" sz="2600" b="1" dirty="0"/>
          </a:p>
          <a:p>
            <a:r>
              <a:rPr lang="en-US" altLang="zh-CN" sz="2600" b="1" dirty="0"/>
              <a:t>A</a:t>
            </a:r>
            <a:r>
              <a:rPr lang="en-GB" sz="2600" b="1" dirty="0"/>
              <a:t>n active network attacker</a:t>
            </a:r>
          </a:p>
          <a:p>
            <a:pPr lvl="1"/>
            <a:r>
              <a:rPr lang="en-GB" dirty="0"/>
              <a:t>eavesdrop on embedding packets</a:t>
            </a:r>
            <a:r>
              <a:rPr lang="zh-CN" altLang="en-US" dirty="0"/>
              <a:t> </a:t>
            </a:r>
            <a:r>
              <a:rPr lang="en-US" altLang="zh-CN" dirty="0"/>
              <a:t>(</a:t>
            </a:r>
            <a:r>
              <a:rPr lang="en-GB" dirty="0"/>
              <a:t>Confidentiality</a:t>
            </a:r>
            <a:r>
              <a:rPr lang="en-US" altLang="zh-CN" dirty="0"/>
              <a:t>)</a:t>
            </a:r>
            <a:endParaRPr lang="en-GB" dirty="0"/>
          </a:p>
          <a:p>
            <a:pPr lvl="1"/>
            <a:r>
              <a:rPr lang="en-GB" dirty="0"/>
              <a:t>modify, drop, delay, replay, or inject packets; </a:t>
            </a:r>
            <a:r>
              <a:rPr lang="en-US" altLang="zh-CN" dirty="0"/>
              <a:t>(</a:t>
            </a:r>
            <a:r>
              <a:rPr lang="en-GB" dirty="0"/>
              <a:t>Integrity</a:t>
            </a:r>
            <a:r>
              <a:rPr lang="en-US" altLang="zh-CN" dirty="0"/>
              <a:t>)</a:t>
            </a:r>
            <a:endParaRPr lang="en-GB" dirty="0"/>
          </a:p>
          <a:p>
            <a:pPr lvl="1"/>
            <a:r>
              <a:rPr lang="en-GB" dirty="0"/>
              <a:t>attempt a man-in-the-middle attack; </a:t>
            </a:r>
            <a:r>
              <a:rPr lang="en-US" altLang="zh-CN" dirty="0"/>
              <a:t>(</a:t>
            </a:r>
            <a:r>
              <a:rPr lang="en-GB" dirty="0"/>
              <a:t>Confidentiality</a:t>
            </a:r>
            <a:r>
              <a:rPr lang="en-US" altLang="zh-CN" dirty="0"/>
              <a:t>,</a:t>
            </a:r>
            <a:r>
              <a:rPr lang="zh-CN" altLang="en-US" dirty="0"/>
              <a:t> </a:t>
            </a:r>
            <a:r>
              <a:rPr lang="en-US" altLang="zh-CN" dirty="0"/>
              <a:t>Integrity)</a:t>
            </a:r>
            <a:endParaRPr lang="en-GB" dirty="0"/>
          </a:p>
          <a:p>
            <a:pPr lvl="1"/>
            <a:r>
              <a:rPr lang="en-GB" dirty="0"/>
              <a:t>impersonate the edge or cloud endpoint if authentication is absent.</a:t>
            </a:r>
          </a:p>
          <a:p>
            <a:r>
              <a:rPr lang="en-US" altLang="zh-CN" sz="2900" b="1" dirty="0"/>
              <a:t>A</a:t>
            </a:r>
            <a:r>
              <a:rPr lang="en-GB" sz="2900" b="1" dirty="0"/>
              <a:t> privileged cloud-side attacker</a:t>
            </a:r>
          </a:p>
          <a:p>
            <a:pPr lvl="1"/>
            <a:r>
              <a:rPr lang="en-GB" dirty="0"/>
              <a:t>compromised host OS tries to read process memory</a:t>
            </a:r>
            <a:r>
              <a:rPr lang="en-US" altLang="zh-CN" dirty="0"/>
              <a:t>.</a:t>
            </a:r>
          </a:p>
          <a:p>
            <a:pPr lvl="1"/>
            <a:r>
              <a:rPr lang="en-GB" dirty="0"/>
              <a:t>Process debugging </a:t>
            </a:r>
            <a:r>
              <a:rPr lang="en-US" altLang="zh-CN" dirty="0"/>
              <a:t>or</a:t>
            </a:r>
            <a:r>
              <a:rPr lang="en-GB" dirty="0"/>
              <a:t> injection</a:t>
            </a:r>
          </a:p>
          <a:p>
            <a:pPr lvl="1"/>
            <a:r>
              <a:rPr lang="en-GB" dirty="0"/>
              <a:t>Logging leakage</a:t>
            </a:r>
          </a:p>
          <a:p>
            <a:pPr lvl="1"/>
            <a:r>
              <a:rPr lang="en-GB" dirty="0"/>
              <a:t>Storage leakage</a:t>
            </a:r>
            <a:endParaRPr lang="en-US" dirty="0"/>
          </a:p>
        </p:txBody>
      </p:sp>
      <p:sp>
        <p:nvSpPr>
          <p:cNvPr id="6" name="Content Placeholder 2">
            <a:extLst>
              <a:ext uri="{FF2B5EF4-FFF2-40B4-BE49-F238E27FC236}">
                <a16:creationId xmlns:a16="http://schemas.microsoft.com/office/drawing/2014/main" id="{1317F66F-F524-94AA-15D5-B44DC8A41F54}"/>
              </a:ext>
            </a:extLst>
          </p:cNvPr>
          <p:cNvSpPr txBox="1">
            <a:spLocks/>
          </p:cNvSpPr>
          <p:nvPr/>
        </p:nvSpPr>
        <p:spPr>
          <a:xfrm>
            <a:off x="838199" y="5438401"/>
            <a:ext cx="10596937" cy="132556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Out</a:t>
            </a:r>
            <a:r>
              <a:rPr lang="zh-CN" altLang="en-US" b="1" dirty="0"/>
              <a:t> </a:t>
            </a:r>
            <a:r>
              <a:rPr lang="en-US" altLang="zh-CN" b="1" dirty="0"/>
              <a:t>of</a:t>
            </a:r>
            <a:r>
              <a:rPr lang="zh-CN" altLang="en-US" b="1" dirty="0"/>
              <a:t> </a:t>
            </a:r>
            <a:r>
              <a:rPr lang="en-US" altLang="zh-CN" b="1" dirty="0"/>
              <a:t>scope:</a:t>
            </a:r>
          </a:p>
          <a:p>
            <a:pPr marL="0" indent="0">
              <a:buNone/>
            </a:pPr>
            <a:r>
              <a:rPr lang="en-GB" dirty="0"/>
              <a:t>Hardware vulnerabilities, TEE side-channel attacks, physical attacks, denial-of-service attacks</a:t>
            </a:r>
          </a:p>
          <a:p>
            <a:pPr marL="0" indent="0">
              <a:buNone/>
            </a:pPr>
            <a:r>
              <a:rPr lang="en-GB" dirty="0"/>
              <a:t>Compromise of the edge device</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3357630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04C8C-CFC1-3A57-E942-7158372B98BD}"/>
              </a:ext>
            </a:extLst>
          </p:cNvPr>
          <p:cNvSpPr>
            <a:spLocks noGrp="1"/>
          </p:cNvSpPr>
          <p:nvPr>
            <p:ph type="title"/>
          </p:nvPr>
        </p:nvSpPr>
        <p:spPr/>
        <p:txBody>
          <a:bodyPr/>
          <a:lstStyle/>
          <a:p>
            <a:r>
              <a:rPr lang="en-US" dirty="0"/>
              <a:t>METHODOLOGY</a:t>
            </a:r>
          </a:p>
        </p:txBody>
      </p:sp>
      <p:pic>
        <p:nvPicPr>
          <p:cNvPr id="6" name="Content Placeholder 5">
            <a:extLst>
              <a:ext uri="{FF2B5EF4-FFF2-40B4-BE49-F238E27FC236}">
                <a16:creationId xmlns:a16="http://schemas.microsoft.com/office/drawing/2014/main" id="{D503E789-0E6C-5B3F-A111-0DA22162E5E7}"/>
              </a:ext>
            </a:extLst>
          </p:cNvPr>
          <p:cNvPicPr>
            <a:picLocks noGrp="1" noChangeAspect="1"/>
          </p:cNvPicPr>
          <p:nvPr>
            <p:ph idx="1"/>
          </p:nvPr>
        </p:nvPicPr>
        <p:blipFill>
          <a:blip r:embed="rId3"/>
          <a:stretch>
            <a:fillRect/>
          </a:stretch>
        </p:blipFill>
        <p:spPr>
          <a:xfrm>
            <a:off x="5633467" y="1690688"/>
            <a:ext cx="5938802" cy="3508036"/>
          </a:xfrm>
          <a:prstGeom prst="rect">
            <a:avLst/>
          </a:prstGeom>
        </p:spPr>
      </p:pic>
      <p:sp>
        <p:nvSpPr>
          <p:cNvPr id="7" name="TextBox 6">
            <a:extLst>
              <a:ext uri="{FF2B5EF4-FFF2-40B4-BE49-F238E27FC236}">
                <a16:creationId xmlns:a16="http://schemas.microsoft.com/office/drawing/2014/main" id="{2C277453-62C5-D513-A72C-ECC353F60FEC}"/>
              </a:ext>
            </a:extLst>
          </p:cNvPr>
          <p:cNvSpPr txBox="1"/>
          <p:nvPr/>
        </p:nvSpPr>
        <p:spPr>
          <a:xfrm>
            <a:off x="678094" y="1520575"/>
            <a:ext cx="4736904" cy="4801314"/>
          </a:xfrm>
          <a:prstGeom prst="rect">
            <a:avLst/>
          </a:prstGeom>
          <a:noFill/>
        </p:spPr>
        <p:txBody>
          <a:bodyPr wrap="square" rtlCol="0">
            <a:spAutoFit/>
          </a:bodyPr>
          <a:lstStyle/>
          <a:p>
            <a:pPr marL="285750" indent="-285750">
              <a:buFont typeface="Arial" panose="020B0604020202020204" pitchFamily="34" charset="0"/>
              <a:buChar char="•"/>
            </a:pPr>
            <a:r>
              <a:rPr lang="en-GB" dirty="0"/>
              <a:t>The design is informed by distributed VLM architectures, secure edge-cloud communication, and confidential computing.</a:t>
            </a:r>
          </a:p>
          <a:p>
            <a:pPr marL="285750" indent="-285750">
              <a:buFont typeface="Arial" panose="020B0604020202020204" pitchFamily="34" charset="0"/>
              <a:buChar char="•"/>
            </a:pPr>
            <a:r>
              <a:rPr lang="en-GB" dirty="0"/>
              <a:t>The system uses </a:t>
            </a:r>
            <a:r>
              <a:rPr lang="en-GB" b="1" dirty="0"/>
              <a:t>an edge-cloud split-inference pipeline </a:t>
            </a:r>
            <a:r>
              <a:rPr lang="en-GB" dirty="0"/>
              <a:t>for VLM inference. </a:t>
            </a:r>
          </a:p>
          <a:p>
            <a:pPr marL="285750" indent="-285750">
              <a:buFont typeface="Arial" panose="020B0604020202020204" pitchFamily="34" charset="0"/>
              <a:buChar char="•"/>
            </a:pPr>
            <a:r>
              <a:rPr lang="en-GB" dirty="0"/>
              <a:t>The edge device processes the input image using the </a:t>
            </a:r>
            <a:r>
              <a:rPr lang="en-GB" b="1" dirty="0"/>
              <a:t>visual encoder</a:t>
            </a:r>
            <a:r>
              <a:rPr lang="en-GB" dirty="0"/>
              <a:t> and </a:t>
            </a:r>
            <a:r>
              <a:rPr lang="en-GB" b="1" dirty="0"/>
              <a:t>projection module</a:t>
            </a:r>
            <a:r>
              <a:rPr lang="en-GB" dirty="0"/>
              <a:t>. </a:t>
            </a:r>
          </a:p>
          <a:p>
            <a:pPr marL="285750" indent="-285750">
              <a:buFont typeface="Arial" panose="020B0604020202020204" pitchFamily="34" charset="0"/>
              <a:buChar char="•"/>
            </a:pPr>
            <a:r>
              <a:rPr lang="en-GB" dirty="0"/>
              <a:t>The resulting intermediate visual embeddings are </a:t>
            </a:r>
            <a:r>
              <a:rPr lang="en-GB" b="1" dirty="0"/>
              <a:t>serialised and securely transmitted</a:t>
            </a:r>
            <a:r>
              <a:rPr lang="en-GB" dirty="0"/>
              <a:t> to the cloud. </a:t>
            </a:r>
          </a:p>
          <a:p>
            <a:pPr marL="285750" indent="-285750">
              <a:buFont typeface="Arial" panose="020B0604020202020204" pitchFamily="34" charset="0"/>
              <a:buChar char="•"/>
            </a:pPr>
            <a:r>
              <a:rPr lang="en-GB" dirty="0"/>
              <a:t>The cloud combines the received embeddings with the processed text prompt to form the multimodal input. The </a:t>
            </a:r>
            <a:r>
              <a:rPr lang="en-GB" b="1" dirty="0"/>
              <a:t>LLM decoder</a:t>
            </a:r>
            <a:r>
              <a:rPr lang="en-GB" dirty="0"/>
              <a:t> generates the final text output inside a trusted</a:t>
            </a:r>
            <a:r>
              <a:rPr lang="zh-CN" altLang="en-US" dirty="0"/>
              <a:t> </a:t>
            </a:r>
            <a:r>
              <a:rPr lang="en-GB" dirty="0"/>
              <a:t>environment. </a:t>
            </a:r>
          </a:p>
        </p:txBody>
      </p:sp>
    </p:spTree>
    <p:extLst>
      <p:ext uri="{BB962C8B-B14F-4D97-AF65-F5344CB8AC3E}">
        <p14:creationId xmlns:p14="http://schemas.microsoft.com/office/powerpoint/2010/main" val="290400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99970-B548-4FC9-4864-87AF3013B714}"/>
            </a:ext>
          </a:extLst>
        </p:cNvPr>
        <p:cNvGrpSpPr/>
        <p:nvPr/>
      </p:nvGrpSpPr>
      <p:grpSpPr>
        <a:xfrm>
          <a:off x="0" y="0"/>
          <a:ext cx="0" cy="0"/>
          <a:chOff x="0" y="0"/>
          <a:chExt cx="0" cy="0"/>
        </a:xfrm>
      </p:grpSpPr>
      <p:sp>
        <p:nvSpPr>
          <p:cNvPr id="29" name="Rounded Rectangle 28">
            <a:extLst>
              <a:ext uri="{FF2B5EF4-FFF2-40B4-BE49-F238E27FC236}">
                <a16:creationId xmlns:a16="http://schemas.microsoft.com/office/drawing/2014/main" id="{494FA997-2D10-E415-416A-76FAE0307F92}"/>
              </a:ext>
            </a:extLst>
          </p:cNvPr>
          <p:cNvSpPr/>
          <p:nvPr/>
        </p:nvSpPr>
        <p:spPr>
          <a:xfrm>
            <a:off x="8379050" y="1002963"/>
            <a:ext cx="3057690" cy="5518417"/>
          </a:xfrm>
          <a:prstGeom prst="roundRect">
            <a:avLst>
              <a:gd name="adj" fmla="val 1566"/>
            </a:avLst>
          </a:prstGeom>
          <a:solidFill>
            <a:schemeClr val="accent6">
              <a:lumMod val="40000"/>
              <a:lumOff val="6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a:solidFill>
                  <a:schemeClr val="tx1"/>
                </a:solidFill>
              </a:rPr>
              <a:t>Trusted Execution Environment</a:t>
            </a:r>
          </a:p>
        </p:txBody>
      </p:sp>
      <p:sp>
        <p:nvSpPr>
          <p:cNvPr id="9" name="Rounded Rectangle 8">
            <a:extLst>
              <a:ext uri="{FF2B5EF4-FFF2-40B4-BE49-F238E27FC236}">
                <a16:creationId xmlns:a16="http://schemas.microsoft.com/office/drawing/2014/main" id="{B7A8941D-0DE7-F132-B4FD-7B0F7263AF29}"/>
              </a:ext>
            </a:extLst>
          </p:cNvPr>
          <p:cNvSpPr/>
          <p:nvPr/>
        </p:nvSpPr>
        <p:spPr>
          <a:xfrm>
            <a:off x="8120743" y="452176"/>
            <a:ext cx="3565489" cy="6182800"/>
          </a:xfrm>
          <a:prstGeom prst="roundRect">
            <a:avLst>
              <a:gd name="adj" fmla="val 1566"/>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Cloud Server</a:t>
            </a:r>
          </a:p>
        </p:txBody>
      </p:sp>
      <p:sp>
        <p:nvSpPr>
          <p:cNvPr id="8" name="Rounded Rectangle 7">
            <a:extLst>
              <a:ext uri="{FF2B5EF4-FFF2-40B4-BE49-F238E27FC236}">
                <a16:creationId xmlns:a16="http://schemas.microsoft.com/office/drawing/2014/main" id="{7AC27DC5-5F28-899C-44FA-33772F71BDF9}"/>
              </a:ext>
            </a:extLst>
          </p:cNvPr>
          <p:cNvSpPr/>
          <p:nvPr/>
        </p:nvSpPr>
        <p:spPr>
          <a:xfrm>
            <a:off x="1426029" y="452176"/>
            <a:ext cx="3341914" cy="6182800"/>
          </a:xfrm>
          <a:prstGeom prst="roundRect">
            <a:avLst>
              <a:gd name="adj" fmla="val 1566"/>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Edge Device</a:t>
            </a:r>
          </a:p>
        </p:txBody>
      </p:sp>
      <p:sp>
        <p:nvSpPr>
          <p:cNvPr id="10" name="Can 9">
            <a:extLst>
              <a:ext uri="{FF2B5EF4-FFF2-40B4-BE49-F238E27FC236}">
                <a16:creationId xmlns:a16="http://schemas.microsoft.com/office/drawing/2014/main" id="{C4DDAB4C-1AE7-1922-F4BC-A65CC78224B1}"/>
              </a:ext>
            </a:extLst>
          </p:cNvPr>
          <p:cNvSpPr/>
          <p:nvPr/>
        </p:nvSpPr>
        <p:spPr>
          <a:xfrm>
            <a:off x="2674101" y="1002963"/>
            <a:ext cx="947057" cy="706479"/>
          </a:xfrm>
          <a:prstGeom prst="can">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Input</a:t>
            </a:r>
            <a:r>
              <a:rPr lang="zh-CN" altLang="en-US" sz="1600"/>
              <a:t> </a:t>
            </a:r>
            <a:r>
              <a:rPr lang="en-US" altLang="zh-CN" sz="1600"/>
              <a:t>Image</a:t>
            </a:r>
            <a:endParaRPr lang="en-US" sz="1600"/>
          </a:p>
        </p:txBody>
      </p:sp>
      <p:sp>
        <p:nvSpPr>
          <p:cNvPr id="11" name="Rounded Rectangle 10">
            <a:extLst>
              <a:ext uri="{FF2B5EF4-FFF2-40B4-BE49-F238E27FC236}">
                <a16:creationId xmlns:a16="http://schemas.microsoft.com/office/drawing/2014/main" id="{C164E22E-05CA-BBCC-AFE8-D3CE758510BC}"/>
              </a:ext>
            </a:extLst>
          </p:cNvPr>
          <p:cNvSpPr/>
          <p:nvPr/>
        </p:nvSpPr>
        <p:spPr>
          <a:xfrm>
            <a:off x="2118929" y="2136482"/>
            <a:ext cx="2057400" cy="424543"/>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Visual</a:t>
            </a:r>
            <a:r>
              <a:rPr lang="zh-CN" altLang="en-US"/>
              <a:t> </a:t>
            </a:r>
            <a:r>
              <a:rPr lang="en-US" altLang="zh-CN"/>
              <a:t>Encoder</a:t>
            </a:r>
            <a:r>
              <a:rPr lang="zh-CN" altLang="en-US"/>
              <a:t> </a:t>
            </a:r>
            <a:endParaRPr lang="en-US"/>
          </a:p>
        </p:txBody>
      </p:sp>
      <p:sp>
        <p:nvSpPr>
          <p:cNvPr id="12" name="Rounded Rectangle 11">
            <a:extLst>
              <a:ext uri="{FF2B5EF4-FFF2-40B4-BE49-F238E27FC236}">
                <a16:creationId xmlns:a16="http://schemas.microsoft.com/office/drawing/2014/main" id="{2D66A471-B91A-D358-C21D-74AB14268A12}"/>
              </a:ext>
            </a:extLst>
          </p:cNvPr>
          <p:cNvSpPr/>
          <p:nvPr/>
        </p:nvSpPr>
        <p:spPr>
          <a:xfrm>
            <a:off x="2118712" y="3020148"/>
            <a:ext cx="2057400" cy="424543"/>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Projection</a:t>
            </a:r>
            <a:r>
              <a:rPr lang="zh-CN" altLang="en-US"/>
              <a:t> </a:t>
            </a:r>
            <a:r>
              <a:rPr lang="en-US" altLang="zh-CN"/>
              <a:t>Model</a:t>
            </a:r>
            <a:endParaRPr lang="en-US"/>
          </a:p>
        </p:txBody>
      </p:sp>
      <p:cxnSp>
        <p:nvCxnSpPr>
          <p:cNvPr id="14" name="Straight Arrow Connector 13">
            <a:extLst>
              <a:ext uri="{FF2B5EF4-FFF2-40B4-BE49-F238E27FC236}">
                <a16:creationId xmlns:a16="http://schemas.microsoft.com/office/drawing/2014/main" id="{9DDE814D-729A-80CC-789C-CDCD3D8519AF}"/>
              </a:ext>
            </a:extLst>
          </p:cNvPr>
          <p:cNvCxnSpPr>
            <a:cxnSpLocks/>
            <a:stCxn id="10" idx="3"/>
            <a:endCxn id="11" idx="0"/>
          </p:cNvCxnSpPr>
          <p:nvPr/>
        </p:nvCxnSpPr>
        <p:spPr>
          <a:xfrm flipH="1">
            <a:off x="3147629" y="1709442"/>
            <a:ext cx="1" cy="4270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7DDBCB5-7D6E-7A8C-4429-CEC9907BD60D}"/>
              </a:ext>
            </a:extLst>
          </p:cNvPr>
          <p:cNvCxnSpPr>
            <a:stCxn id="11" idx="2"/>
            <a:endCxn id="12" idx="0"/>
          </p:cNvCxnSpPr>
          <p:nvPr/>
        </p:nvCxnSpPr>
        <p:spPr>
          <a:xfrm flipH="1">
            <a:off x="3147412" y="2561025"/>
            <a:ext cx="217" cy="4591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a:extLst>
              <a:ext uri="{FF2B5EF4-FFF2-40B4-BE49-F238E27FC236}">
                <a16:creationId xmlns:a16="http://schemas.microsoft.com/office/drawing/2014/main" id="{88F9D4CC-1D62-1860-9604-2F25D8CAD055}"/>
              </a:ext>
            </a:extLst>
          </p:cNvPr>
          <p:cNvSpPr/>
          <p:nvPr/>
        </p:nvSpPr>
        <p:spPr>
          <a:xfrm>
            <a:off x="1961706" y="4156234"/>
            <a:ext cx="2371412" cy="548863"/>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Intermediate Visual Embeddings</a:t>
            </a:r>
            <a:endParaRPr lang="en-US" sz="1400"/>
          </a:p>
        </p:txBody>
      </p:sp>
      <p:sp>
        <p:nvSpPr>
          <p:cNvPr id="34" name="Rounded Rectangle 33">
            <a:extLst>
              <a:ext uri="{FF2B5EF4-FFF2-40B4-BE49-F238E27FC236}">
                <a16:creationId xmlns:a16="http://schemas.microsoft.com/office/drawing/2014/main" id="{86AB97C0-EB97-54D2-A50E-0D07B0057592}"/>
              </a:ext>
            </a:extLst>
          </p:cNvPr>
          <p:cNvSpPr/>
          <p:nvPr/>
        </p:nvSpPr>
        <p:spPr>
          <a:xfrm>
            <a:off x="8770516" y="1635328"/>
            <a:ext cx="2057400" cy="424543"/>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Generate Output text</a:t>
            </a:r>
          </a:p>
        </p:txBody>
      </p:sp>
      <p:sp>
        <p:nvSpPr>
          <p:cNvPr id="35" name="Rounded Rectangle 34">
            <a:extLst>
              <a:ext uri="{FF2B5EF4-FFF2-40B4-BE49-F238E27FC236}">
                <a16:creationId xmlns:a16="http://schemas.microsoft.com/office/drawing/2014/main" id="{CC8BFBAC-0B5E-B210-8F18-00548CEF9F66}"/>
              </a:ext>
            </a:extLst>
          </p:cNvPr>
          <p:cNvSpPr/>
          <p:nvPr/>
        </p:nvSpPr>
        <p:spPr>
          <a:xfrm>
            <a:off x="8770516" y="2359388"/>
            <a:ext cx="2057400" cy="424543"/>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LLM decoder</a:t>
            </a:r>
          </a:p>
        </p:txBody>
      </p:sp>
      <p:sp>
        <p:nvSpPr>
          <p:cNvPr id="36" name="Rounded Rectangle 35">
            <a:extLst>
              <a:ext uri="{FF2B5EF4-FFF2-40B4-BE49-F238E27FC236}">
                <a16:creationId xmlns:a16="http://schemas.microsoft.com/office/drawing/2014/main" id="{1BB18A80-BC94-3685-3609-92BA732DFA61}"/>
              </a:ext>
            </a:extLst>
          </p:cNvPr>
          <p:cNvSpPr/>
          <p:nvPr/>
        </p:nvSpPr>
        <p:spPr>
          <a:xfrm>
            <a:off x="8558245" y="3098980"/>
            <a:ext cx="2481942" cy="588117"/>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Multimodal Input Construction</a:t>
            </a:r>
          </a:p>
          <a:p>
            <a:pPr algn="ctr"/>
            <a:r>
              <a:rPr lang="en-US" sz="1200"/>
              <a:t>(Visual Embedding + Text Prompt)</a:t>
            </a:r>
          </a:p>
        </p:txBody>
      </p:sp>
      <p:cxnSp>
        <p:nvCxnSpPr>
          <p:cNvPr id="38" name="Straight Arrow Connector 37">
            <a:extLst>
              <a:ext uri="{FF2B5EF4-FFF2-40B4-BE49-F238E27FC236}">
                <a16:creationId xmlns:a16="http://schemas.microsoft.com/office/drawing/2014/main" id="{F2F27438-F9C2-5B9D-DCBC-AE29DACD9A4D}"/>
              </a:ext>
            </a:extLst>
          </p:cNvPr>
          <p:cNvCxnSpPr>
            <a:cxnSpLocks/>
            <a:stCxn id="12" idx="2"/>
            <a:endCxn id="18" idx="0"/>
          </p:cNvCxnSpPr>
          <p:nvPr/>
        </p:nvCxnSpPr>
        <p:spPr>
          <a:xfrm>
            <a:off x="3147412" y="3444691"/>
            <a:ext cx="0" cy="71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2C959B12-81D1-01EE-0C45-2AA93BA6963A}"/>
              </a:ext>
            </a:extLst>
          </p:cNvPr>
          <p:cNvCxnSpPr>
            <a:cxnSpLocks/>
            <a:stCxn id="36" idx="0"/>
            <a:endCxn id="35" idx="2"/>
          </p:cNvCxnSpPr>
          <p:nvPr/>
        </p:nvCxnSpPr>
        <p:spPr>
          <a:xfrm flipV="1">
            <a:off x="9799216" y="2783931"/>
            <a:ext cx="0" cy="3150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6AF4A15B-0AA0-F584-7A5D-EE410872F786}"/>
              </a:ext>
            </a:extLst>
          </p:cNvPr>
          <p:cNvCxnSpPr>
            <a:stCxn id="35" idx="0"/>
            <a:endCxn id="34" idx="2"/>
          </p:cNvCxnSpPr>
          <p:nvPr/>
        </p:nvCxnSpPr>
        <p:spPr>
          <a:xfrm flipV="1">
            <a:off x="9799216" y="2059871"/>
            <a:ext cx="0" cy="2995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a:extLst>
              <a:ext uri="{FF2B5EF4-FFF2-40B4-BE49-F238E27FC236}">
                <a16:creationId xmlns:a16="http://schemas.microsoft.com/office/drawing/2014/main" id="{0BBC7B86-E722-E1D1-E9B1-4F06B98866AE}"/>
              </a:ext>
            </a:extLst>
          </p:cNvPr>
          <p:cNvSpPr/>
          <p:nvPr/>
        </p:nvSpPr>
        <p:spPr>
          <a:xfrm>
            <a:off x="1951658" y="5828993"/>
            <a:ext cx="2371412" cy="548863"/>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TLS Sesion Establishment </a:t>
            </a:r>
          </a:p>
        </p:txBody>
      </p:sp>
      <p:sp>
        <p:nvSpPr>
          <p:cNvPr id="49" name="Rounded Rectangle 48">
            <a:extLst>
              <a:ext uri="{FF2B5EF4-FFF2-40B4-BE49-F238E27FC236}">
                <a16:creationId xmlns:a16="http://schemas.microsoft.com/office/drawing/2014/main" id="{2A414B40-0706-EEE1-4362-180FB7A57B75}"/>
              </a:ext>
            </a:extLst>
          </p:cNvPr>
          <p:cNvSpPr/>
          <p:nvPr/>
        </p:nvSpPr>
        <p:spPr>
          <a:xfrm>
            <a:off x="1952830" y="5078054"/>
            <a:ext cx="2371412" cy="35289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TDX Verify Quote</a:t>
            </a:r>
          </a:p>
        </p:txBody>
      </p:sp>
      <p:sp>
        <p:nvSpPr>
          <p:cNvPr id="51" name="Rounded Rectangle 50">
            <a:extLst>
              <a:ext uri="{FF2B5EF4-FFF2-40B4-BE49-F238E27FC236}">
                <a16:creationId xmlns:a16="http://schemas.microsoft.com/office/drawing/2014/main" id="{B21157A1-75C7-7D39-C50E-74EBDD6B82AA}"/>
              </a:ext>
            </a:extLst>
          </p:cNvPr>
          <p:cNvSpPr/>
          <p:nvPr/>
        </p:nvSpPr>
        <p:spPr>
          <a:xfrm>
            <a:off x="8668774" y="4156234"/>
            <a:ext cx="2263834" cy="537201"/>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Reconstruct Intermediate Embeddings</a:t>
            </a:r>
            <a:endParaRPr lang="en-US" sz="1400"/>
          </a:p>
        </p:txBody>
      </p:sp>
      <p:cxnSp>
        <p:nvCxnSpPr>
          <p:cNvPr id="55" name="Straight Arrow Connector 54">
            <a:extLst>
              <a:ext uri="{FF2B5EF4-FFF2-40B4-BE49-F238E27FC236}">
                <a16:creationId xmlns:a16="http://schemas.microsoft.com/office/drawing/2014/main" id="{23AACDE0-8837-06D5-AC5D-6AED4E6160E4}"/>
              </a:ext>
            </a:extLst>
          </p:cNvPr>
          <p:cNvCxnSpPr>
            <a:cxnSpLocks/>
            <a:stCxn id="51" idx="0"/>
            <a:endCxn id="36" idx="2"/>
          </p:cNvCxnSpPr>
          <p:nvPr/>
        </p:nvCxnSpPr>
        <p:spPr>
          <a:xfrm flipH="1" flipV="1">
            <a:off x="9799216" y="3687097"/>
            <a:ext cx="1475" cy="4691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6" name="Rounded Rectangle 55">
            <a:extLst>
              <a:ext uri="{FF2B5EF4-FFF2-40B4-BE49-F238E27FC236}">
                <a16:creationId xmlns:a16="http://schemas.microsoft.com/office/drawing/2014/main" id="{F102A57D-098F-4011-B740-8D7704BE1B91}"/>
              </a:ext>
            </a:extLst>
          </p:cNvPr>
          <p:cNvSpPr/>
          <p:nvPr/>
        </p:nvSpPr>
        <p:spPr>
          <a:xfrm>
            <a:off x="8668775" y="5060670"/>
            <a:ext cx="2263834" cy="352893"/>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TDX Generate Quote</a:t>
            </a:r>
          </a:p>
        </p:txBody>
      </p:sp>
      <p:sp>
        <p:nvSpPr>
          <p:cNvPr id="57" name="Rounded Rectangle 56">
            <a:extLst>
              <a:ext uri="{FF2B5EF4-FFF2-40B4-BE49-F238E27FC236}">
                <a16:creationId xmlns:a16="http://schemas.microsoft.com/office/drawing/2014/main" id="{48B03B15-0CF5-4DDD-F885-C0B99F2E55CB}"/>
              </a:ext>
            </a:extLst>
          </p:cNvPr>
          <p:cNvSpPr/>
          <p:nvPr/>
        </p:nvSpPr>
        <p:spPr>
          <a:xfrm>
            <a:off x="8668775" y="5828993"/>
            <a:ext cx="2263833" cy="537201"/>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TLS Sesion Establishment </a:t>
            </a:r>
          </a:p>
        </p:txBody>
      </p:sp>
      <p:sp>
        <p:nvSpPr>
          <p:cNvPr id="58" name="Rounded Rectangle 57">
            <a:extLst>
              <a:ext uri="{FF2B5EF4-FFF2-40B4-BE49-F238E27FC236}">
                <a16:creationId xmlns:a16="http://schemas.microsoft.com/office/drawing/2014/main" id="{5A639947-7071-0E60-4F67-A444EF1B513B}"/>
              </a:ext>
            </a:extLst>
          </p:cNvPr>
          <p:cNvSpPr/>
          <p:nvPr/>
        </p:nvSpPr>
        <p:spPr>
          <a:xfrm>
            <a:off x="5582433" y="5088102"/>
            <a:ext cx="1831578" cy="352894"/>
          </a:xfrm>
          <a:prstGeom prst="roundRect">
            <a:avLst/>
          </a:prstGeom>
          <a:solidFill>
            <a:schemeClr val="bg1"/>
          </a:solidFill>
          <a:ln>
            <a:solidFill>
              <a:schemeClr val="accent2"/>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a:t>Remote Assetation</a:t>
            </a:r>
          </a:p>
        </p:txBody>
      </p:sp>
      <p:sp>
        <p:nvSpPr>
          <p:cNvPr id="67" name="Left-right Arrow 66">
            <a:extLst>
              <a:ext uri="{FF2B5EF4-FFF2-40B4-BE49-F238E27FC236}">
                <a16:creationId xmlns:a16="http://schemas.microsoft.com/office/drawing/2014/main" id="{2E3DBB46-C938-2DC5-97D9-EB88A127BCBA}"/>
              </a:ext>
            </a:extLst>
          </p:cNvPr>
          <p:cNvSpPr/>
          <p:nvPr/>
        </p:nvSpPr>
        <p:spPr>
          <a:xfrm>
            <a:off x="4334290" y="6029008"/>
            <a:ext cx="4309261" cy="146052"/>
          </a:xfrm>
          <a:prstGeom prst="leftRightArrow">
            <a:avLst/>
          </a:prstGeom>
          <a:solidFill>
            <a:schemeClr val="accent2">
              <a:lumMod val="20000"/>
              <a:lumOff val="80000"/>
            </a:schemeClr>
          </a:solid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Left-right Arrow 68">
            <a:extLst>
              <a:ext uri="{FF2B5EF4-FFF2-40B4-BE49-F238E27FC236}">
                <a16:creationId xmlns:a16="http://schemas.microsoft.com/office/drawing/2014/main" id="{DA8C3B23-AEE1-1DC4-61E5-B707E620234A}"/>
              </a:ext>
            </a:extLst>
          </p:cNvPr>
          <p:cNvSpPr/>
          <p:nvPr/>
        </p:nvSpPr>
        <p:spPr>
          <a:xfrm>
            <a:off x="4345511" y="5180788"/>
            <a:ext cx="1217360" cy="146052"/>
          </a:xfrm>
          <a:prstGeom prst="leftRightArrow">
            <a:avLst/>
          </a:prstGeom>
          <a:solidFill>
            <a:schemeClr val="accent2">
              <a:lumMod val="20000"/>
              <a:lumOff val="80000"/>
            </a:schemeClr>
          </a:solid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Left-right Arrow 69">
            <a:extLst>
              <a:ext uri="{FF2B5EF4-FFF2-40B4-BE49-F238E27FC236}">
                <a16:creationId xmlns:a16="http://schemas.microsoft.com/office/drawing/2014/main" id="{6A7BBC29-A0EE-F4A3-4348-DFFB531DC605}"/>
              </a:ext>
            </a:extLst>
          </p:cNvPr>
          <p:cNvSpPr/>
          <p:nvPr/>
        </p:nvSpPr>
        <p:spPr>
          <a:xfrm>
            <a:off x="7424059" y="5180788"/>
            <a:ext cx="1219492" cy="146052"/>
          </a:xfrm>
          <a:prstGeom prst="leftRightArrow">
            <a:avLst/>
          </a:prstGeom>
          <a:solidFill>
            <a:schemeClr val="accent2">
              <a:lumMod val="20000"/>
              <a:lumOff val="80000"/>
            </a:schemeClr>
          </a:solid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Arrow Connector 71">
            <a:extLst>
              <a:ext uri="{FF2B5EF4-FFF2-40B4-BE49-F238E27FC236}">
                <a16:creationId xmlns:a16="http://schemas.microsoft.com/office/drawing/2014/main" id="{D3BBAA70-1361-82C9-01DF-441081A74775}"/>
              </a:ext>
            </a:extLst>
          </p:cNvPr>
          <p:cNvCxnSpPr>
            <a:stCxn id="48" idx="0"/>
            <a:endCxn id="49" idx="2"/>
          </p:cNvCxnSpPr>
          <p:nvPr/>
        </p:nvCxnSpPr>
        <p:spPr>
          <a:xfrm flipV="1">
            <a:off x="3137364" y="5430948"/>
            <a:ext cx="1172" cy="398045"/>
          </a:xfrm>
          <a:prstGeom prst="straightConnector1">
            <a:avLst/>
          </a:prstGeom>
          <a:ln>
            <a:solidFill>
              <a:schemeClr val="accent2">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B8B3B404-2FFE-39B0-DCE2-D2BD9D1C53E9}"/>
              </a:ext>
            </a:extLst>
          </p:cNvPr>
          <p:cNvCxnSpPr>
            <a:cxnSpLocks/>
            <a:stCxn id="49" idx="0"/>
            <a:endCxn id="18" idx="2"/>
          </p:cNvCxnSpPr>
          <p:nvPr/>
        </p:nvCxnSpPr>
        <p:spPr>
          <a:xfrm flipV="1">
            <a:off x="3138536" y="4705097"/>
            <a:ext cx="8876" cy="372957"/>
          </a:xfrm>
          <a:prstGeom prst="straightConnector1">
            <a:avLst/>
          </a:prstGeom>
          <a:ln>
            <a:solidFill>
              <a:schemeClr val="accent2">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A08011FF-EDC7-D46F-B1D7-40C485358480}"/>
              </a:ext>
            </a:extLst>
          </p:cNvPr>
          <p:cNvCxnSpPr>
            <a:cxnSpLocks/>
            <a:stCxn id="57" idx="0"/>
            <a:endCxn id="56" idx="2"/>
          </p:cNvCxnSpPr>
          <p:nvPr/>
        </p:nvCxnSpPr>
        <p:spPr>
          <a:xfrm flipV="1">
            <a:off x="9800692" y="5413563"/>
            <a:ext cx="0" cy="415430"/>
          </a:xfrm>
          <a:prstGeom prst="straightConnector1">
            <a:avLst/>
          </a:prstGeom>
          <a:ln>
            <a:solidFill>
              <a:schemeClr val="accent2">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F2345AD3-4445-C74A-7F76-68714DBEF64B}"/>
              </a:ext>
            </a:extLst>
          </p:cNvPr>
          <p:cNvCxnSpPr>
            <a:cxnSpLocks/>
            <a:stCxn id="56" idx="0"/>
            <a:endCxn id="51" idx="2"/>
          </p:cNvCxnSpPr>
          <p:nvPr/>
        </p:nvCxnSpPr>
        <p:spPr>
          <a:xfrm flipH="1" flipV="1">
            <a:off x="9800691" y="4693435"/>
            <a:ext cx="1" cy="367235"/>
          </a:xfrm>
          <a:prstGeom prst="straightConnector1">
            <a:avLst/>
          </a:prstGeom>
          <a:ln>
            <a:solidFill>
              <a:schemeClr val="accent2">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4" name="Right Arrow 103">
            <a:extLst>
              <a:ext uri="{FF2B5EF4-FFF2-40B4-BE49-F238E27FC236}">
                <a16:creationId xmlns:a16="http://schemas.microsoft.com/office/drawing/2014/main" id="{C6BB7DEB-225F-C068-6B63-7AD28F411E56}"/>
              </a:ext>
            </a:extLst>
          </p:cNvPr>
          <p:cNvSpPr/>
          <p:nvPr/>
        </p:nvSpPr>
        <p:spPr>
          <a:xfrm>
            <a:off x="4345510" y="4355611"/>
            <a:ext cx="4323263" cy="133516"/>
          </a:xfrm>
          <a:prstGeom prst="rightArrow">
            <a:avLst/>
          </a:prstGeom>
          <a:solidFill>
            <a:schemeClr val="accent2">
              <a:lumMod val="20000"/>
              <a:lumOff val="80000"/>
              <a:alpha val="80000"/>
            </a:schemeClr>
          </a:solidFill>
          <a:ln>
            <a:solidFill>
              <a:schemeClr val="accent2">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a:extLst>
              <a:ext uri="{FF2B5EF4-FFF2-40B4-BE49-F238E27FC236}">
                <a16:creationId xmlns:a16="http://schemas.microsoft.com/office/drawing/2014/main" id="{C1CEEDE8-E9EB-8338-7BC9-0A1EAE87CAE6}"/>
              </a:ext>
            </a:extLst>
          </p:cNvPr>
          <p:cNvSpPr txBox="1"/>
          <p:nvPr/>
        </p:nvSpPr>
        <p:spPr>
          <a:xfrm>
            <a:off x="3457467" y="4010384"/>
            <a:ext cx="6099348" cy="307777"/>
          </a:xfrm>
          <a:prstGeom prst="rect">
            <a:avLst/>
          </a:prstGeom>
          <a:noFill/>
        </p:spPr>
        <p:txBody>
          <a:bodyPr wrap="square">
            <a:spAutoFit/>
          </a:bodyPr>
          <a:lstStyle/>
          <a:p>
            <a:pPr algn="ctr"/>
            <a:r>
              <a:rPr lang="en-US" sz="1400"/>
              <a:t>TLS Secure Channel</a:t>
            </a:r>
          </a:p>
        </p:txBody>
      </p:sp>
    </p:spTree>
    <p:extLst>
      <p:ext uri="{BB962C8B-B14F-4D97-AF65-F5344CB8AC3E}">
        <p14:creationId xmlns:p14="http://schemas.microsoft.com/office/powerpoint/2010/main" val="3119878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9DB24-529F-E8F9-536A-6C8005194892}"/>
              </a:ext>
            </a:extLst>
          </p:cNvPr>
          <p:cNvSpPr>
            <a:spLocks noGrp="1"/>
          </p:cNvSpPr>
          <p:nvPr>
            <p:ph type="title"/>
          </p:nvPr>
        </p:nvSpPr>
        <p:spPr/>
        <p:txBody>
          <a:bodyPr/>
          <a:lstStyle/>
          <a:p>
            <a:r>
              <a:rPr lang="en-US" altLang="zh-CN" dirty="0"/>
              <a:t>Initial</a:t>
            </a:r>
            <a:r>
              <a:rPr lang="zh-CN" altLang="en-US" dirty="0"/>
              <a:t> </a:t>
            </a:r>
            <a:r>
              <a:rPr lang="en-US" altLang="zh-CN" dirty="0"/>
              <a:t>Ideas</a:t>
            </a:r>
            <a:endParaRPr lang="en-US" dirty="0"/>
          </a:p>
        </p:txBody>
      </p:sp>
      <p:sp>
        <p:nvSpPr>
          <p:cNvPr id="3" name="Content Placeholder 2">
            <a:extLst>
              <a:ext uri="{FF2B5EF4-FFF2-40B4-BE49-F238E27FC236}">
                <a16:creationId xmlns:a16="http://schemas.microsoft.com/office/drawing/2014/main" id="{21F482A8-7823-7754-9344-36EA99AB2D06}"/>
              </a:ext>
            </a:extLst>
          </p:cNvPr>
          <p:cNvSpPr>
            <a:spLocks noGrp="1"/>
          </p:cNvSpPr>
          <p:nvPr>
            <p:ph idx="1"/>
          </p:nvPr>
        </p:nvSpPr>
        <p:spPr/>
        <p:txBody>
          <a:bodyPr>
            <a:normAutofit/>
          </a:bodyPr>
          <a:lstStyle/>
          <a:p>
            <a:r>
              <a:rPr lang="en-GB" dirty="0"/>
              <a:t>QUIC TLS 1.3</a:t>
            </a:r>
            <a:r>
              <a:rPr lang="zh-CN" altLang="en-US" dirty="0"/>
              <a:t> </a:t>
            </a:r>
            <a:r>
              <a:rPr lang="en-US" altLang="zh-CN" dirty="0"/>
              <a:t>(UDP,</a:t>
            </a:r>
            <a:r>
              <a:rPr lang="zh-CN" altLang="en-US" dirty="0"/>
              <a:t> </a:t>
            </a:r>
            <a:r>
              <a:rPr lang="en-US" altLang="zh-CN" dirty="0"/>
              <a:t>reduce</a:t>
            </a:r>
            <a:r>
              <a:rPr lang="zh-CN" altLang="en-US" dirty="0"/>
              <a:t> </a:t>
            </a:r>
            <a:r>
              <a:rPr lang="en-US" altLang="zh-CN" dirty="0"/>
              <a:t>latency,</a:t>
            </a:r>
            <a:r>
              <a:rPr lang="zh-CN" altLang="en-US" dirty="0"/>
              <a:t> </a:t>
            </a:r>
            <a:r>
              <a:rPr lang="en-US" altLang="zh-CN" dirty="0"/>
              <a:t>Encryption</a:t>
            </a:r>
            <a:r>
              <a:rPr lang="zh-CN" altLang="en-US" dirty="0"/>
              <a:t> </a:t>
            </a:r>
            <a:r>
              <a:rPr lang="en-US" altLang="zh-CN" dirty="0"/>
              <a:t>Algorithm,</a:t>
            </a:r>
            <a:r>
              <a:rPr lang="zh-CN" altLang="en-US" dirty="0"/>
              <a:t> </a:t>
            </a:r>
            <a:r>
              <a:rPr lang="en-US" altLang="zh-CN" dirty="0"/>
              <a:t>Key</a:t>
            </a:r>
            <a:r>
              <a:rPr lang="zh-CN" altLang="en-US" dirty="0"/>
              <a:t> </a:t>
            </a:r>
            <a:r>
              <a:rPr lang="en-US" altLang="zh-CN" dirty="0"/>
              <a:t>exchange)</a:t>
            </a:r>
            <a:r>
              <a:rPr lang="zh-CN" altLang="en-US" dirty="0"/>
              <a:t> </a:t>
            </a:r>
            <a:endParaRPr lang="en-GB" dirty="0"/>
          </a:p>
          <a:p>
            <a:r>
              <a:rPr lang="en-US" altLang="zh-CN" dirty="0" err="1"/>
              <a:t>DataSet</a:t>
            </a:r>
            <a:r>
              <a:rPr lang="en-US" altLang="zh-CN" dirty="0"/>
              <a:t>: HuggingFaceM4 /</a:t>
            </a:r>
            <a:r>
              <a:rPr lang="en-US" altLang="zh-CN" dirty="0" err="1"/>
              <a:t>the_cauldron</a:t>
            </a:r>
            <a:r>
              <a:rPr lang="en-US" altLang="zh-CN" dirty="0"/>
              <a:t> AI2D subset</a:t>
            </a:r>
          </a:p>
          <a:p>
            <a:r>
              <a:rPr lang="en-US" dirty="0"/>
              <a:t>Model: </a:t>
            </a:r>
            <a:r>
              <a:rPr lang="en-US" altLang="zh-CN" dirty="0" err="1"/>
              <a:t>nanoVLM</a:t>
            </a:r>
            <a:endParaRPr lang="en-US" altLang="zh-CN" dirty="0"/>
          </a:p>
          <a:p>
            <a:r>
              <a:rPr lang="en-US" altLang="zh-CN" dirty="0"/>
              <a:t>Encryption:</a:t>
            </a:r>
            <a:r>
              <a:rPr lang="zh-CN" altLang="en-US" dirty="0"/>
              <a:t> </a:t>
            </a:r>
            <a:r>
              <a:rPr lang="en-US" altLang="zh-CN" dirty="0"/>
              <a:t>ChaChao20-Poly1305</a:t>
            </a:r>
            <a:r>
              <a:rPr lang="zh-CN" altLang="en-US" dirty="0"/>
              <a:t> </a:t>
            </a:r>
            <a:r>
              <a:rPr lang="en-US" altLang="zh-CN" dirty="0"/>
              <a:t>vs</a:t>
            </a:r>
            <a:r>
              <a:rPr lang="zh-CN" altLang="en-US" dirty="0"/>
              <a:t> </a:t>
            </a:r>
            <a:r>
              <a:rPr lang="en-US" altLang="zh-CN" dirty="0"/>
              <a:t>AES-GCM</a:t>
            </a:r>
            <a:endParaRPr lang="en-GB" altLang="zh-CN" dirty="0"/>
          </a:p>
          <a:p>
            <a:r>
              <a:rPr lang="en-GB" dirty="0"/>
              <a:t>TEE: </a:t>
            </a:r>
            <a:r>
              <a:rPr lang="zh-CN" altLang="en-US" dirty="0"/>
              <a:t> </a:t>
            </a:r>
            <a:r>
              <a:rPr lang="en-US" altLang="zh-CN" dirty="0"/>
              <a:t>Intel</a:t>
            </a:r>
            <a:r>
              <a:rPr lang="zh-CN" altLang="en-US" dirty="0"/>
              <a:t> </a:t>
            </a:r>
            <a:r>
              <a:rPr lang="en-US" altLang="zh-CN" dirty="0"/>
              <a:t>TDX</a:t>
            </a:r>
            <a:endParaRPr lang="en-GB" dirty="0"/>
          </a:p>
        </p:txBody>
      </p:sp>
    </p:spTree>
    <p:extLst>
      <p:ext uri="{BB962C8B-B14F-4D97-AF65-F5344CB8AC3E}">
        <p14:creationId xmlns:p14="http://schemas.microsoft.com/office/powerpoint/2010/main" val="2290997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DB0DE-3E87-978D-3FA2-7EB999849C3B}"/>
              </a:ext>
            </a:extLst>
          </p:cNvPr>
          <p:cNvSpPr>
            <a:spLocks noGrp="1"/>
          </p:cNvSpPr>
          <p:nvPr>
            <p:ph type="title"/>
          </p:nvPr>
        </p:nvSpPr>
        <p:spPr/>
        <p:txBody>
          <a:bodyPr/>
          <a:lstStyle/>
          <a:p>
            <a:r>
              <a:rPr lang="en-GB" dirty="0" err="1"/>
              <a:t>MobileVLM</a:t>
            </a:r>
            <a:endParaRPr lang="en-US" dirty="0"/>
          </a:p>
        </p:txBody>
      </p:sp>
      <p:sp>
        <p:nvSpPr>
          <p:cNvPr id="3" name="Content Placeholder 2">
            <a:extLst>
              <a:ext uri="{FF2B5EF4-FFF2-40B4-BE49-F238E27FC236}">
                <a16:creationId xmlns:a16="http://schemas.microsoft.com/office/drawing/2014/main" id="{4EDADF3A-A897-EF56-200A-C51EA0241D5A}"/>
              </a:ext>
            </a:extLst>
          </p:cNvPr>
          <p:cNvSpPr>
            <a:spLocks noGrp="1"/>
          </p:cNvSpPr>
          <p:nvPr>
            <p:ph idx="1"/>
          </p:nvPr>
        </p:nvSpPr>
        <p:spPr/>
        <p:txBody>
          <a:bodyPr>
            <a:normAutofit lnSpcReduction="10000"/>
          </a:bodyPr>
          <a:lstStyle/>
          <a:p>
            <a:r>
              <a:rPr lang="en-GB" dirty="0" err="1"/>
              <a:t>MobileVLM</a:t>
            </a:r>
            <a:r>
              <a:rPr lang="en-GB" dirty="0"/>
              <a:t> is an efficiency-oriented VLM</a:t>
            </a:r>
            <a:r>
              <a:rPr lang="en-US" altLang="zh-CN" dirty="0"/>
              <a:t>.</a:t>
            </a:r>
            <a:r>
              <a:rPr lang="zh-CN" altLang="en-US" dirty="0"/>
              <a:t> </a:t>
            </a:r>
            <a:r>
              <a:rPr lang="en-GB" dirty="0"/>
              <a:t>Its goal is to make a vision-language model run locally on mobile/edge hardware by reducing the language-model size and, especially, reducing the number of visual tokens sent into the LLM.</a:t>
            </a:r>
          </a:p>
          <a:p>
            <a:r>
              <a:rPr lang="en-US" altLang="zh-CN" dirty="0"/>
              <a:t>Main</a:t>
            </a:r>
            <a:r>
              <a:rPr lang="zh-CN" altLang="en-US" dirty="0"/>
              <a:t> </a:t>
            </a:r>
            <a:r>
              <a:rPr lang="en-US" altLang="zh-CN" dirty="0"/>
              <a:t>pipeline:</a:t>
            </a:r>
            <a:r>
              <a:rPr lang="zh-CN" altLang="en-US" dirty="0"/>
              <a:t> </a:t>
            </a:r>
            <a:endParaRPr lang="en-GB" altLang="zh-CN" dirty="0"/>
          </a:p>
          <a:p>
            <a:r>
              <a:rPr lang="en-GB" dirty="0"/>
              <a:t>Image</a:t>
            </a:r>
            <a:r>
              <a:rPr lang="zh-CN" altLang="en-US" dirty="0"/>
              <a:t> </a:t>
            </a:r>
            <a:r>
              <a:rPr lang="en-US" altLang="zh-CN" dirty="0"/>
              <a:t>-&gt;</a:t>
            </a:r>
            <a:r>
              <a:rPr lang="zh-CN" altLang="en-US" dirty="0"/>
              <a:t>  </a:t>
            </a:r>
            <a:r>
              <a:rPr lang="en-GB" dirty="0"/>
              <a:t>CLIP </a:t>
            </a:r>
            <a:r>
              <a:rPr lang="en-GB" dirty="0" err="1"/>
              <a:t>ViT</a:t>
            </a:r>
            <a:r>
              <a:rPr lang="en-GB" dirty="0"/>
              <a:t>-L/14 visual encoder</a:t>
            </a:r>
            <a:r>
              <a:rPr lang="zh-CN" altLang="en-US" dirty="0"/>
              <a:t> </a:t>
            </a:r>
            <a:r>
              <a:rPr lang="en-US" altLang="zh-CN" dirty="0"/>
              <a:t>(</a:t>
            </a:r>
            <a:r>
              <a:rPr lang="en-GB" b="1" dirty="0">
                <a:solidFill>
                  <a:srgbClr val="FF0000"/>
                </a:solidFill>
              </a:rPr>
              <a:t>576</a:t>
            </a:r>
            <a:r>
              <a:rPr lang="en-GB" dirty="0"/>
              <a:t> visual tokens</a:t>
            </a:r>
            <a:r>
              <a:rPr lang="en-US" altLang="zh-CN" dirty="0"/>
              <a:t>)</a:t>
            </a:r>
            <a:br>
              <a:rPr lang="en-GB" dirty="0"/>
            </a:br>
            <a:r>
              <a:rPr lang="en-GB" dirty="0"/>
              <a:t>LDP: Lightweight </a:t>
            </a:r>
            <a:r>
              <a:rPr lang="en-GB" dirty="0" err="1"/>
              <a:t>Downsample</a:t>
            </a:r>
            <a:r>
              <a:rPr lang="en-GB" dirty="0"/>
              <a:t> Projector</a:t>
            </a:r>
            <a:r>
              <a:rPr lang="zh-CN" altLang="en-US" dirty="0"/>
              <a:t> </a:t>
            </a:r>
            <a:r>
              <a:rPr lang="en-US" altLang="zh-CN" dirty="0"/>
              <a:t>(</a:t>
            </a:r>
            <a:r>
              <a:rPr lang="en-GB" b="1" dirty="0">
                <a:solidFill>
                  <a:srgbClr val="FF0000"/>
                </a:solidFill>
              </a:rPr>
              <a:t>144</a:t>
            </a:r>
            <a:r>
              <a:rPr lang="en-GB" dirty="0"/>
              <a:t> visual tokens</a:t>
            </a:r>
            <a:r>
              <a:rPr lang="en-US" altLang="zh-CN" dirty="0"/>
              <a:t>)</a:t>
            </a:r>
            <a:r>
              <a:rPr lang="zh-CN" altLang="en-US" dirty="0"/>
              <a:t> </a:t>
            </a:r>
            <a:br>
              <a:rPr lang="en-GB" dirty="0"/>
            </a:br>
            <a:r>
              <a:rPr lang="zh-CN" altLang="en-US" dirty="0"/>
              <a:t> </a:t>
            </a:r>
            <a:r>
              <a:rPr lang="en-US" altLang="zh-CN" dirty="0"/>
              <a:t>-&gt;</a:t>
            </a:r>
            <a:r>
              <a:rPr lang="zh-CN" altLang="en-US" dirty="0"/>
              <a:t> </a:t>
            </a:r>
            <a:r>
              <a:rPr lang="en-GB" dirty="0" err="1"/>
              <a:t>MobileLLaMA</a:t>
            </a:r>
            <a:r>
              <a:rPr lang="en-GB" dirty="0"/>
              <a:t> (1.4B or 2.7B)</a:t>
            </a:r>
            <a:r>
              <a:rPr lang="zh-CN" altLang="en-US" dirty="0"/>
              <a:t> </a:t>
            </a:r>
            <a:r>
              <a:rPr lang="en-US" altLang="zh-CN" dirty="0"/>
              <a:t>-&gt;</a:t>
            </a:r>
            <a:r>
              <a:rPr lang="zh-CN" altLang="en-US" dirty="0"/>
              <a:t>  </a:t>
            </a:r>
            <a:r>
              <a:rPr lang="en-GB" dirty="0"/>
              <a:t>Generated text answer</a:t>
            </a:r>
          </a:p>
          <a:p>
            <a:endParaRPr lang="en-GB" dirty="0"/>
          </a:p>
          <a:p>
            <a:r>
              <a:rPr lang="en-GB" dirty="0"/>
              <a:t>key contribution: LDP</a:t>
            </a:r>
            <a:r>
              <a:rPr lang="zh-CN" altLang="en-US" dirty="0"/>
              <a:t> </a:t>
            </a:r>
            <a:r>
              <a:rPr lang="en-US" altLang="zh-CN" dirty="0"/>
              <a:t>(</a:t>
            </a:r>
            <a:r>
              <a:rPr lang="en-GB" dirty="0"/>
              <a:t>Lightweight </a:t>
            </a:r>
            <a:r>
              <a:rPr lang="en-GB" dirty="0" err="1"/>
              <a:t>Downsample</a:t>
            </a:r>
            <a:r>
              <a:rPr lang="en-GB" dirty="0"/>
              <a:t> Projector</a:t>
            </a:r>
            <a:r>
              <a:rPr lang="en-US" altLang="zh-CN" dirty="0"/>
              <a:t>)</a:t>
            </a:r>
            <a:endParaRPr lang="en-US" dirty="0"/>
          </a:p>
        </p:txBody>
      </p:sp>
      <p:sp>
        <p:nvSpPr>
          <p:cNvPr id="4" name="Footer Placeholder 3">
            <a:extLst>
              <a:ext uri="{FF2B5EF4-FFF2-40B4-BE49-F238E27FC236}">
                <a16:creationId xmlns:a16="http://schemas.microsoft.com/office/drawing/2014/main" id="{C942C2E9-1980-DE28-BD7D-FD75F8B97B49}"/>
              </a:ext>
            </a:extLst>
          </p:cNvPr>
          <p:cNvSpPr>
            <a:spLocks noGrp="1"/>
          </p:cNvSpPr>
          <p:nvPr>
            <p:ph type="ftr" sz="quarter" idx="11"/>
          </p:nvPr>
        </p:nvSpPr>
        <p:spPr/>
        <p:txBody>
          <a:bodyPr/>
          <a:lstStyle/>
          <a:p>
            <a:r>
              <a:rPr lang="en-US" dirty="0"/>
              <a:t>https://</a:t>
            </a:r>
            <a:r>
              <a:rPr lang="en-US" dirty="0" err="1"/>
              <a:t>arxiv.org</a:t>
            </a:r>
            <a:r>
              <a:rPr lang="en-US" dirty="0"/>
              <a:t>/abs/2312.16886</a:t>
            </a:r>
          </a:p>
        </p:txBody>
      </p:sp>
    </p:spTree>
    <p:extLst>
      <p:ext uri="{BB962C8B-B14F-4D97-AF65-F5344CB8AC3E}">
        <p14:creationId xmlns:p14="http://schemas.microsoft.com/office/powerpoint/2010/main" val="2672122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15774-DBD3-6054-3838-5E8D1038B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65EE4-EBFB-6CC9-B51A-03C82DDDCB06}"/>
              </a:ext>
            </a:extLst>
          </p:cNvPr>
          <p:cNvSpPr>
            <a:spLocks noGrp="1"/>
          </p:cNvSpPr>
          <p:nvPr>
            <p:ph type="title"/>
          </p:nvPr>
        </p:nvSpPr>
        <p:spPr/>
        <p:txBody>
          <a:bodyPr/>
          <a:lstStyle/>
          <a:p>
            <a:r>
              <a:rPr lang="en-GB" dirty="0" err="1"/>
              <a:t>EdgeVL</a:t>
            </a:r>
            <a:endParaRPr lang="en-US" dirty="0"/>
          </a:p>
        </p:txBody>
      </p:sp>
      <p:sp>
        <p:nvSpPr>
          <p:cNvPr id="3" name="Content Placeholder 2">
            <a:extLst>
              <a:ext uri="{FF2B5EF4-FFF2-40B4-BE49-F238E27FC236}">
                <a16:creationId xmlns:a16="http://schemas.microsoft.com/office/drawing/2014/main" id="{45BC1BC7-0835-078A-BD6E-4930535A2254}"/>
              </a:ext>
            </a:extLst>
          </p:cNvPr>
          <p:cNvSpPr>
            <a:spLocks noGrp="1"/>
          </p:cNvSpPr>
          <p:nvPr>
            <p:ph idx="1"/>
          </p:nvPr>
        </p:nvSpPr>
        <p:spPr/>
        <p:txBody>
          <a:bodyPr>
            <a:normAutofit lnSpcReduction="10000"/>
          </a:bodyPr>
          <a:lstStyle/>
          <a:p>
            <a:r>
              <a:rPr lang="en-GB" dirty="0" err="1"/>
              <a:t>MobileVLM</a:t>
            </a:r>
            <a:r>
              <a:rPr lang="en-GB" dirty="0"/>
              <a:t> is an efficiency-oriented VLM</a:t>
            </a:r>
            <a:r>
              <a:rPr lang="en-US" altLang="zh-CN" dirty="0"/>
              <a:t>.</a:t>
            </a:r>
            <a:r>
              <a:rPr lang="zh-CN" altLang="en-US" dirty="0"/>
              <a:t> </a:t>
            </a:r>
            <a:r>
              <a:rPr lang="en-GB" dirty="0"/>
              <a:t>Its goal is to make a vision-language model run locally on mobile/edge hardware by reducing the language-model size and, especially, reducing the number of visual tokens sent into the LLM.</a:t>
            </a:r>
          </a:p>
          <a:p>
            <a:r>
              <a:rPr lang="en-US" altLang="zh-CN" dirty="0"/>
              <a:t>Main</a:t>
            </a:r>
            <a:r>
              <a:rPr lang="zh-CN" altLang="en-US" dirty="0"/>
              <a:t> </a:t>
            </a:r>
            <a:r>
              <a:rPr lang="en-US" altLang="zh-CN" dirty="0"/>
              <a:t>pipeline:</a:t>
            </a:r>
            <a:r>
              <a:rPr lang="zh-CN" altLang="en-US" dirty="0"/>
              <a:t> </a:t>
            </a:r>
            <a:endParaRPr lang="en-GB" altLang="zh-CN" dirty="0"/>
          </a:p>
          <a:p>
            <a:r>
              <a:rPr lang="en-GB" dirty="0"/>
              <a:t>Image</a:t>
            </a:r>
            <a:r>
              <a:rPr lang="zh-CN" altLang="en-US" dirty="0"/>
              <a:t> </a:t>
            </a:r>
            <a:r>
              <a:rPr lang="en-US" altLang="zh-CN" dirty="0"/>
              <a:t>-&gt;</a:t>
            </a:r>
            <a:r>
              <a:rPr lang="zh-CN" altLang="en-US" dirty="0"/>
              <a:t>  </a:t>
            </a:r>
            <a:r>
              <a:rPr lang="en-GB" dirty="0"/>
              <a:t>CLIP </a:t>
            </a:r>
            <a:r>
              <a:rPr lang="en-GB" dirty="0" err="1"/>
              <a:t>ViT</a:t>
            </a:r>
            <a:r>
              <a:rPr lang="en-GB" dirty="0"/>
              <a:t>-L/14 visual encoder</a:t>
            </a:r>
            <a:r>
              <a:rPr lang="zh-CN" altLang="en-US" dirty="0"/>
              <a:t> </a:t>
            </a:r>
            <a:r>
              <a:rPr lang="en-US" altLang="zh-CN" dirty="0"/>
              <a:t>(</a:t>
            </a:r>
            <a:r>
              <a:rPr lang="en-GB" b="1" dirty="0">
                <a:solidFill>
                  <a:srgbClr val="FF0000"/>
                </a:solidFill>
              </a:rPr>
              <a:t>576</a:t>
            </a:r>
            <a:r>
              <a:rPr lang="en-GB" dirty="0"/>
              <a:t> visual tokens</a:t>
            </a:r>
            <a:r>
              <a:rPr lang="en-US" altLang="zh-CN" dirty="0"/>
              <a:t>)</a:t>
            </a:r>
            <a:br>
              <a:rPr lang="en-GB" dirty="0"/>
            </a:br>
            <a:r>
              <a:rPr lang="en-GB" dirty="0"/>
              <a:t>LDP: Lightweight </a:t>
            </a:r>
            <a:r>
              <a:rPr lang="en-GB" dirty="0" err="1"/>
              <a:t>Downsample</a:t>
            </a:r>
            <a:r>
              <a:rPr lang="en-GB" dirty="0"/>
              <a:t> Projector</a:t>
            </a:r>
            <a:r>
              <a:rPr lang="zh-CN" altLang="en-US" dirty="0"/>
              <a:t> </a:t>
            </a:r>
            <a:r>
              <a:rPr lang="en-US" altLang="zh-CN" dirty="0"/>
              <a:t>(</a:t>
            </a:r>
            <a:r>
              <a:rPr lang="en-GB" b="1" dirty="0">
                <a:solidFill>
                  <a:srgbClr val="FF0000"/>
                </a:solidFill>
              </a:rPr>
              <a:t>144</a:t>
            </a:r>
            <a:r>
              <a:rPr lang="en-GB" dirty="0"/>
              <a:t> visual tokens</a:t>
            </a:r>
            <a:r>
              <a:rPr lang="en-US" altLang="zh-CN" dirty="0"/>
              <a:t>)</a:t>
            </a:r>
            <a:r>
              <a:rPr lang="zh-CN" altLang="en-US" dirty="0"/>
              <a:t> </a:t>
            </a:r>
            <a:br>
              <a:rPr lang="en-GB" dirty="0"/>
            </a:br>
            <a:r>
              <a:rPr lang="zh-CN" altLang="en-US" dirty="0"/>
              <a:t> </a:t>
            </a:r>
            <a:r>
              <a:rPr lang="en-US" altLang="zh-CN" dirty="0"/>
              <a:t>-&gt;</a:t>
            </a:r>
            <a:r>
              <a:rPr lang="zh-CN" altLang="en-US" dirty="0"/>
              <a:t> </a:t>
            </a:r>
            <a:r>
              <a:rPr lang="en-GB" dirty="0" err="1"/>
              <a:t>MobileLLaMA</a:t>
            </a:r>
            <a:r>
              <a:rPr lang="en-GB" dirty="0"/>
              <a:t> (1.4B or 2.7B)</a:t>
            </a:r>
            <a:r>
              <a:rPr lang="zh-CN" altLang="en-US" dirty="0"/>
              <a:t> </a:t>
            </a:r>
            <a:r>
              <a:rPr lang="en-US" altLang="zh-CN" dirty="0"/>
              <a:t>-&gt;</a:t>
            </a:r>
            <a:r>
              <a:rPr lang="zh-CN" altLang="en-US" dirty="0"/>
              <a:t>  </a:t>
            </a:r>
            <a:r>
              <a:rPr lang="en-GB" dirty="0"/>
              <a:t>Generated text answer</a:t>
            </a:r>
          </a:p>
          <a:p>
            <a:endParaRPr lang="en-GB" dirty="0"/>
          </a:p>
          <a:p>
            <a:r>
              <a:rPr lang="en-GB" dirty="0"/>
              <a:t>key contribution: LDP</a:t>
            </a:r>
            <a:r>
              <a:rPr lang="zh-CN" altLang="en-US" dirty="0"/>
              <a:t> </a:t>
            </a:r>
            <a:r>
              <a:rPr lang="en-US" altLang="zh-CN" dirty="0"/>
              <a:t>(</a:t>
            </a:r>
            <a:r>
              <a:rPr lang="en-GB" dirty="0"/>
              <a:t>Lightweight </a:t>
            </a:r>
            <a:r>
              <a:rPr lang="en-GB" dirty="0" err="1"/>
              <a:t>Downsample</a:t>
            </a:r>
            <a:r>
              <a:rPr lang="en-GB" dirty="0"/>
              <a:t> Projector</a:t>
            </a:r>
            <a:r>
              <a:rPr lang="en-US" altLang="zh-CN" dirty="0"/>
              <a:t>)</a:t>
            </a:r>
            <a:endParaRPr lang="en-US" dirty="0"/>
          </a:p>
        </p:txBody>
      </p:sp>
      <p:sp>
        <p:nvSpPr>
          <p:cNvPr id="4" name="Footer Placeholder 3">
            <a:extLst>
              <a:ext uri="{FF2B5EF4-FFF2-40B4-BE49-F238E27FC236}">
                <a16:creationId xmlns:a16="http://schemas.microsoft.com/office/drawing/2014/main" id="{A8CD90BA-A521-9B6C-14A3-E063A41D0816}"/>
              </a:ext>
            </a:extLst>
          </p:cNvPr>
          <p:cNvSpPr>
            <a:spLocks noGrp="1"/>
          </p:cNvSpPr>
          <p:nvPr>
            <p:ph type="ftr" sz="quarter" idx="11"/>
          </p:nvPr>
        </p:nvSpPr>
        <p:spPr/>
        <p:txBody>
          <a:bodyPr/>
          <a:lstStyle/>
          <a:p>
            <a:r>
              <a:rPr lang="en-US" dirty="0"/>
              <a:t>https://</a:t>
            </a:r>
            <a:r>
              <a:rPr lang="en-US" dirty="0" err="1"/>
              <a:t>arxiv.org</a:t>
            </a:r>
            <a:r>
              <a:rPr lang="en-US" dirty="0"/>
              <a:t>/abs/2312.16886</a:t>
            </a:r>
          </a:p>
        </p:txBody>
      </p:sp>
    </p:spTree>
    <p:extLst>
      <p:ext uri="{BB962C8B-B14F-4D97-AF65-F5344CB8AC3E}">
        <p14:creationId xmlns:p14="http://schemas.microsoft.com/office/powerpoint/2010/main" val="3929797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F0AC1-191B-A69F-9504-49F22BCD7B03}"/>
              </a:ext>
            </a:extLst>
          </p:cNvPr>
          <p:cNvSpPr>
            <a:spLocks noGrp="1"/>
          </p:cNvSpPr>
          <p:nvPr>
            <p:ph type="title"/>
          </p:nvPr>
        </p:nvSpPr>
        <p:spPr>
          <a:xfrm>
            <a:off x="838200" y="136525"/>
            <a:ext cx="10515600" cy="1325563"/>
          </a:xfrm>
        </p:spPr>
        <p:txBody>
          <a:bodyPr>
            <a:normAutofit fontScale="90000"/>
          </a:bodyPr>
          <a:lstStyle/>
          <a:p>
            <a:r>
              <a:rPr lang="en-GB" b="1" dirty="0"/>
              <a:t>A privacy-preserving multi-user retrieval system for multimodal artificial intelligence</a:t>
            </a:r>
            <a:r>
              <a:rPr lang="zh-CN" altLang="en-US" b="1" dirty="0"/>
              <a:t> </a:t>
            </a:r>
            <a:r>
              <a:rPr lang="en-US" altLang="zh-CN" b="1" dirty="0"/>
              <a:t>-</a:t>
            </a:r>
            <a:r>
              <a:rPr lang="zh-CN" altLang="en-US" b="1" dirty="0"/>
              <a:t> </a:t>
            </a:r>
            <a:r>
              <a:rPr lang="en-US" altLang="zh-CN" b="1" dirty="0"/>
              <a:t>1</a:t>
            </a:r>
            <a:endParaRPr lang="en-US" dirty="0"/>
          </a:p>
        </p:txBody>
      </p:sp>
      <p:sp>
        <p:nvSpPr>
          <p:cNvPr id="3" name="Content Placeholder 2">
            <a:extLst>
              <a:ext uri="{FF2B5EF4-FFF2-40B4-BE49-F238E27FC236}">
                <a16:creationId xmlns:a16="http://schemas.microsoft.com/office/drawing/2014/main" id="{C0190995-3564-B1CE-A3D1-396A01B6A52D}"/>
              </a:ext>
            </a:extLst>
          </p:cNvPr>
          <p:cNvSpPr>
            <a:spLocks noGrp="1"/>
          </p:cNvSpPr>
          <p:nvPr>
            <p:ph idx="1"/>
          </p:nvPr>
        </p:nvSpPr>
        <p:spPr>
          <a:xfrm>
            <a:off x="838200" y="1462088"/>
            <a:ext cx="10783186" cy="4530725"/>
          </a:xfrm>
        </p:spPr>
        <p:txBody>
          <a:bodyPr>
            <a:noAutofit/>
          </a:bodyPr>
          <a:lstStyle/>
          <a:p>
            <a:pPr>
              <a:lnSpc>
                <a:spcPct val="120000"/>
              </a:lnSpc>
            </a:pPr>
            <a:r>
              <a:rPr lang="en-US" altLang="zh-CN" sz="1400" b="1" dirty="0"/>
              <a:t>W</a:t>
            </a:r>
            <a:r>
              <a:rPr lang="en-GB" sz="1400" b="1" dirty="0"/>
              <a:t>hat problem</a:t>
            </a:r>
            <a:r>
              <a:rPr lang="en-US" altLang="zh-CN" sz="1400" b="1" dirty="0"/>
              <a:t>?</a:t>
            </a:r>
          </a:p>
          <a:p>
            <a:pPr lvl="1"/>
            <a:r>
              <a:rPr lang="en-US" altLang="zh-CN" sz="1400" b="1" dirty="0"/>
              <a:t>Main</a:t>
            </a:r>
            <a:r>
              <a:rPr lang="zh-CN" altLang="en-US" sz="1400" b="1" dirty="0"/>
              <a:t> </a:t>
            </a:r>
            <a:r>
              <a:rPr lang="en-US" altLang="zh-CN" sz="1400" b="1" dirty="0"/>
              <a:t>Framework:</a:t>
            </a:r>
            <a:r>
              <a:rPr lang="zh-CN" altLang="en-US" sz="1400" b="1" dirty="0"/>
              <a:t> </a:t>
            </a:r>
            <a:r>
              <a:rPr lang="en-GB" sz="1400" dirty="0"/>
              <a:t>distributed edge nodes</a:t>
            </a:r>
            <a:r>
              <a:rPr lang="zh-CN" altLang="en-US" sz="1400" dirty="0"/>
              <a:t> </a:t>
            </a:r>
            <a:r>
              <a:rPr lang="en-US" altLang="zh-CN" sz="1400" dirty="0"/>
              <a:t>+</a:t>
            </a:r>
            <a:r>
              <a:rPr lang="zh-CN" altLang="en-US" sz="1400" dirty="0"/>
              <a:t> </a:t>
            </a:r>
            <a:r>
              <a:rPr lang="en-US" altLang="zh-CN" sz="1400" dirty="0"/>
              <a:t>cloud-based</a:t>
            </a:r>
            <a:r>
              <a:rPr lang="zh-CN" altLang="en-US" sz="1400" dirty="0"/>
              <a:t> </a:t>
            </a:r>
            <a:r>
              <a:rPr lang="en-US" altLang="zh-CN" sz="1400" dirty="0"/>
              <a:t>AI</a:t>
            </a:r>
            <a:r>
              <a:rPr lang="zh-CN" altLang="en-US" sz="1400" dirty="0"/>
              <a:t> </a:t>
            </a:r>
            <a:r>
              <a:rPr lang="en-US" altLang="zh-CN" sz="1400" dirty="0"/>
              <a:t>applications.</a:t>
            </a:r>
          </a:p>
          <a:p>
            <a:pPr lvl="1"/>
            <a:r>
              <a:rPr lang="en-US" altLang="zh-CN" sz="1400" b="1" dirty="0"/>
              <a:t>Edge-side:</a:t>
            </a:r>
            <a:r>
              <a:rPr lang="zh-CN" altLang="en-US" sz="1400" b="1" dirty="0"/>
              <a:t> </a:t>
            </a:r>
            <a:r>
              <a:rPr lang="en-GB" sz="1400" dirty="0"/>
              <a:t>User image / text</a:t>
            </a:r>
            <a:r>
              <a:rPr lang="zh-CN" altLang="en-US" sz="1400" dirty="0"/>
              <a:t> </a:t>
            </a:r>
            <a:r>
              <a:rPr lang="en-US" altLang="zh-CN" sz="1400" dirty="0"/>
              <a:t>-&gt;</a:t>
            </a:r>
            <a:r>
              <a:rPr lang="zh-CN" altLang="en-US" sz="1400" dirty="0"/>
              <a:t> </a:t>
            </a:r>
            <a:r>
              <a:rPr lang="en-GB" sz="1400" dirty="0"/>
              <a:t>Encoder</a:t>
            </a:r>
            <a:r>
              <a:rPr lang="zh-CN" altLang="en-US" sz="1400" dirty="0"/>
              <a:t> </a:t>
            </a:r>
            <a:r>
              <a:rPr lang="en-US" altLang="zh-CN" sz="1400" dirty="0"/>
              <a:t>-&gt;</a:t>
            </a:r>
            <a:r>
              <a:rPr lang="zh-CN" altLang="en-US" sz="1400" dirty="0"/>
              <a:t> </a:t>
            </a:r>
            <a:r>
              <a:rPr lang="en-GB" sz="1400" dirty="0"/>
              <a:t>Embedding</a:t>
            </a:r>
            <a:r>
              <a:rPr lang="zh-CN" altLang="en-US" sz="1400" dirty="0"/>
              <a:t> </a:t>
            </a:r>
            <a:endParaRPr lang="en-US" altLang="zh-CN" sz="1400" dirty="0"/>
          </a:p>
          <a:p>
            <a:pPr lvl="1"/>
            <a:r>
              <a:rPr lang="en-US" altLang="zh-CN" sz="1400" b="1" dirty="0"/>
              <a:t>Cloud–side:</a:t>
            </a:r>
            <a:r>
              <a:rPr lang="zh-CN" altLang="en-US" sz="1400" b="1" dirty="0"/>
              <a:t> </a:t>
            </a:r>
            <a:r>
              <a:rPr lang="en-GB" sz="1400" dirty="0"/>
              <a:t>Cloud retrieval / matching</a:t>
            </a:r>
            <a:r>
              <a:rPr lang="zh-CN" altLang="en-US" sz="1400" dirty="0"/>
              <a:t> </a:t>
            </a:r>
            <a:r>
              <a:rPr lang="en-US" altLang="zh-CN" sz="1400" dirty="0"/>
              <a:t>-&gt;</a:t>
            </a:r>
            <a:r>
              <a:rPr lang="zh-CN" altLang="en-US" sz="1400" dirty="0"/>
              <a:t> </a:t>
            </a:r>
            <a:r>
              <a:rPr lang="en-GB" sz="1400" dirty="0"/>
              <a:t>Return relevant image</a:t>
            </a:r>
            <a:r>
              <a:rPr lang="en-US" altLang="zh-CN" sz="1400" dirty="0"/>
              <a:t>/text</a:t>
            </a:r>
            <a:r>
              <a:rPr lang="zh-CN" altLang="en-US" sz="1400" dirty="0"/>
              <a:t> </a:t>
            </a:r>
            <a:r>
              <a:rPr lang="en-US" altLang="zh-CN" sz="1400" dirty="0"/>
              <a:t>result</a:t>
            </a:r>
            <a:endParaRPr lang="en-GB" sz="1400" dirty="0"/>
          </a:p>
          <a:p>
            <a:pPr lvl="1"/>
            <a:r>
              <a:rPr lang="en-US" altLang="zh-CN" sz="1400" b="1" dirty="0"/>
              <a:t>Context:</a:t>
            </a:r>
            <a:r>
              <a:rPr lang="zh-CN" altLang="en-US" sz="1400" b="1" dirty="0"/>
              <a:t> </a:t>
            </a:r>
            <a:r>
              <a:rPr lang="en-GB" sz="1400" dirty="0"/>
              <a:t>Raw image, text, or embedding may contain private information.</a:t>
            </a:r>
          </a:p>
          <a:p>
            <a:pPr lvl="1"/>
            <a:r>
              <a:rPr lang="en-US" altLang="zh-CN" sz="1400" b="1" dirty="0"/>
              <a:t>Used</a:t>
            </a:r>
            <a:r>
              <a:rPr lang="zh-CN" altLang="en-US" sz="1400" b="1" dirty="0"/>
              <a:t> </a:t>
            </a:r>
            <a:r>
              <a:rPr lang="en-US" altLang="zh-CN" sz="1400" b="1" dirty="0"/>
              <a:t>for:</a:t>
            </a:r>
            <a:r>
              <a:rPr lang="zh-CN" altLang="en-US" sz="1400" b="1" dirty="0"/>
              <a:t> </a:t>
            </a:r>
            <a:r>
              <a:rPr lang="en-GB" sz="1400" dirty="0"/>
              <a:t>medical image retrieval</a:t>
            </a:r>
            <a:r>
              <a:rPr lang="en-US" altLang="zh-CN" sz="1400" dirty="0"/>
              <a:t>,</a:t>
            </a:r>
            <a:r>
              <a:rPr lang="zh-CN" altLang="en-US" sz="1400" dirty="0"/>
              <a:t> </a:t>
            </a:r>
            <a:r>
              <a:rPr lang="en-GB" sz="1400" dirty="0"/>
              <a:t>privacy-conscious customer service bots</a:t>
            </a:r>
            <a:r>
              <a:rPr lang="en-US" altLang="zh-CN" sz="1400" dirty="0"/>
              <a:t>.</a:t>
            </a:r>
          </a:p>
          <a:p>
            <a:r>
              <a:rPr lang="en-US" altLang="zh-CN" sz="1400" b="1" dirty="0"/>
              <a:t>W</a:t>
            </a:r>
            <a:r>
              <a:rPr lang="en-GB" sz="1400" b="1" dirty="0"/>
              <a:t>hat method</a:t>
            </a:r>
            <a:r>
              <a:rPr lang="zh-CN" altLang="en-US" sz="1400" b="1" dirty="0"/>
              <a:t> </a:t>
            </a:r>
            <a:r>
              <a:rPr lang="en-US" altLang="zh-CN" sz="1400" b="1" dirty="0"/>
              <a:t>(Main</a:t>
            </a:r>
            <a:r>
              <a:rPr lang="zh-CN" altLang="en-US" sz="1400" b="1" dirty="0"/>
              <a:t> </a:t>
            </a:r>
            <a:r>
              <a:rPr lang="en-US" altLang="zh-CN" sz="1400" b="1" dirty="0"/>
              <a:t>Idea)?</a:t>
            </a:r>
          </a:p>
          <a:p>
            <a:pPr lvl="1">
              <a:lnSpc>
                <a:spcPct val="120000"/>
              </a:lnSpc>
            </a:pPr>
            <a:r>
              <a:rPr lang="en-US" altLang="zh-CN" sz="1400" dirty="0"/>
              <a:t>Present</a:t>
            </a:r>
            <a:r>
              <a:rPr lang="zh-CN" altLang="en-US" sz="1400" dirty="0"/>
              <a:t> </a:t>
            </a:r>
            <a:r>
              <a:rPr lang="en-US" altLang="zh-CN" sz="1400" dirty="0"/>
              <a:t>PMIRS,</a:t>
            </a:r>
            <a:r>
              <a:rPr lang="zh-CN" altLang="en-US" sz="1400" dirty="0"/>
              <a:t> </a:t>
            </a:r>
            <a:r>
              <a:rPr lang="en-US" altLang="zh-CN" sz="1400" dirty="0"/>
              <a:t>a</a:t>
            </a:r>
            <a:r>
              <a:rPr lang="zh-CN" altLang="en-US" sz="1400" dirty="0"/>
              <a:t> </a:t>
            </a:r>
            <a:r>
              <a:rPr lang="en-US" altLang="zh-CN" sz="1400" dirty="0"/>
              <a:t>system</a:t>
            </a:r>
            <a:r>
              <a:rPr lang="zh-CN" altLang="en-US" sz="1400" dirty="0"/>
              <a:t> </a:t>
            </a:r>
            <a:r>
              <a:rPr lang="en-US" altLang="zh-CN" sz="1400" dirty="0"/>
              <a:t>Combinates</a:t>
            </a:r>
            <a:r>
              <a:rPr lang="zh-CN" altLang="en-US" sz="1400" dirty="0"/>
              <a:t> </a:t>
            </a:r>
            <a:r>
              <a:rPr lang="en-US" altLang="zh-CN" sz="1400" dirty="0"/>
              <a:t>obfuscation</a:t>
            </a:r>
            <a:r>
              <a:rPr lang="zh-CN" altLang="en-US" sz="1400" dirty="0"/>
              <a:t> </a:t>
            </a:r>
            <a:r>
              <a:rPr lang="en-US" altLang="zh-CN" sz="1400" dirty="0"/>
              <a:t>techniques</a:t>
            </a:r>
            <a:r>
              <a:rPr lang="zh-CN" altLang="en-US" sz="1400" dirty="0"/>
              <a:t> </a:t>
            </a:r>
            <a:r>
              <a:rPr lang="en-US" altLang="zh-CN" sz="1400" dirty="0"/>
              <a:t>(</a:t>
            </a:r>
            <a:r>
              <a:rPr lang="en-GB" sz="1400" dirty="0"/>
              <a:t>block-wise projection</a:t>
            </a:r>
            <a:r>
              <a:rPr lang="en-US" altLang="zh-CN" sz="1400" dirty="0"/>
              <a:t>),</a:t>
            </a:r>
            <a:r>
              <a:rPr lang="zh-CN" altLang="en-US" sz="1400" dirty="0"/>
              <a:t> </a:t>
            </a:r>
            <a:r>
              <a:rPr lang="en-US" altLang="zh-CN" sz="1400" dirty="0"/>
              <a:t>encrypted</a:t>
            </a:r>
            <a:r>
              <a:rPr lang="zh-CN" altLang="en-US" sz="1400" dirty="0"/>
              <a:t> </a:t>
            </a:r>
            <a:r>
              <a:rPr lang="en-US" altLang="zh-CN" sz="1400" dirty="0"/>
              <a:t>inference</a:t>
            </a:r>
            <a:r>
              <a:rPr lang="zh-CN" altLang="en-US" sz="1400" dirty="0"/>
              <a:t> </a:t>
            </a:r>
            <a:r>
              <a:rPr lang="en-US" altLang="zh-CN" sz="1400" dirty="0"/>
              <a:t>(AES</a:t>
            </a:r>
            <a:r>
              <a:rPr lang="zh-CN" altLang="en-US" sz="1400" dirty="0"/>
              <a:t> </a:t>
            </a:r>
            <a:r>
              <a:rPr lang="en-US" altLang="zh-CN" sz="1400" dirty="0"/>
              <a:t>+</a:t>
            </a:r>
            <a:r>
              <a:rPr lang="zh-CN" altLang="en-US" sz="1400" dirty="0"/>
              <a:t> </a:t>
            </a:r>
            <a:r>
              <a:rPr lang="en-US" altLang="zh-CN" sz="1400" dirty="0"/>
              <a:t>CBC</a:t>
            </a:r>
            <a:r>
              <a:rPr lang="zh-CN" altLang="en-US" sz="1400" dirty="0"/>
              <a:t> </a:t>
            </a:r>
            <a:r>
              <a:rPr lang="en-US" altLang="zh-CN" sz="1400" dirty="0"/>
              <a:t>1</a:t>
            </a:r>
            <a:r>
              <a:rPr lang="en-GB" sz="1400" dirty="0"/>
              <a:t>28-bit keys</a:t>
            </a:r>
            <a:r>
              <a:rPr lang="en-US" altLang="zh-CN" sz="1400" dirty="0"/>
              <a:t>),</a:t>
            </a:r>
            <a:r>
              <a:rPr lang="zh-CN" altLang="en-US" sz="1400" dirty="0"/>
              <a:t> </a:t>
            </a:r>
            <a:r>
              <a:rPr lang="en-GB" sz="1400" dirty="0"/>
              <a:t>secure</a:t>
            </a:r>
            <a:r>
              <a:rPr lang="zh-CN" altLang="en-US" sz="1400" dirty="0"/>
              <a:t> </a:t>
            </a:r>
            <a:r>
              <a:rPr lang="en-US" altLang="zh-CN" sz="1400" dirty="0"/>
              <a:t>key</a:t>
            </a:r>
            <a:r>
              <a:rPr lang="zh-CN" altLang="en-US" sz="1400" dirty="0"/>
              <a:t> </a:t>
            </a:r>
            <a:r>
              <a:rPr lang="en-US" altLang="zh-CN" sz="1400" dirty="0"/>
              <a:t>management</a:t>
            </a:r>
            <a:r>
              <a:rPr lang="zh-CN" altLang="en-US" sz="1400" dirty="0"/>
              <a:t> </a:t>
            </a:r>
            <a:r>
              <a:rPr lang="en-US" altLang="zh-CN" sz="1400" dirty="0"/>
              <a:t>(</a:t>
            </a:r>
            <a:r>
              <a:rPr lang="en-GB" sz="1400" dirty="0"/>
              <a:t>Diffie-Hellman</a:t>
            </a:r>
            <a:r>
              <a:rPr lang="en-US" altLang="zh-CN" sz="1400" dirty="0"/>
              <a:t>)</a:t>
            </a:r>
            <a:r>
              <a:rPr lang="zh-CN" altLang="en-US" sz="1400" dirty="0"/>
              <a:t>  </a:t>
            </a:r>
            <a:r>
              <a:rPr lang="en-US" altLang="zh-CN" sz="1400" dirty="0"/>
              <a:t>+</a:t>
            </a:r>
            <a:r>
              <a:rPr lang="zh-CN" altLang="en-US" sz="1400" dirty="0"/>
              <a:t> </a:t>
            </a:r>
            <a:r>
              <a:rPr lang="en-US" altLang="zh-CN" sz="1400" dirty="0"/>
              <a:t>federated</a:t>
            </a:r>
            <a:r>
              <a:rPr lang="zh-CN" altLang="en-US" sz="1400" dirty="0"/>
              <a:t> </a:t>
            </a:r>
            <a:r>
              <a:rPr lang="en-US" altLang="zh-CN" sz="1400" dirty="0"/>
              <a:t>learning.</a:t>
            </a:r>
            <a:r>
              <a:rPr lang="zh-CN" altLang="en-US" sz="1400" dirty="0"/>
              <a:t> </a:t>
            </a:r>
            <a:endParaRPr lang="en-GB" altLang="zh-CN" sz="1400" dirty="0"/>
          </a:p>
          <a:p>
            <a:pPr lvl="1">
              <a:lnSpc>
                <a:spcPct val="120000"/>
              </a:lnSpc>
            </a:pPr>
            <a:r>
              <a:rPr lang="en-GB" sz="1400" dirty="0"/>
              <a:t>In the training phase, using Federated learning for Privacy-Preserving Training, which improves the F1-score and precision of the model without user-sensitive data.  In the inference phase, combining obfuscation techniques, encrypted techniques (AES + CBC) and DH for secure key management.</a:t>
            </a:r>
            <a:endParaRPr lang="en-GB" altLang="zh-CN" sz="1400" dirty="0"/>
          </a:p>
        </p:txBody>
      </p:sp>
      <p:sp>
        <p:nvSpPr>
          <p:cNvPr id="4" name="Footer Placeholder 3">
            <a:extLst>
              <a:ext uri="{FF2B5EF4-FFF2-40B4-BE49-F238E27FC236}">
                <a16:creationId xmlns:a16="http://schemas.microsoft.com/office/drawing/2014/main" id="{E95F6BB6-488C-819E-0492-AB04D9C6336A}"/>
              </a:ext>
            </a:extLst>
          </p:cNvPr>
          <p:cNvSpPr>
            <a:spLocks noGrp="1"/>
          </p:cNvSpPr>
          <p:nvPr>
            <p:ph type="ftr" sz="quarter" idx="11"/>
          </p:nvPr>
        </p:nvSpPr>
        <p:spPr/>
        <p:txBody>
          <a:bodyPr/>
          <a:lstStyle/>
          <a:p>
            <a:r>
              <a:rPr lang="en-US" dirty="0"/>
              <a:t>https://</a:t>
            </a:r>
            <a:r>
              <a:rPr lang="en-US" dirty="0" err="1"/>
              <a:t>www.nature.com</a:t>
            </a:r>
            <a:r>
              <a:rPr lang="en-US" dirty="0"/>
              <a:t>/articles/s41598-026-40734-w</a:t>
            </a:r>
          </a:p>
        </p:txBody>
      </p:sp>
    </p:spTree>
    <p:extLst>
      <p:ext uri="{BB962C8B-B14F-4D97-AF65-F5344CB8AC3E}">
        <p14:creationId xmlns:p14="http://schemas.microsoft.com/office/powerpoint/2010/main" val="2621794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F908C-28C7-6B0F-B44D-D2DA2C3C6071}"/>
              </a:ext>
            </a:extLst>
          </p:cNvPr>
          <p:cNvSpPr>
            <a:spLocks noGrp="1"/>
          </p:cNvSpPr>
          <p:nvPr>
            <p:ph type="title"/>
          </p:nvPr>
        </p:nvSpPr>
        <p:spPr/>
        <p:txBody>
          <a:bodyPr>
            <a:normAutofit fontScale="90000"/>
          </a:bodyPr>
          <a:lstStyle/>
          <a:p>
            <a:r>
              <a:rPr lang="en-GB" b="1" dirty="0"/>
              <a:t>A privacy-preserving multi-user retrieval system for multimodal artificial intelligence</a:t>
            </a:r>
            <a:r>
              <a:rPr lang="zh-CN" altLang="en-US" b="1" dirty="0"/>
              <a:t> </a:t>
            </a:r>
            <a:r>
              <a:rPr lang="en-US" altLang="zh-CN" b="1" dirty="0"/>
              <a:t>-</a:t>
            </a:r>
            <a:r>
              <a:rPr lang="zh-CN" altLang="en-US" b="1" dirty="0"/>
              <a:t> </a:t>
            </a:r>
            <a:r>
              <a:rPr lang="en-US" altLang="zh-CN" b="1" dirty="0"/>
              <a:t>2</a:t>
            </a:r>
            <a:endParaRPr lang="en-US" dirty="0"/>
          </a:p>
        </p:txBody>
      </p:sp>
      <p:sp>
        <p:nvSpPr>
          <p:cNvPr id="3" name="Content Placeholder 2">
            <a:extLst>
              <a:ext uri="{FF2B5EF4-FFF2-40B4-BE49-F238E27FC236}">
                <a16:creationId xmlns:a16="http://schemas.microsoft.com/office/drawing/2014/main" id="{8F04DE2E-D81A-FC94-4DA8-8CE8BD15DED1}"/>
              </a:ext>
            </a:extLst>
          </p:cNvPr>
          <p:cNvSpPr>
            <a:spLocks noGrp="1"/>
          </p:cNvSpPr>
          <p:nvPr>
            <p:ph idx="1"/>
          </p:nvPr>
        </p:nvSpPr>
        <p:spPr/>
        <p:txBody>
          <a:bodyPr>
            <a:normAutofit/>
          </a:bodyPr>
          <a:lstStyle/>
          <a:p>
            <a:pPr>
              <a:lnSpc>
                <a:spcPct val="120000"/>
              </a:lnSpc>
            </a:pPr>
            <a:r>
              <a:rPr lang="en-US" altLang="zh-CN" sz="1400" b="1" dirty="0"/>
              <a:t>Threat</a:t>
            </a:r>
            <a:r>
              <a:rPr lang="zh-CN" altLang="en-US" sz="1400" b="1" dirty="0"/>
              <a:t> </a:t>
            </a:r>
            <a:r>
              <a:rPr lang="en-US" altLang="zh-CN" sz="1400" b="1" dirty="0"/>
              <a:t>Model</a:t>
            </a:r>
            <a:r>
              <a:rPr lang="en-US" altLang="zh-CN" sz="1400" dirty="0"/>
              <a:t>:</a:t>
            </a:r>
            <a:r>
              <a:rPr lang="zh-CN" altLang="en-US" sz="1400" dirty="0"/>
              <a:t> </a:t>
            </a:r>
            <a:r>
              <a:rPr lang="en-GB" sz="1400" dirty="0"/>
              <a:t>The threat model assumes that the cloud server is not fully trusted</a:t>
            </a:r>
            <a:r>
              <a:rPr lang="en-US" altLang="zh-CN" sz="1400" dirty="0"/>
              <a:t>.</a:t>
            </a:r>
          </a:p>
          <a:p>
            <a:r>
              <a:rPr lang="en-US" altLang="zh-CN" sz="1400" b="1" dirty="0"/>
              <a:t>Framework</a:t>
            </a:r>
            <a:r>
              <a:rPr lang="zh-CN" altLang="en-US" sz="1400" b="1" dirty="0"/>
              <a:t> </a:t>
            </a:r>
            <a:r>
              <a:rPr lang="en-US" altLang="zh-CN" sz="1400" b="1" dirty="0"/>
              <a:t>Design:</a:t>
            </a:r>
            <a:r>
              <a:rPr lang="zh-CN" altLang="en-US" sz="1400" b="1" dirty="0"/>
              <a:t> </a:t>
            </a:r>
            <a:endParaRPr lang="en-US" altLang="zh-CN" sz="1400" b="1" dirty="0"/>
          </a:p>
          <a:p>
            <a:r>
              <a:rPr lang="en-US" altLang="zh-CN" sz="1400" b="1" dirty="0"/>
              <a:t>Component</a:t>
            </a:r>
            <a:r>
              <a:rPr lang="zh-CN" altLang="en-US" sz="1400" b="1" dirty="0"/>
              <a:t> </a:t>
            </a:r>
            <a:r>
              <a:rPr lang="en-US" altLang="zh-CN" sz="1400" b="1" dirty="0"/>
              <a:t>Selection:</a:t>
            </a:r>
          </a:p>
          <a:p>
            <a:pPr lvl="1"/>
            <a:r>
              <a:rPr lang="en-US" altLang="zh-CN" sz="1400" dirty="0"/>
              <a:t>A</a:t>
            </a:r>
            <a:r>
              <a:rPr lang="zh-CN" altLang="en-US" sz="1400" dirty="0"/>
              <a:t> </a:t>
            </a:r>
            <a:r>
              <a:rPr lang="en-US" altLang="zh-CN" sz="1400" dirty="0"/>
              <a:t>lightweight</a:t>
            </a:r>
            <a:r>
              <a:rPr lang="zh-CN" altLang="en-US" sz="1400" dirty="0"/>
              <a:t> </a:t>
            </a:r>
            <a:r>
              <a:rPr lang="en-US" altLang="zh-CN" sz="1400" dirty="0"/>
              <a:t>model</a:t>
            </a:r>
            <a:r>
              <a:rPr lang="zh-CN" altLang="en-US" sz="1400" dirty="0"/>
              <a:t> </a:t>
            </a:r>
            <a:r>
              <a:rPr lang="en-US" altLang="zh-CN" sz="1400" dirty="0"/>
              <a:t>based</a:t>
            </a:r>
            <a:r>
              <a:rPr lang="zh-CN" altLang="en-US" sz="1400" dirty="0"/>
              <a:t> </a:t>
            </a:r>
            <a:r>
              <a:rPr lang="en-US" altLang="zh-CN" sz="1400" dirty="0"/>
              <a:t>on</a:t>
            </a:r>
            <a:r>
              <a:rPr lang="zh-CN" altLang="en-US" sz="1400" dirty="0"/>
              <a:t> </a:t>
            </a:r>
            <a:r>
              <a:rPr lang="en-US" altLang="zh-CN" sz="1400" dirty="0"/>
              <a:t>the</a:t>
            </a:r>
            <a:r>
              <a:rPr lang="zh-CN" altLang="en-US" sz="1400" dirty="0"/>
              <a:t> </a:t>
            </a:r>
            <a:r>
              <a:rPr lang="en-US" altLang="zh-CN" sz="1400" dirty="0"/>
              <a:t>CLIP</a:t>
            </a:r>
            <a:r>
              <a:rPr lang="zh-CN" altLang="en-US" sz="1400" dirty="0"/>
              <a:t> </a:t>
            </a:r>
            <a:r>
              <a:rPr lang="en-US" altLang="zh-CN" sz="1400" dirty="0"/>
              <a:t>codebase.</a:t>
            </a:r>
            <a:r>
              <a:rPr lang="zh-CN" altLang="en-US" sz="1400" dirty="0"/>
              <a:t> </a:t>
            </a:r>
            <a:r>
              <a:rPr lang="en-US" altLang="zh-CN" sz="1400" dirty="0"/>
              <a:t>(Pre-trained</a:t>
            </a:r>
            <a:r>
              <a:rPr lang="zh-CN" altLang="en-US" sz="1400" dirty="0"/>
              <a:t> </a:t>
            </a:r>
            <a:r>
              <a:rPr lang="en-US" altLang="zh-CN" sz="1400" dirty="0"/>
              <a:t>model</a:t>
            </a:r>
            <a:r>
              <a:rPr lang="zh-CN" altLang="en-US" sz="1400" dirty="0"/>
              <a:t> </a:t>
            </a:r>
            <a:r>
              <a:rPr lang="en-US" altLang="zh-CN" sz="1400" dirty="0"/>
              <a:t>and</a:t>
            </a:r>
            <a:r>
              <a:rPr lang="zh-CN" altLang="en-US" sz="1400" dirty="0"/>
              <a:t> </a:t>
            </a:r>
            <a:r>
              <a:rPr lang="en-US" altLang="zh-CN" sz="1400" dirty="0"/>
              <a:t>fine-tuned)</a:t>
            </a:r>
            <a:r>
              <a:rPr lang="zh-CN" altLang="en-US" sz="1400" dirty="0"/>
              <a:t> </a:t>
            </a:r>
            <a:endParaRPr lang="en-US" altLang="zh-CN" sz="1400" dirty="0"/>
          </a:p>
          <a:p>
            <a:pPr lvl="1"/>
            <a:r>
              <a:rPr lang="en-US" altLang="zh-CN" sz="1400" dirty="0"/>
              <a:t>Encryption</a:t>
            </a:r>
            <a:r>
              <a:rPr lang="zh-CN" altLang="en-US" sz="1400" dirty="0"/>
              <a:t> </a:t>
            </a:r>
            <a:r>
              <a:rPr lang="en-US" altLang="zh-CN" sz="1400" dirty="0"/>
              <a:t>Algorithm</a:t>
            </a:r>
            <a:r>
              <a:rPr lang="zh-CN" altLang="en-US" sz="1400" dirty="0"/>
              <a:t> </a:t>
            </a:r>
            <a:r>
              <a:rPr lang="en-US" altLang="zh-CN" sz="1400" dirty="0"/>
              <a:t>:</a:t>
            </a:r>
            <a:r>
              <a:rPr lang="zh-CN" altLang="en-US" sz="1400" dirty="0"/>
              <a:t> </a:t>
            </a:r>
            <a:r>
              <a:rPr lang="en-US" altLang="zh-CN" sz="1400" dirty="0"/>
              <a:t>AES-CBC</a:t>
            </a:r>
            <a:r>
              <a:rPr lang="zh-CN" altLang="en-US" sz="1400" dirty="0"/>
              <a:t> </a:t>
            </a:r>
            <a:r>
              <a:rPr lang="en-US" altLang="zh-CN" sz="1400" dirty="0"/>
              <a:t>128</a:t>
            </a:r>
            <a:r>
              <a:rPr lang="zh-CN" altLang="en-US" sz="1400" dirty="0"/>
              <a:t> </a:t>
            </a:r>
            <a:r>
              <a:rPr lang="en-US" altLang="zh-CN" sz="1400" dirty="0"/>
              <a:t>bits,</a:t>
            </a:r>
            <a:r>
              <a:rPr lang="zh-CN" altLang="en-US" sz="1400" dirty="0"/>
              <a:t>                                      </a:t>
            </a:r>
            <a:endParaRPr lang="en-GB" altLang="zh-CN" sz="1400" dirty="0"/>
          </a:p>
          <a:p>
            <a:pPr lvl="1"/>
            <a:r>
              <a:rPr lang="en-GB" sz="1400" b="1" dirty="0"/>
              <a:t>Fine-tuning method: </a:t>
            </a:r>
            <a:r>
              <a:rPr lang="en-GB" sz="1400" dirty="0"/>
              <a:t>Federated Learning</a:t>
            </a:r>
            <a:r>
              <a:rPr lang="zh-CN" altLang="en-US" sz="1400" dirty="0"/>
              <a:t> </a:t>
            </a:r>
            <a:r>
              <a:rPr lang="en-US" altLang="zh-CN" sz="1400" dirty="0"/>
              <a:t>(Upload</a:t>
            </a:r>
            <a:r>
              <a:rPr lang="zh-CN" altLang="en-US" sz="1400" dirty="0"/>
              <a:t> </a:t>
            </a:r>
            <a:r>
              <a:rPr lang="en-US" altLang="zh-CN" sz="1400" dirty="0"/>
              <a:t>weights</a:t>
            </a:r>
            <a:r>
              <a:rPr lang="zh-CN" altLang="en-US" sz="1400" dirty="0"/>
              <a:t> </a:t>
            </a:r>
            <a:r>
              <a:rPr lang="en-US" altLang="zh-CN" sz="1400" dirty="0"/>
              <a:t>with</a:t>
            </a:r>
            <a:r>
              <a:rPr lang="zh-CN" altLang="en-US" sz="1400" dirty="0"/>
              <a:t> </a:t>
            </a:r>
            <a:r>
              <a:rPr lang="en-US" altLang="zh-CN" sz="1400" dirty="0"/>
              <a:t>AES</a:t>
            </a:r>
            <a:r>
              <a:rPr lang="zh-CN" altLang="en-US" sz="1400" dirty="0"/>
              <a:t> </a:t>
            </a:r>
            <a:r>
              <a:rPr lang="en-US" altLang="zh-CN" sz="1400" dirty="0"/>
              <a:t>Encryption)</a:t>
            </a:r>
            <a:endParaRPr lang="en-GB" altLang="zh-CN" sz="1400" dirty="0"/>
          </a:p>
          <a:p>
            <a:pPr>
              <a:lnSpc>
                <a:spcPct val="100000"/>
              </a:lnSpc>
            </a:pPr>
            <a:r>
              <a:rPr lang="en-US" altLang="zh-CN" sz="1400" b="1" dirty="0"/>
              <a:t>Evaluation:</a:t>
            </a:r>
          </a:p>
          <a:p>
            <a:pPr lvl="1">
              <a:lnSpc>
                <a:spcPct val="100000"/>
              </a:lnSpc>
            </a:pPr>
            <a:r>
              <a:rPr lang="en-GB" sz="1400" dirty="0"/>
              <a:t>Simulated cloud-based LLM environment </a:t>
            </a:r>
          </a:p>
          <a:p>
            <a:pPr lvl="1">
              <a:lnSpc>
                <a:spcPct val="100000"/>
              </a:lnSpc>
            </a:pPr>
            <a:r>
              <a:rPr lang="en-US" altLang="zh-CN" sz="1400" dirty="0"/>
              <a:t>F1-score</a:t>
            </a:r>
          </a:p>
          <a:p>
            <a:pPr>
              <a:lnSpc>
                <a:spcPct val="100000"/>
              </a:lnSpc>
            </a:pPr>
            <a:r>
              <a:rPr lang="en-US" altLang="zh-CN" sz="1400" b="1" dirty="0"/>
              <a:t>Data</a:t>
            </a:r>
            <a:r>
              <a:rPr lang="zh-CN" altLang="en-US" sz="1400" b="1" dirty="0"/>
              <a:t> </a:t>
            </a:r>
            <a:r>
              <a:rPr lang="en-US" altLang="zh-CN" sz="1400" b="1" dirty="0"/>
              <a:t>Set:</a:t>
            </a:r>
          </a:p>
          <a:p>
            <a:pPr lvl="1">
              <a:lnSpc>
                <a:spcPct val="100000"/>
              </a:lnSpc>
            </a:pPr>
            <a:r>
              <a:rPr lang="en-GB" altLang="zh-CN" sz="1400" dirty="0"/>
              <a:t>ImageNet</a:t>
            </a:r>
            <a:endParaRPr lang="en-US" altLang="zh-CN" sz="1400" dirty="0"/>
          </a:p>
          <a:p>
            <a:pPr>
              <a:lnSpc>
                <a:spcPct val="100000"/>
              </a:lnSpc>
            </a:pPr>
            <a:endParaRPr lang="en-US" sz="1400" dirty="0"/>
          </a:p>
        </p:txBody>
      </p:sp>
      <p:sp>
        <p:nvSpPr>
          <p:cNvPr id="4" name="Footer Placeholder 3">
            <a:extLst>
              <a:ext uri="{FF2B5EF4-FFF2-40B4-BE49-F238E27FC236}">
                <a16:creationId xmlns:a16="http://schemas.microsoft.com/office/drawing/2014/main" id="{5EA341F8-C67F-B0B7-7EF7-16F1814F28D8}"/>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4138975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F47D-19A6-CBF7-155E-C22C0B9CEB17}"/>
              </a:ext>
            </a:extLst>
          </p:cNvPr>
          <p:cNvSpPr>
            <a:spLocks noGrp="1"/>
          </p:cNvSpPr>
          <p:nvPr>
            <p:ph type="title"/>
          </p:nvPr>
        </p:nvSpPr>
        <p:spPr/>
        <p:txBody>
          <a:bodyPr>
            <a:normAutofit fontScale="90000"/>
          </a:bodyPr>
          <a:lstStyle/>
          <a:p>
            <a:r>
              <a:rPr lang="en-GB" b="1" dirty="0"/>
              <a:t>A privacy-preserving multi-user retrieval system for multimodal artificial intelligence</a:t>
            </a:r>
            <a:r>
              <a:rPr lang="zh-CN" altLang="en-US" b="1" dirty="0"/>
              <a:t> </a:t>
            </a:r>
            <a:r>
              <a:rPr lang="en-US" altLang="zh-CN" b="1" dirty="0"/>
              <a:t>-</a:t>
            </a:r>
            <a:r>
              <a:rPr lang="zh-CN" altLang="en-US" b="1" dirty="0"/>
              <a:t> </a:t>
            </a:r>
            <a:r>
              <a:rPr lang="en-US" altLang="zh-CN" b="1" dirty="0"/>
              <a:t>3</a:t>
            </a:r>
            <a:endParaRPr lang="en-US" dirty="0"/>
          </a:p>
        </p:txBody>
      </p:sp>
      <p:sp>
        <p:nvSpPr>
          <p:cNvPr id="3" name="Content Placeholder 2">
            <a:extLst>
              <a:ext uri="{FF2B5EF4-FFF2-40B4-BE49-F238E27FC236}">
                <a16:creationId xmlns:a16="http://schemas.microsoft.com/office/drawing/2014/main" id="{27F09DC5-3A9E-91B2-7AC9-A3742F077DAE}"/>
              </a:ext>
            </a:extLst>
          </p:cNvPr>
          <p:cNvSpPr>
            <a:spLocks noGrp="1"/>
          </p:cNvSpPr>
          <p:nvPr>
            <p:ph idx="1"/>
          </p:nvPr>
        </p:nvSpPr>
        <p:spPr/>
        <p:txBody>
          <a:bodyPr/>
          <a:lstStyle/>
          <a:p>
            <a:pPr>
              <a:lnSpc>
                <a:spcPct val="100000"/>
              </a:lnSpc>
            </a:pPr>
            <a:r>
              <a:rPr lang="en-US" altLang="zh-CN" sz="1400" b="1" dirty="0"/>
              <a:t>Limitations:</a:t>
            </a:r>
          </a:p>
          <a:p>
            <a:pPr lvl="1">
              <a:lnSpc>
                <a:spcPct val="100000"/>
              </a:lnSpc>
            </a:pPr>
            <a:r>
              <a:rPr lang="en-GB" sz="1400" dirty="0"/>
              <a:t>Although PMIRS presents a layered privacy-preserving design, its security architecture is not optimal. </a:t>
            </a:r>
          </a:p>
          <a:p>
            <a:pPr lvl="1">
              <a:lnSpc>
                <a:spcPct val="100000"/>
              </a:lnSpc>
            </a:pPr>
            <a:endParaRPr lang="en-GB" sz="1400" dirty="0"/>
          </a:p>
          <a:p>
            <a:pPr lvl="1">
              <a:lnSpc>
                <a:spcPct val="100000"/>
              </a:lnSpc>
            </a:pPr>
            <a:r>
              <a:rPr lang="en-GB" sz="1400" dirty="0"/>
              <a:t>First, the use of AES-CBC with 128-bit keys only provides confidentiality and does not offer built-in integrity protection. Without an authentication tag or MAC, encrypted embeddings may still be vulnerable to tampering or ciphertext manipulation. A modern authenticated encryption scheme such as AES-GCM or ChaCha20-Poly1305 would be more appropriate, especially for latency-sensitive edge or mobile environments. </a:t>
            </a:r>
          </a:p>
          <a:p>
            <a:pPr lvl="1">
              <a:lnSpc>
                <a:spcPct val="100000"/>
              </a:lnSpc>
            </a:pPr>
            <a:endParaRPr lang="en-GB" sz="1400" dirty="0"/>
          </a:p>
          <a:p>
            <a:pPr lvl="1">
              <a:lnSpc>
                <a:spcPct val="100000"/>
              </a:lnSpc>
            </a:pPr>
            <a:r>
              <a:rPr lang="en-GB" sz="1400" dirty="0"/>
              <a:t>Second, Diffie–Hellman is mainly a key agreement protocol rather than a complete authentication mechanism. If DH is performed for every session, it may introduce unnecessary computational and communication overhead, and without signatures or certificates, it may also be vulnerable to man-in-the-middle attacks. </a:t>
            </a:r>
          </a:p>
          <a:p>
            <a:pPr lvl="1">
              <a:lnSpc>
                <a:spcPct val="100000"/>
              </a:lnSpc>
            </a:pPr>
            <a:endParaRPr lang="en-GB" sz="1400" dirty="0"/>
          </a:p>
          <a:p>
            <a:pPr lvl="1">
              <a:lnSpc>
                <a:spcPct val="100000"/>
              </a:lnSpc>
            </a:pPr>
            <a:r>
              <a:rPr lang="en-GB" sz="1400" dirty="0"/>
              <a:t>Third, although federated learning reduces raw data exposure by keeping user data local, the system does not provide clear </a:t>
            </a:r>
            <a:r>
              <a:rPr lang="en-GB" sz="1400" dirty="0" err="1"/>
              <a:t>defenses</a:t>
            </a:r>
            <a:r>
              <a:rPr lang="en-GB" sz="1400" dirty="0"/>
              <a:t> against malicious clients. </a:t>
            </a:r>
            <a:endParaRPr lang="en-US" dirty="0"/>
          </a:p>
        </p:txBody>
      </p:sp>
      <p:sp>
        <p:nvSpPr>
          <p:cNvPr id="4" name="Footer Placeholder 3">
            <a:extLst>
              <a:ext uri="{FF2B5EF4-FFF2-40B4-BE49-F238E27FC236}">
                <a16:creationId xmlns:a16="http://schemas.microsoft.com/office/drawing/2014/main" id="{4346FEAA-DFC8-C950-105B-0334C349F279}"/>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3186421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CCCFF-AF7C-A08C-979A-4F8AB7D20C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D198E-1B51-0931-2D6A-D84BD3E2F704}"/>
              </a:ext>
            </a:extLst>
          </p:cNvPr>
          <p:cNvSpPr>
            <a:spLocks noGrp="1"/>
          </p:cNvSpPr>
          <p:nvPr>
            <p:ph type="title"/>
          </p:nvPr>
        </p:nvSpPr>
        <p:spPr/>
        <p:txBody>
          <a:bodyPr>
            <a:normAutofit fontScale="90000"/>
          </a:bodyPr>
          <a:lstStyle/>
          <a:p>
            <a:r>
              <a:rPr lang="en-GB" dirty="0"/>
              <a:t>Semantic Edge–Cloud Communication for Real-Time Urban Traffic Surveillance With </a:t>
            </a:r>
            <a:r>
              <a:rPr lang="en-GB" dirty="0" err="1"/>
              <a:t>ViT</a:t>
            </a:r>
            <a:r>
              <a:rPr lang="en-GB" dirty="0"/>
              <a:t> and LLMs Over Mobile Networks</a:t>
            </a:r>
            <a:endParaRPr lang="en-US" dirty="0"/>
          </a:p>
        </p:txBody>
      </p:sp>
      <p:sp>
        <p:nvSpPr>
          <p:cNvPr id="3" name="Content Placeholder 2">
            <a:extLst>
              <a:ext uri="{FF2B5EF4-FFF2-40B4-BE49-F238E27FC236}">
                <a16:creationId xmlns:a16="http://schemas.microsoft.com/office/drawing/2014/main" id="{1C5EA4C7-9A0E-A4EA-C634-88AF5FA70FB9}"/>
              </a:ext>
            </a:extLst>
          </p:cNvPr>
          <p:cNvSpPr>
            <a:spLocks noGrp="1"/>
          </p:cNvSpPr>
          <p:nvPr>
            <p:ph idx="1"/>
          </p:nvPr>
        </p:nvSpPr>
        <p:spPr/>
        <p:txBody>
          <a:bodyPr/>
          <a:lstStyle/>
          <a:p>
            <a:r>
              <a:rPr lang="en-GB" dirty="0"/>
              <a:t> The</a:t>
            </a:r>
            <a:r>
              <a:rPr lang="zh-CN" altLang="en-US" dirty="0"/>
              <a:t> </a:t>
            </a:r>
            <a:r>
              <a:rPr lang="en-US" altLang="zh-CN" dirty="0"/>
              <a:t>Literature</a:t>
            </a:r>
            <a:r>
              <a:rPr lang="zh-CN" altLang="en-US" dirty="0"/>
              <a:t> </a:t>
            </a:r>
            <a:r>
              <a:rPr lang="en-GB" dirty="0"/>
              <a:t>illustrates the proposed edge-cloud semantic communication pipeline, where YOLOv11 first extracts vehicle-centric area at the edge, </a:t>
            </a:r>
            <a:r>
              <a:rPr lang="en-GB" dirty="0" err="1"/>
              <a:t>ViT</a:t>
            </a:r>
            <a:r>
              <a:rPr lang="en-GB" dirty="0"/>
              <a:t> converts these area into compact embeddings for mobile network transmission, and the cloud reconstructs the images and uses </a:t>
            </a:r>
            <a:r>
              <a:rPr lang="en-GB" dirty="0" err="1"/>
              <a:t>LLaVA</a:t>
            </a:r>
            <a:r>
              <a:rPr lang="en-GB" dirty="0"/>
              <a:t> to generate traffic surveillance responses.</a:t>
            </a:r>
          </a:p>
          <a:p>
            <a:endParaRPr lang="en-GB" altLang="zh-CN" dirty="0"/>
          </a:p>
          <a:p>
            <a:endParaRPr lang="en-GB" altLang="zh-CN" dirty="0"/>
          </a:p>
          <a:p>
            <a:r>
              <a:rPr lang="en-US" altLang="zh-CN" dirty="0"/>
              <a:t>--</a:t>
            </a:r>
            <a:r>
              <a:rPr lang="zh-CN" altLang="en-US" dirty="0"/>
              <a:t> </a:t>
            </a:r>
            <a:r>
              <a:rPr lang="en-US" altLang="zh-CN" dirty="0"/>
              <a:t>Not</a:t>
            </a:r>
            <a:r>
              <a:rPr lang="zh-CN" altLang="en-US" dirty="0"/>
              <a:t> </a:t>
            </a:r>
            <a:r>
              <a:rPr lang="en-US" altLang="zh-CN" dirty="0"/>
              <a:t>Useful</a:t>
            </a:r>
            <a:r>
              <a:rPr lang="zh-CN" altLang="en-US" dirty="0"/>
              <a:t> </a:t>
            </a:r>
            <a:r>
              <a:rPr lang="en-US" altLang="zh-CN" dirty="0"/>
              <a:t>for</a:t>
            </a:r>
            <a:r>
              <a:rPr lang="zh-CN" altLang="en-US" dirty="0"/>
              <a:t> </a:t>
            </a:r>
            <a:r>
              <a:rPr lang="en-US" altLang="zh-CN" dirty="0"/>
              <a:t>my</a:t>
            </a:r>
            <a:r>
              <a:rPr lang="zh-CN" altLang="en-US" dirty="0"/>
              <a:t> </a:t>
            </a:r>
            <a:r>
              <a:rPr lang="en-US" altLang="zh-CN" dirty="0"/>
              <a:t>research</a:t>
            </a:r>
            <a:r>
              <a:rPr lang="zh-CN" altLang="en-US" dirty="0"/>
              <a:t> </a:t>
            </a:r>
            <a:r>
              <a:rPr lang="en-US" altLang="zh-CN" dirty="0"/>
              <a:t>topic.</a:t>
            </a:r>
          </a:p>
          <a:p>
            <a:endParaRPr lang="en-US" altLang="zh-CN" dirty="0"/>
          </a:p>
          <a:p>
            <a:endParaRPr lang="en-US" altLang="zh-CN" dirty="0"/>
          </a:p>
          <a:p>
            <a:endParaRPr lang="en-US" altLang="zh-CN" dirty="0"/>
          </a:p>
          <a:p>
            <a:endParaRPr lang="en-US" dirty="0"/>
          </a:p>
        </p:txBody>
      </p:sp>
      <p:sp>
        <p:nvSpPr>
          <p:cNvPr id="4" name="Footer Placeholder 3">
            <a:extLst>
              <a:ext uri="{FF2B5EF4-FFF2-40B4-BE49-F238E27FC236}">
                <a16:creationId xmlns:a16="http://schemas.microsoft.com/office/drawing/2014/main" id="{EFE73662-629B-12DB-0460-C549073664A8}"/>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1868540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0773E-0C59-C610-190B-B70A9C180C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B52E8-0A49-4FA9-FE34-E91042019973}"/>
              </a:ext>
            </a:extLst>
          </p:cNvPr>
          <p:cNvSpPr>
            <a:spLocks noGrp="1"/>
          </p:cNvSpPr>
          <p:nvPr>
            <p:ph type="title"/>
          </p:nvPr>
        </p:nvSpPr>
        <p:spPr/>
        <p:txBody>
          <a:bodyPr>
            <a:normAutofit/>
          </a:bodyPr>
          <a:lstStyle/>
          <a:p>
            <a:r>
              <a:rPr lang="en-GB" dirty="0"/>
              <a:t>Vision-Language Models for Edge Networks: A Comprehensive Survey</a:t>
            </a:r>
            <a:endParaRPr lang="en-US" dirty="0"/>
          </a:p>
        </p:txBody>
      </p:sp>
      <p:sp>
        <p:nvSpPr>
          <p:cNvPr id="3" name="Content Placeholder 2">
            <a:extLst>
              <a:ext uri="{FF2B5EF4-FFF2-40B4-BE49-F238E27FC236}">
                <a16:creationId xmlns:a16="http://schemas.microsoft.com/office/drawing/2014/main" id="{6B1841B7-8422-EDB0-7428-83D0A97B8BDD}"/>
              </a:ext>
            </a:extLst>
          </p:cNvPr>
          <p:cNvSpPr>
            <a:spLocks noGrp="1"/>
          </p:cNvSpPr>
          <p:nvPr>
            <p:ph idx="1"/>
          </p:nvPr>
        </p:nvSpPr>
        <p:spPr/>
        <p:txBody>
          <a:bodyPr>
            <a:normAutofit fontScale="92500" lnSpcReduction="10000"/>
          </a:bodyPr>
          <a:lstStyle/>
          <a:p>
            <a:pPr marL="0" indent="0">
              <a:buNone/>
            </a:pPr>
            <a:r>
              <a:rPr lang="en-GB" b="1" i="1" dirty="0"/>
              <a:t>Summary</a:t>
            </a:r>
            <a:r>
              <a:rPr lang="en-US" altLang="zh-CN" b="1" i="1" dirty="0"/>
              <a:t>:</a:t>
            </a:r>
            <a:r>
              <a:rPr lang="zh-CN" altLang="en-US" b="1" i="1" dirty="0"/>
              <a:t> </a:t>
            </a:r>
            <a:r>
              <a:rPr lang="en-GB" b="1" dirty="0"/>
              <a:t>Privacy-preserving and secure edge AI techniques</a:t>
            </a:r>
          </a:p>
          <a:p>
            <a:r>
              <a:rPr lang="en-GB" b="1" dirty="0"/>
              <a:t>Federated Learning:</a:t>
            </a:r>
            <a:r>
              <a:rPr lang="en-GB" dirty="0"/>
              <a:t> Keeps data localized on edge devices and only shares model </a:t>
            </a:r>
            <a:r>
              <a:rPr lang="en-US" altLang="zh-CN" dirty="0"/>
              <a:t>weights</a:t>
            </a:r>
            <a:r>
              <a:rPr lang="en-GB" dirty="0"/>
              <a:t> instead of raw data.</a:t>
            </a:r>
          </a:p>
          <a:p>
            <a:r>
              <a:rPr lang="en-GB" b="1" dirty="0"/>
              <a:t>Differential Privacy:</a:t>
            </a:r>
            <a:r>
              <a:rPr lang="en-GB" dirty="0"/>
              <a:t> Adds controlled noise to model updates or outputs to reduce the risk of reconstructing sensitive information.</a:t>
            </a:r>
          </a:p>
          <a:p>
            <a:r>
              <a:rPr lang="en-GB" b="1" dirty="0"/>
              <a:t>Secure Aggregation:</a:t>
            </a:r>
            <a:r>
              <a:rPr lang="en-GB" dirty="0"/>
              <a:t> Ensures that the server can only access aggregated model updates, not individual client updates.</a:t>
            </a:r>
          </a:p>
          <a:p>
            <a:r>
              <a:rPr lang="en-GB" b="1" dirty="0"/>
              <a:t>Homomorphic Encryption:</a:t>
            </a:r>
            <a:r>
              <a:rPr lang="en-GB" dirty="0"/>
              <a:t> Enables computation to be performed directly on encrypted data without decrypting it.</a:t>
            </a:r>
          </a:p>
          <a:p>
            <a:r>
              <a:rPr lang="en-GB" b="1" dirty="0"/>
              <a:t>Secure Multiparty Computation:</a:t>
            </a:r>
            <a:r>
              <a:rPr lang="en-GB" dirty="0"/>
              <a:t> Allows multiple parties to jointly compute a result without revealing their private inputs to one another.</a:t>
            </a:r>
          </a:p>
          <a:p>
            <a:endParaRPr lang="en-US" altLang="zh-CN" dirty="0"/>
          </a:p>
          <a:p>
            <a:endParaRPr lang="en-US" altLang="zh-CN" dirty="0"/>
          </a:p>
          <a:p>
            <a:endParaRPr lang="en-US" dirty="0"/>
          </a:p>
        </p:txBody>
      </p:sp>
      <p:sp>
        <p:nvSpPr>
          <p:cNvPr id="4" name="Footer Placeholder 3">
            <a:extLst>
              <a:ext uri="{FF2B5EF4-FFF2-40B4-BE49-F238E27FC236}">
                <a16:creationId xmlns:a16="http://schemas.microsoft.com/office/drawing/2014/main" id="{B344A3AA-C2BF-F154-FF34-DB6F930337F2}"/>
              </a:ext>
            </a:extLst>
          </p:cNvPr>
          <p:cNvSpPr>
            <a:spLocks noGrp="1"/>
          </p:cNvSpPr>
          <p:nvPr>
            <p:ph type="ftr" sz="quarter" idx="11"/>
          </p:nvPr>
        </p:nvSpPr>
        <p:spPr/>
        <p:txBody>
          <a:bodyPr/>
          <a:lstStyle/>
          <a:p>
            <a:r>
              <a:rPr lang="en-US" dirty="0"/>
              <a:t>https://</a:t>
            </a:r>
            <a:r>
              <a:rPr lang="en-US" dirty="0" err="1"/>
              <a:t>ieeexplore.ieee.org</a:t>
            </a:r>
            <a:r>
              <a:rPr lang="en-US" dirty="0"/>
              <a:t>/document/11032085</a:t>
            </a:r>
          </a:p>
        </p:txBody>
      </p:sp>
    </p:spTree>
    <p:extLst>
      <p:ext uri="{BB962C8B-B14F-4D97-AF65-F5344CB8AC3E}">
        <p14:creationId xmlns:p14="http://schemas.microsoft.com/office/powerpoint/2010/main" val="3190719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A85-EA98-D8BD-1F9D-BEC7DFD03514}"/>
              </a:ext>
            </a:extLst>
          </p:cNvPr>
          <p:cNvSpPr>
            <a:spLocks noGrp="1"/>
          </p:cNvSpPr>
          <p:nvPr>
            <p:ph type="title"/>
          </p:nvPr>
        </p:nvSpPr>
        <p:spPr/>
        <p:txBody>
          <a:bodyPr/>
          <a:lstStyle/>
          <a:p>
            <a:r>
              <a:rPr lang="en-US" dirty="0"/>
              <a:t>ENCRYPTION-FRIENDLY LLM ARCHITECTURE</a:t>
            </a:r>
          </a:p>
        </p:txBody>
      </p:sp>
      <p:sp>
        <p:nvSpPr>
          <p:cNvPr id="3" name="Content Placeholder 2">
            <a:extLst>
              <a:ext uri="{FF2B5EF4-FFF2-40B4-BE49-F238E27FC236}">
                <a16:creationId xmlns:a16="http://schemas.microsoft.com/office/drawing/2014/main" id="{548C3BED-7FC2-C206-C6C5-1FE537CE73FA}"/>
              </a:ext>
            </a:extLst>
          </p:cNvPr>
          <p:cNvSpPr>
            <a:spLocks noGrp="1"/>
          </p:cNvSpPr>
          <p:nvPr>
            <p:ph idx="1"/>
          </p:nvPr>
        </p:nvSpPr>
        <p:spPr/>
        <p:txBody>
          <a:bodyPr>
            <a:normAutofit/>
          </a:bodyPr>
          <a:lstStyle/>
          <a:p>
            <a:r>
              <a:rPr lang="en-GB" dirty="0"/>
              <a:t>HE is applied to both the fine-tuning phase and the inference phase.</a:t>
            </a:r>
          </a:p>
          <a:p>
            <a:r>
              <a:rPr lang="en-GB" dirty="0"/>
              <a:t>Gaussian Kernel attention is used instead of </a:t>
            </a:r>
            <a:r>
              <a:rPr lang="en-GB" dirty="0" err="1"/>
              <a:t>Softmax</a:t>
            </a:r>
            <a:r>
              <a:rPr lang="en-GB" dirty="0"/>
              <a:t> attention to reduce computational cost under HE.</a:t>
            </a:r>
          </a:p>
          <a:p>
            <a:r>
              <a:rPr lang="en-GB" dirty="0" err="1"/>
              <a:t>LoRA</a:t>
            </a:r>
            <a:r>
              <a:rPr lang="en-GB" dirty="0"/>
              <a:t> fine-tuning is used to reduce large ciphertext-ciphertext matrix multiplications.</a:t>
            </a:r>
          </a:p>
          <a:p>
            <a:r>
              <a:rPr lang="en-GB" dirty="0"/>
              <a:t>The architecture makes private fine-tuning and encrypted inference more practical.</a:t>
            </a:r>
          </a:p>
          <a:p>
            <a:endParaRPr lang="en-GB" dirty="0"/>
          </a:p>
        </p:txBody>
      </p:sp>
      <p:sp>
        <p:nvSpPr>
          <p:cNvPr id="4" name="Footer Placeholder 3">
            <a:extLst>
              <a:ext uri="{FF2B5EF4-FFF2-40B4-BE49-F238E27FC236}">
                <a16:creationId xmlns:a16="http://schemas.microsoft.com/office/drawing/2014/main" id="{D54363A0-9E80-90DC-5782-59061E15797A}"/>
              </a:ext>
            </a:extLst>
          </p:cNvPr>
          <p:cNvSpPr>
            <a:spLocks noGrp="1"/>
          </p:cNvSpPr>
          <p:nvPr>
            <p:ph type="ftr" sz="quarter" idx="11"/>
          </p:nvPr>
        </p:nvSpPr>
        <p:spPr/>
        <p:txBody>
          <a:bodyPr/>
          <a:lstStyle/>
          <a:p>
            <a:r>
              <a:rPr lang="en-US" dirty="0"/>
              <a:t>https://</a:t>
            </a:r>
            <a:r>
              <a:rPr lang="en-US" dirty="0" err="1"/>
              <a:t>arxiv.org</a:t>
            </a:r>
            <a:r>
              <a:rPr lang="en-US" dirty="0"/>
              <a:t>/abs/2410.02486</a:t>
            </a:r>
          </a:p>
        </p:txBody>
      </p:sp>
    </p:spTree>
    <p:extLst>
      <p:ext uri="{BB962C8B-B14F-4D97-AF65-F5344CB8AC3E}">
        <p14:creationId xmlns:p14="http://schemas.microsoft.com/office/powerpoint/2010/main" val="21129305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17776</TotalTime>
  <Words>2013</Words>
  <Application>Microsoft Macintosh PowerPoint</Application>
  <PresentationFormat>Widescreen</PresentationFormat>
  <Paragraphs>225</Paragraphs>
  <Slides>18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Literature Review</vt:lpstr>
      <vt:lpstr>Literature Review Logic and Research Gap</vt:lpstr>
      <vt:lpstr>Related work - 1</vt:lpstr>
      <vt:lpstr>Related work - 2</vt:lpstr>
      <vt:lpstr>Related work - 3</vt:lpstr>
      <vt:lpstr>Related work - 4</vt:lpstr>
      <vt:lpstr>Threat Model</vt:lpstr>
      <vt:lpstr>METHODOLOGY</vt:lpstr>
      <vt:lpstr>PowerPoint Presentation</vt:lpstr>
      <vt:lpstr>Initial Ideas</vt:lpstr>
      <vt:lpstr>MobileVLM</vt:lpstr>
      <vt:lpstr>EdgeVL</vt:lpstr>
      <vt:lpstr>A privacy-preserving multi-user retrieval system for multimodal artificial intelligence - 1</vt:lpstr>
      <vt:lpstr>A privacy-preserving multi-user retrieval system for multimodal artificial intelligence - 2</vt:lpstr>
      <vt:lpstr>A privacy-preserving multi-user retrieval system for multimodal artificial intelligence - 3</vt:lpstr>
      <vt:lpstr>Semantic Edge–Cloud Communication for Real-Time Urban Traffic Surveillance With ViT and LLMs Over Mobile Networks</vt:lpstr>
      <vt:lpstr>Vision-Language Models for Edge Networks: A Comprehensive Survey</vt:lpstr>
      <vt:lpstr>ENCRYPTION-FRIENDLY LLM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耀泉 马</dc:creator>
  <cp:lastModifiedBy>耀泉 马</cp:lastModifiedBy>
  <cp:revision>2</cp:revision>
  <dcterms:created xsi:type="dcterms:W3CDTF">2026-05-22T13:15:01Z</dcterms:created>
  <dcterms:modified xsi:type="dcterms:W3CDTF">2026-08-04T15:06:03Z</dcterms:modified>
</cp:coreProperties>
</file>