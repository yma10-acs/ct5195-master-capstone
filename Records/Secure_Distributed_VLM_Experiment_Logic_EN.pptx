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modSld">
      <pc:chgData name="耀泉 马" userId="19e30af8d5659de2" providerId="LiveId" clId="{C3594856-CEDA-5129-B2AF-7962E3CA4CA3}" dt="2026-07-06T13:19:14.519" v="35" actId="20577"/>
      <pc:docMkLst>
        <pc:docMk/>
      </pc:docMkLst>
      <pc:sldChg chg="modSp mod">
        <pc:chgData name="耀泉 马" userId="19e30af8d5659de2" providerId="LiveId" clId="{C3594856-CEDA-5129-B2AF-7962E3CA4CA3}" dt="2026-07-06T13:19:14.519" v="35" actId="20577"/>
        <pc:sldMkLst>
          <pc:docMk/>
          <pc:sldMk cId="1781428934" sldId="259"/>
        </pc:sldMkLst>
        <pc:spChg chg="mod">
          <ac:chgData name="耀泉 马" userId="19e30af8d5659de2" providerId="LiveId" clId="{C3594856-CEDA-5129-B2AF-7962E3CA4CA3}" dt="2026-07-06T13:19:14.519" v="35" actId="20577"/>
          <ac:spMkLst>
            <pc:docMk/>
            <pc:sldMk cId="1781428934" sldId="259"/>
            <ac:spMk id="25" creationId="{C6FC8FE0-ADF3-4639-878E-4CED2E2C3AD8}"/>
          </ac:spMkLst>
        </pc:spChg>
        <pc:spChg chg="mod">
          <ac:chgData name="耀泉 马" userId="19e30af8d5659de2" providerId="LiveId" clId="{C3594856-CEDA-5129-B2AF-7962E3CA4CA3}" dt="2026-07-06T12:38:47.062" v="27" actId="20577"/>
          <ac:spMkLst>
            <pc:docMk/>
            <pc:sldMk cId="1781428934" sldId="259"/>
            <ac:spMk id="27" creationId="{03148F3D-8B84-44A7-A9B3-AFA32E1681B4}"/>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Non-TDX split total</c:v>
          </c:tx>
          <c:spPr>
            <a:solidFill>
              <a:srgbClr val="00000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HTTP</c:v>
              </c:pt>
              <c:pt idx="1">
                <c:v>AES-GCM</c:v>
              </c:pt>
              <c:pt idx="2">
                <c:v>ChaCha20</c:v>
              </c:pt>
            </c:strLit>
          </c:cat>
          <c:val>
            <c:numLit>
              <c:formatCode>General</c:formatCode>
              <c:ptCount val="3"/>
              <c:pt idx="0">
                <c:v>31.88</c:v>
              </c:pt>
              <c:pt idx="1">
                <c:v>31.76</c:v>
              </c:pt>
              <c:pt idx="2">
                <c:v>32.159999999999997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6D-4444-8617-A0A40B2099DD}"/>
            </c:ext>
          </c:extLst>
        </c:ser>
        <c:ser>
          <c:idx val="1"/>
          <c:order val="1"/>
          <c:tx>
            <c:v>TDX split total</c:v>
          </c:tx>
          <c:spPr>
            <a:solidFill>
              <a:srgbClr val="FF6B35"/>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HTTP</c:v>
              </c:pt>
              <c:pt idx="1">
                <c:v>AES-GCM</c:v>
              </c:pt>
              <c:pt idx="2">
                <c:v>ChaCha20</c:v>
              </c:pt>
            </c:strLit>
          </c:cat>
          <c:val>
            <c:numLit>
              <c:formatCode>General</c:formatCode>
              <c:ptCount val="3"/>
              <c:pt idx="0">
                <c:v>33.44</c:v>
              </c:pt>
              <c:pt idx="1">
                <c:v>33.380000000000003</c:v>
              </c:pt>
              <c:pt idx="2">
                <c:v>33.35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6D-4444-8617-A0A40B2099DD}"/>
            </c:ext>
          </c:extLst>
        </c:ser>
        <c:dLbls>
          <c:dLblPos val="outEnd"/>
          <c:showLegendKey val="1"/>
          <c:showVal val="1"/>
          <c:showCatName val="1"/>
          <c:showSerName val="1"/>
          <c:showPercent val="1"/>
          <c:showBubbleSize val="1"/>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0"/>
        <c:axPos val="l"/>
        <c:majorGridlines>
          <c:spPr>
            <a:ln w="9525">
              <a:solidFill>
                <a:srgbClr val="DDDDDD"/>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plotArea>
    <c:legend>
      <c:legendPos val="b"/>
      <c:overlay val="0"/>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Non-TDX cloud request</c:v>
          </c:tx>
          <c:spPr>
            <a:solidFill>
              <a:srgbClr val="00000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HTTP</c:v>
              </c:pt>
              <c:pt idx="1">
                <c:v>AES-GCM</c:v>
              </c:pt>
              <c:pt idx="2">
                <c:v>ChaCha20</c:v>
              </c:pt>
            </c:strLit>
          </c:cat>
          <c:val>
            <c:numLit>
              <c:formatCode>General</c:formatCode>
              <c:ptCount val="3"/>
              <c:pt idx="0">
                <c:v>14.74</c:v>
              </c:pt>
              <c:pt idx="1">
                <c:v>14.82</c:v>
              </c:pt>
              <c:pt idx="2">
                <c:v>15.04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6B3-C844-AA9D-31CD21233518}"/>
            </c:ext>
          </c:extLst>
        </c:ser>
        <c:ser>
          <c:idx val="1"/>
          <c:order val="1"/>
          <c:tx>
            <c:v>TDX cloud request</c:v>
          </c:tx>
          <c:spPr>
            <a:solidFill>
              <a:srgbClr val="FF6B35"/>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HTTP</c:v>
              </c:pt>
              <c:pt idx="1">
                <c:v>AES-GCM</c:v>
              </c:pt>
              <c:pt idx="2">
                <c:v>ChaCha20</c:v>
              </c:pt>
            </c:strLit>
          </c:cat>
          <c:val>
            <c:numLit>
              <c:formatCode>General</c:formatCode>
              <c:ptCount val="3"/>
              <c:pt idx="0">
                <c:v>16.23</c:v>
              </c:pt>
              <c:pt idx="1">
                <c:v>16.149999999999999</c:v>
              </c:pt>
              <c:pt idx="2">
                <c:v>16.13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6B3-C844-AA9D-31CD21233518}"/>
            </c:ext>
          </c:extLst>
        </c:ser>
        <c:dLbls>
          <c:dLblPos val="outEnd"/>
          <c:showLegendKey val="1"/>
          <c:showVal val="1"/>
          <c:showCatName val="1"/>
          <c:showSerName val="1"/>
          <c:showPercent val="1"/>
          <c:showBubbleSize val="1"/>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0"/>
        <c:axPos val="l"/>
        <c:majorGridlines>
          <c:spPr>
            <a:ln w="9525">
              <a:solidFill>
                <a:srgbClr val="DDDDDD"/>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plotArea>
    <c:legend>
      <c:legendPos val="b"/>
      <c:overlay val="0"/>
    </c:legend>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Non-TDX cloud CPU</c:v>
          </c:tx>
          <c:spPr>
            <a:solidFill>
              <a:srgbClr val="00000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HTTP</c:v>
              </c:pt>
              <c:pt idx="1">
                <c:v>AES-GCM</c:v>
              </c:pt>
              <c:pt idx="2">
                <c:v>ChaCha20</c:v>
              </c:pt>
            </c:strLit>
          </c:cat>
          <c:val>
            <c:numLit>
              <c:formatCode>General</c:formatCode>
              <c:ptCount val="3"/>
              <c:pt idx="0">
                <c:v>29.48</c:v>
              </c:pt>
              <c:pt idx="1">
                <c:v>29.64</c:v>
              </c:pt>
              <c:pt idx="2">
                <c:v>30.08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CF-2A44-9E8D-7ACBB1B8919B}"/>
            </c:ext>
          </c:extLst>
        </c:ser>
        <c:ser>
          <c:idx val="1"/>
          <c:order val="1"/>
          <c:tx>
            <c:v>TDX cloud CPU</c:v>
          </c:tx>
          <c:spPr>
            <a:solidFill>
              <a:srgbClr val="FF6B35"/>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HTTP</c:v>
              </c:pt>
              <c:pt idx="1">
                <c:v>AES-GCM</c:v>
              </c:pt>
              <c:pt idx="2">
                <c:v>ChaCha20</c:v>
              </c:pt>
            </c:strLit>
          </c:cat>
          <c:val>
            <c:numLit>
              <c:formatCode>General</c:formatCode>
              <c:ptCount val="3"/>
              <c:pt idx="0">
                <c:v>32.450000000000003</c:v>
              </c:pt>
              <c:pt idx="1">
                <c:v>32.29</c:v>
              </c:pt>
              <c:pt idx="2">
                <c:v>32.25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DCF-2A44-9E8D-7ACBB1B8919B}"/>
            </c:ext>
          </c:extLst>
        </c:ser>
        <c:dLbls>
          <c:dLblPos val="outEnd"/>
          <c:showLegendKey val="1"/>
          <c:showVal val="1"/>
          <c:showCatName val="1"/>
          <c:showSerName val="1"/>
          <c:showPercent val="1"/>
          <c:showBubbleSize val="1"/>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0"/>
        <c:axPos val="l"/>
        <c:majorGridlines>
          <c:spPr>
            <a:ln w="9525">
              <a:solidFill>
                <a:srgbClr val="DDDDDD"/>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plotArea>
    <c:legend>
      <c:legendPos val="b"/>
      <c:overlay val="0"/>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1DF987-1BEA-4DD9-A9AB-BD0C3A64713C}"/>
              </a:ext>
            </a:extLst>
          </p:cNvPr>
          <p:cNvSpPr>
            <a:spLocks noGrp="1"/>
          </p:cNvSpPr>
          <p:nvPr/>
        </p:nvSpPr>
        <p:spPr>
          <a:xfrm>
            <a:off x="400050" y="514350"/>
            <a:ext cx="10382250" cy="742950"/>
          </a:xfrm>
          <a:prstGeom prst="rect">
            <a:avLst/>
          </a:prstGeom>
          <a:noFill/>
          <a:ln w="0">
            <a:noFill/>
            <a:prstDash val="solid"/>
          </a:ln>
        </p:spPr>
        <p:txBody>
          <a:bodyPr/>
          <a:lstStyle/>
          <a:p>
            <a:pPr algn="l">
              <a:defRPr sz="4200" b="1">
                <a:solidFill>
                  <a:srgbClr val="000000"/>
                </a:solidFill>
              </a:defRPr>
            </a:pPr>
            <a:r>
              <a:rPr sz="4200" b="1" dirty="0">
                <a:solidFill>
                  <a:srgbClr val="000000"/>
                </a:solidFill>
              </a:rPr>
              <a:t>Secure Distributed VLM Inference</a:t>
            </a:r>
          </a:p>
        </p:txBody>
      </p:sp>
      <p:sp>
        <p:nvSpPr>
          <p:cNvPr id="2" name="Rectangle 1">
            <a:extLst>
              <a:ext uri="{FF2B5EF4-FFF2-40B4-BE49-F238E27FC236}">
                <a16:creationId xmlns:a16="http://schemas.microsoft.com/office/drawing/2014/main" id="{A90211EA-08CC-40AA-911E-317F15FDF4FD}"/>
              </a:ext>
            </a:extLst>
          </p:cNvPr>
          <p:cNvSpPr>
            <a:spLocks noGrp="1"/>
          </p:cNvSpPr>
          <p:nvPr/>
        </p:nvSpPr>
        <p:spPr>
          <a:xfrm>
            <a:off x="400050" y="1314450"/>
            <a:ext cx="7239000" cy="457200"/>
          </a:xfrm>
          <a:prstGeom prst="rect">
            <a:avLst/>
          </a:prstGeom>
          <a:noFill/>
          <a:ln w="0">
            <a:noFill/>
            <a:prstDash val="solid"/>
          </a:ln>
        </p:spPr>
        <p:txBody>
          <a:bodyPr/>
          <a:lstStyle/>
          <a:p>
            <a:pPr algn="l">
              <a:defRPr sz="2400" b="0">
                <a:solidFill>
                  <a:srgbClr val="555555"/>
                </a:solidFill>
              </a:defRPr>
            </a:pPr>
            <a:r>
              <a:rPr sz="2400" b="0" dirty="0">
                <a:solidFill>
                  <a:srgbClr val="555555"/>
                </a:solidFill>
              </a:rPr>
              <a:t>Experiment logic and interim findings</a:t>
            </a:r>
          </a:p>
        </p:txBody>
      </p:sp>
      <p:sp>
        <p:nvSpPr>
          <p:cNvPr id="3" name="Rectangle 2">
            <a:extLst>
              <a:ext uri="{FF2B5EF4-FFF2-40B4-BE49-F238E27FC236}">
                <a16:creationId xmlns:a16="http://schemas.microsoft.com/office/drawing/2014/main" id="{DBE62B55-D2B6-4C92-B549-885E7DC05D54}"/>
              </a:ext>
            </a:extLst>
          </p:cNvPr>
          <p:cNvSpPr>
            <a:spLocks noGrp="1"/>
          </p:cNvSpPr>
          <p:nvPr/>
        </p:nvSpPr>
        <p:spPr>
          <a:xfrm>
            <a:off x="400050" y="2190750"/>
            <a:ext cx="11391900" cy="13335"/>
          </a:xfrm>
          <a:prstGeom prst="rect">
            <a:avLst/>
          </a:prstGeom>
          <a:solidFill>
            <a:srgbClr val="000000"/>
          </a:solidFill>
          <a:ln w="0">
            <a:solidFill>
              <a:srgbClr val="000000"/>
            </a:solidFill>
            <a:prstDash val="solid"/>
          </a:ln>
        </p:spPr>
        <p:txBody>
          <a:bodyPr/>
          <a:lstStyle/>
          <a:p>
            <a:endParaRPr lang="en-US"/>
          </a:p>
        </p:txBody>
      </p:sp>
      <p:sp>
        <p:nvSpPr>
          <p:cNvPr id="4" name="Rectangle 3">
            <a:extLst>
              <a:ext uri="{FF2B5EF4-FFF2-40B4-BE49-F238E27FC236}">
                <a16:creationId xmlns:a16="http://schemas.microsoft.com/office/drawing/2014/main" id="{E0D0C8C2-4F27-49A3-9124-C47110FA7C79}"/>
              </a:ext>
            </a:extLst>
          </p:cNvPr>
          <p:cNvSpPr>
            <a:spLocks noGrp="1"/>
          </p:cNvSpPr>
          <p:nvPr/>
        </p:nvSpPr>
        <p:spPr>
          <a:xfrm>
            <a:off x="400050" y="2686050"/>
            <a:ext cx="7334250" cy="1219200"/>
          </a:xfrm>
          <a:prstGeom prst="rect">
            <a:avLst/>
          </a:prstGeom>
          <a:noFill/>
          <a:ln w="0">
            <a:noFill/>
            <a:prstDash val="solid"/>
          </a:ln>
        </p:spPr>
        <p:txBody>
          <a:bodyPr/>
          <a:lstStyle/>
          <a:p>
            <a:pPr algn="l">
              <a:defRPr sz="1875" b="0">
                <a:solidFill>
                  <a:srgbClr val="000000"/>
                </a:solidFill>
              </a:defRPr>
            </a:pPr>
            <a:r>
              <a:rPr sz="1875" b="0" dirty="0">
                <a:solidFill>
                  <a:srgbClr val="000000"/>
                </a:solidFill>
              </a:rPr>
              <a:t>Goal: evaluate whether visual embedding transmission, encrypted channels, and Intel TDX can protect a split VLM workflow without making inference impractical.</a:t>
            </a:r>
          </a:p>
        </p:txBody>
      </p:sp>
      <p:sp>
        <p:nvSpPr>
          <p:cNvPr id="5" name="Rectangle 4">
            <a:extLst>
              <a:ext uri="{FF2B5EF4-FFF2-40B4-BE49-F238E27FC236}">
                <a16:creationId xmlns:a16="http://schemas.microsoft.com/office/drawing/2014/main" id="{031CA612-B296-4CF7-8DA2-BB7C0B8B0593}"/>
              </a:ext>
            </a:extLst>
          </p:cNvPr>
          <p:cNvSpPr>
            <a:spLocks noGrp="1"/>
          </p:cNvSpPr>
          <p:nvPr/>
        </p:nvSpPr>
        <p:spPr>
          <a:xfrm>
            <a:off x="8458200" y="2686050"/>
            <a:ext cx="3333750" cy="1485900"/>
          </a:xfrm>
          <a:prstGeom prst="rect">
            <a:avLst/>
          </a:prstGeom>
          <a:solidFill>
            <a:srgbClr val="000000"/>
          </a:solidFill>
          <a:ln w="9525">
            <a:solidFill>
              <a:srgbClr val="B8BCC4"/>
            </a:solidFill>
            <a:prstDash val="solid"/>
          </a:ln>
        </p:spPr>
        <p:txBody>
          <a:bodyPr/>
          <a:lstStyle/>
          <a:p>
            <a:endParaRPr lang="en-US"/>
          </a:p>
        </p:txBody>
      </p:sp>
      <p:sp>
        <p:nvSpPr>
          <p:cNvPr id="6" name="Rectangle 5">
            <a:extLst>
              <a:ext uri="{FF2B5EF4-FFF2-40B4-BE49-F238E27FC236}">
                <a16:creationId xmlns:a16="http://schemas.microsoft.com/office/drawing/2014/main" id="{5A3C557F-CC65-4CC7-BDAF-D00AFC856843}"/>
              </a:ext>
            </a:extLst>
          </p:cNvPr>
          <p:cNvSpPr>
            <a:spLocks noGrp="1"/>
          </p:cNvSpPr>
          <p:nvPr/>
        </p:nvSpPr>
        <p:spPr>
          <a:xfrm>
            <a:off x="8743950" y="3028950"/>
            <a:ext cx="1047750" cy="457200"/>
          </a:xfrm>
          <a:prstGeom prst="rect">
            <a:avLst/>
          </a:prstGeom>
          <a:noFill/>
          <a:ln w="0">
            <a:noFill/>
            <a:prstDash val="solid"/>
          </a:ln>
        </p:spPr>
        <p:txBody>
          <a:bodyPr/>
          <a:lstStyle/>
          <a:p>
            <a:pPr algn="l">
              <a:defRPr sz="2550" b="1">
                <a:solidFill>
                  <a:srgbClr val="FFFFFF"/>
                </a:solidFill>
              </a:defRPr>
            </a:pPr>
            <a:r>
              <a:rPr sz="2550" b="1">
                <a:solidFill>
                  <a:srgbClr val="FFFFFF"/>
                </a:solidFill>
              </a:rPr>
              <a:t>edge</a:t>
            </a:r>
          </a:p>
        </p:txBody>
      </p:sp>
      <p:sp>
        <p:nvSpPr>
          <p:cNvPr id="7" name="Right Arrow 6">
            <a:extLst>
              <a:ext uri="{FF2B5EF4-FFF2-40B4-BE49-F238E27FC236}">
                <a16:creationId xmlns:a16="http://schemas.microsoft.com/office/drawing/2014/main" id="{ED5D15B3-F692-44DE-9387-6724D3EC42F7}"/>
              </a:ext>
            </a:extLst>
          </p:cNvPr>
          <p:cNvSpPr>
            <a:spLocks noGrp="1"/>
          </p:cNvSpPr>
          <p:nvPr/>
        </p:nvSpPr>
        <p:spPr>
          <a:xfrm>
            <a:off x="9810750" y="3143250"/>
            <a:ext cx="628650" cy="266700"/>
          </a:xfrm>
          <a:prstGeom prst="rightArrow">
            <a:avLst/>
          </a:prstGeom>
          <a:solidFill>
            <a:srgbClr val="FF6B35"/>
          </a:solidFill>
          <a:ln w="0">
            <a:solidFill>
              <a:srgbClr val="FF6B35"/>
            </a:solidFill>
            <a:prstDash val="solid"/>
          </a:ln>
        </p:spPr>
        <p:txBody>
          <a:bodyPr/>
          <a:lstStyle/>
          <a:p>
            <a:endParaRPr lang="en-US"/>
          </a:p>
        </p:txBody>
      </p:sp>
      <p:sp>
        <p:nvSpPr>
          <p:cNvPr id="8" name="Rectangle 7">
            <a:extLst>
              <a:ext uri="{FF2B5EF4-FFF2-40B4-BE49-F238E27FC236}">
                <a16:creationId xmlns:a16="http://schemas.microsoft.com/office/drawing/2014/main" id="{B0BC2EDF-AFC4-4742-A8DA-F724A54A7DC9}"/>
              </a:ext>
            </a:extLst>
          </p:cNvPr>
          <p:cNvSpPr>
            <a:spLocks noGrp="1"/>
          </p:cNvSpPr>
          <p:nvPr/>
        </p:nvSpPr>
        <p:spPr>
          <a:xfrm>
            <a:off x="10572750" y="3028950"/>
            <a:ext cx="1047750" cy="457200"/>
          </a:xfrm>
          <a:prstGeom prst="rect">
            <a:avLst/>
          </a:prstGeom>
          <a:noFill/>
          <a:ln w="0">
            <a:noFill/>
            <a:prstDash val="solid"/>
          </a:ln>
        </p:spPr>
        <p:txBody>
          <a:bodyPr/>
          <a:lstStyle/>
          <a:p>
            <a:pPr algn="l">
              <a:defRPr sz="2550" b="1">
                <a:solidFill>
                  <a:srgbClr val="FFFFFF"/>
                </a:solidFill>
              </a:defRPr>
            </a:pPr>
            <a:r>
              <a:rPr sz="2550" b="1">
                <a:solidFill>
                  <a:srgbClr val="FFFFFF"/>
                </a:solidFill>
              </a:rPr>
              <a:t>cloud</a:t>
            </a:r>
          </a:p>
        </p:txBody>
      </p:sp>
      <p:sp>
        <p:nvSpPr>
          <p:cNvPr id="9" name="Rectangle 8">
            <a:extLst>
              <a:ext uri="{FF2B5EF4-FFF2-40B4-BE49-F238E27FC236}">
                <a16:creationId xmlns:a16="http://schemas.microsoft.com/office/drawing/2014/main" id="{1256B940-34C7-41B5-944C-18DFEB70A2A6}"/>
              </a:ext>
            </a:extLst>
          </p:cNvPr>
          <p:cNvSpPr>
            <a:spLocks noGrp="1"/>
          </p:cNvSpPr>
          <p:nvPr/>
        </p:nvSpPr>
        <p:spPr>
          <a:xfrm>
            <a:off x="400050" y="5905500"/>
            <a:ext cx="7239000" cy="304800"/>
          </a:xfrm>
          <a:prstGeom prst="rect">
            <a:avLst/>
          </a:prstGeom>
          <a:noFill/>
          <a:ln w="0">
            <a:noFill/>
            <a:prstDash val="solid"/>
          </a:ln>
        </p:spPr>
        <p:txBody>
          <a:bodyPr/>
          <a:lstStyle/>
          <a:p>
            <a:pPr algn="l">
              <a:defRPr sz="1500" b="0">
                <a:solidFill>
                  <a:srgbClr val="555555"/>
                </a:solidFill>
              </a:defRPr>
            </a:pPr>
            <a:r>
              <a:rPr sz="1500" b="0">
                <a:solidFill>
                  <a:srgbClr val="555555"/>
                </a:solidFill>
              </a:rPr>
              <a:t>nanoVLM | split inference | HTTPS | Intel TDX</a:t>
            </a:r>
          </a:p>
        </p:txBody>
      </p:sp>
      <p:sp>
        <p:nvSpPr>
          <p:cNvPr id="10" name="Rectangle 9">
            <a:extLst>
              <a:ext uri="{FF2B5EF4-FFF2-40B4-BE49-F238E27FC236}">
                <a16:creationId xmlns:a16="http://schemas.microsoft.com/office/drawing/2014/main" id="{AA8E190B-8627-46A4-A4AB-54608F4E3752}"/>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01</a:t>
            </a:r>
          </a:p>
        </p:txBody>
      </p:sp>
    </p:spTree>
    <p:extLst>
      <p:ext uri="{BB962C8B-B14F-4D97-AF65-F5344CB8AC3E}">
        <p14:creationId xmlns:p14="http://schemas.microsoft.com/office/powerpoint/2010/main" val="1961562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BC0FC2D-02C7-4FB8-AD38-60D9D64F684A}"/>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dirty="0">
                <a:solidFill>
                  <a:srgbClr val="555555"/>
                </a:solidFill>
              </a:rPr>
              <a:t>CT5195 MASTER CAPSTONE</a:t>
            </a:r>
          </a:p>
        </p:txBody>
      </p:sp>
      <p:sp>
        <p:nvSpPr>
          <p:cNvPr id="2" name="Rectangle 1">
            <a:extLst>
              <a:ext uri="{FF2B5EF4-FFF2-40B4-BE49-F238E27FC236}">
                <a16:creationId xmlns:a16="http://schemas.microsoft.com/office/drawing/2014/main" id="{F0D07F74-E406-482F-A9CA-27B08EF5821F}"/>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The question shifts from running the model to measuring security cost</a:t>
            </a:r>
          </a:p>
        </p:txBody>
      </p:sp>
      <p:sp>
        <p:nvSpPr>
          <p:cNvPr id="3" name="Rectangle 2">
            <a:extLst>
              <a:ext uri="{FF2B5EF4-FFF2-40B4-BE49-F238E27FC236}">
                <a16:creationId xmlns:a16="http://schemas.microsoft.com/office/drawing/2014/main" id="{AA27D92E-05F8-47FE-AFD8-A5E22930DAA0}"/>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sp>
        <p:nvSpPr>
          <p:cNvPr id="4" name="Rectangle 3">
            <a:extLst>
              <a:ext uri="{FF2B5EF4-FFF2-40B4-BE49-F238E27FC236}">
                <a16:creationId xmlns:a16="http://schemas.microsoft.com/office/drawing/2014/main" id="{3FE27E0E-6921-4762-BFA7-9C1147B51E9F}"/>
              </a:ext>
            </a:extLst>
          </p:cNvPr>
          <p:cNvSpPr>
            <a:spLocks noGrp="1"/>
          </p:cNvSpPr>
          <p:nvPr/>
        </p:nvSpPr>
        <p:spPr>
          <a:xfrm>
            <a:off x="400050" y="1695450"/>
            <a:ext cx="6858000" cy="1333500"/>
          </a:xfrm>
          <a:prstGeom prst="rect">
            <a:avLst/>
          </a:prstGeom>
          <a:noFill/>
          <a:ln w="0">
            <a:noFill/>
            <a:prstDash val="solid"/>
          </a:ln>
        </p:spPr>
        <p:txBody>
          <a:bodyPr/>
          <a:lstStyle/>
          <a:p>
            <a:pPr algn="l">
              <a:defRPr sz="1725" b="0">
                <a:solidFill>
                  <a:srgbClr val="000000"/>
                </a:solidFill>
              </a:defRPr>
            </a:pPr>
            <a:r>
              <a:rPr sz="1725" b="0" dirty="0">
                <a:solidFill>
                  <a:srgbClr val="000000"/>
                </a:solidFill>
              </a:rPr>
              <a:t>Uploading raw images exposes sensitive visual content. Sending visual embeddings reduces direct image exposure, but embeddings can still leak information. The experiment therefore measures the performance cost of adding transport security and a trusted cloud runtime.</a:t>
            </a:r>
          </a:p>
        </p:txBody>
      </p:sp>
      <p:sp>
        <p:nvSpPr>
          <p:cNvPr id="5" name="Rectangle 4">
            <a:extLst>
              <a:ext uri="{FF2B5EF4-FFF2-40B4-BE49-F238E27FC236}">
                <a16:creationId xmlns:a16="http://schemas.microsoft.com/office/drawing/2014/main" id="{42EA96FC-EABE-4493-8D3B-FECFB275E016}"/>
              </a:ext>
            </a:extLst>
          </p:cNvPr>
          <p:cNvSpPr>
            <a:spLocks noGrp="1"/>
          </p:cNvSpPr>
          <p:nvPr/>
        </p:nvSpPr>
        <p:spPr>
          <a:xfrm>
            <a:off x="400050" y="3429000"/>
            <a:ext cx="3371850" cy="1524000"/>
          </a:xfrm>
          <a:prstGeom prst="rect">
            <a:avLst/>
          </a:prstGeom>
          <a:solidFill>
            <a:srgbClr val="EDEDED"/>
          </a:solidFill>
          <a:ln w="9525">
            <a:solidFill>
              <a:srgbClr val="B8BCC4"/>
            </a:solidFill>
            <a:prstDash val="solid"/>
          </a:ln>
        </p:spPr>
        <p:txBody>
          <a:bodyPr/>
          <a:lstStyle/>
          <a:p>
            <a:endParaRPr lang="en-US"/>
          </a:p>
        </p:txBody>
      </p:sp>
      <p:sp>
        <p:nvSpPr>
          <p:cNvPr id="6" name="Rectangle 5">
            <a:extLst>
              <a:ext uri="{FF2B5EF4-FFF2-40B4-BE49-F238E27FC236}">
                <a16:creationId xmlns:a16="http://schemas.microsoft.com/office/drawing/2014/main" id="{A597C4CA-6388-458F-863E-21137F612D82}"/>
              </a:ext>
            </a:extLst>
          </p:cNvPr>
          <p:cNvSpPr>
            <a:spLocks noGrp="1"/>
          </p:cNvSpPr>
          <p:nvPr/>
        </p:nvSpPr>
        <p:spPr>
          <a:xfrm>
            <a:off x="571500" y="3600450"/>
            <a:ext cx="3028950" cy="323850"/>
          </a:xfrm>
          <a:prstGeom prst="rect">
            <a:avLst/>
          </a:prstGeom>
          <a:noFill/>
          <a:ln w="0">
            <a:noFill/>
            <a:prstDash val="solid"/>
          </a:ln>
        </p:spPr>
        <p:txBody>
          <a:bodyPr/>
          <a:lstStyle/>
          <a:p>
            <a:pPr algn="l">
              <a:defRPr sz="1650" b="1">
                <a:solidFill>
                  <a:srgbClr val="000000"/>
                </a:solidFill>
              </a:defRPr>
            </a:pPr>
            <a:r>
              <a:rPr sz="1650" b="1" dirty="0">
                <a:solidFill>
                  <a:srgbClr val="000000"/>
                </a:solidFill>
              </a:rPr>
              <a:t>Privacy motive</a:t>
            </a:r>
          </a:p>
        </p:txBody>
      </p:sp>
      <p:sp>
        <p:nvSpPr>
          <p:cNvPr id="7" name="Rectangle 6">
            <a:extLst>
              <a:ext uri="{FF2B5EF4-FFF2-40B4-BE49-F238E27FC236}">
                <a16:creationId xmlns:a16="http://schemas.microsoft.com/office/drawing/2014/main" id="{26EDBDCF-B777-45C6-AF00-95ED3DA775F8}"/>
              </a:ext>
            </a:extLst>
          </p:cNvPr>
          <p:cNvSpPr>
            <a:spLocks noGrp="1"/>
          </p:cNvSpPr>
          <p:nvPr/>
        </p:nvSpPr>
        <p:spPr>
          <a:xfrm>
            <a:off x="571500" y="4019550"/>
            <a:ext cx="3028950" cy="80010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Keep the raw image at the edge and send an intermediate representation instead.</a:t>
            </a:r>
          </a:p>
        </p:txBody>
      </p:sp>
      <p:sp>
        <p:nvSpPr>
          <p:cNvPr id="8" name="Rectangle 7">
            <a:extLst>
              <a:ext uri="{FF2B5EF4-FFF2-40B4-BE49-F238E27FC236}">
                <a16:creationId xmlns:a16="http://schemas.microsoft.com/office/drawing/2014/main" id="{53B21884-E37D-495D-8942-1CE153FE6C2F}"/>
              </a:ext>
            </a:extLst>
          </p:cNvPr>
          <p:cNvSpPr>
            <a:spLocks noGrp="1"/>
          </p:cNvSpPr>
          <p:nvPr/>
        </p:nvSpPr>
        <p:spPr>
          <a:xfrm>
            <a:off x="4057650" y="3429000"/>
            <a:ext cx="3371850" cy="1524000"/>
          </a:xfrm>
          <a:prstGeom prst="rect">
            <a:avLst/>
          </a:prstGeom>
          <a:solidFill>
            <a:srgbClr val="FFF1EA"/>
          </a:solidFill>
          <a:ln w="9525">
            <a:solidFill>
              <a:srgbClr val="B8BCC4"/>
            </a:solidFill>
            <a:prstDash val="solid"/>
          </a:ln>
        </p:spPr>
        <p:txBody>
          <a:bodyPr/>
          <a:lstStyle/>
          <a:p>
            <a:endParaRPr lang="en-US"/>
          </a:p>
        </p:txBody>
      </p:sp>
      <p:sp>
        <p:nvSpPr>
          <p:cNvPr id="9" name="Rectangle 8">
            <a:extLst>
              <a:ext uri="{FF2B5EF4-FFF2-40B4-BE49-F238E27FC236}">
                <a16:creationId xmlns:a16="http://schemas.microsoft.com/office/drawing/2014/main" id="{B62556E1-FDD2-4B1B-B0A9-E84CC610836A}"/>
              </a:ext>
            </a:extLst>
          </p:cNvPr>
          <p:cNvSpPr>
            <a:spLocks noGrp="1"/>
          </p:cNvSpPr>
          <p:nvPr/>
        </p:nvSpPr>
        <p:spPr>
          <a:xfrm>
            <a:off x="4229100" y="3600450"/>
            <a:ext cx="3028950" cy="323850"/>
          </a:xfrm>
          <a:prstGeom prst="rect">
            <a:avLst/>
          </a:prstGeom>
          <a:noFill/>
          <a:ln w="0">
            <a:noFill/>
            <a:prstDash val="solid"/>
          </a:ln>
        </p:spPr>
        <p:txBody>
          <a:bodyPr/>
          <a:lstStyle/>
          <a:p>
            <a:pPr algn="l">
              <a:defRPr sz="1650" b="1">
                <a:solidFill>
                  <a:srgbClr val="FF6B35"/>
                </a:solidFill>
              </a:defRPr>
            </a:pPr>
            <a:r>
              <a:rPr sz="1650" b="1" dirty="0">
                <a:solidFill>
                  <a:srgbClr val="FF6B35"/>
                </a:solidFill>
              </a:rPr>
              <a:t>Security additions</a:t>
            </a:r>
          </a:p>
        </p:txBody>
      </p:sp>
      <p:sp>
        <p:nvSpPr>
          <p:cNvPr id="10" name="Rectangle 9">
            <a:extLst>
              <a:ext uri="{FF2B5EF4-FFF2-40B4-BE49-F238E27FC236}">
                <a16:creationId xmlns:a16="http://schemas.microsoft.com/office/drawing/2014/main" id="{D7AD0273-0565-4B72-A0FA-DF02865CA099}"/>
              </a:ext>
            </a:extLst>
          </p:cNvPr>
          <p:cNvSpPr>
            <a:spLocks noGrp="1"/>
          </p:cNvSpPr>
          <p:nvPr/>
        </p:nvSpPr>
        <p:spPr>
          <a:xfrm>
            <a:off x="4229100" y="4019550"/>
            <a:ext cx="3028950" cy="80010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Protect embedding transport with HTTPS and protect cloud execution with TDX.</a:t>
            </a:r>
          </a:p>
        </p:txBody>
      </p:sp>
      <p:sp>
        <p:nvSpPr>
          <p:cNvPr id="11" name="Rectangle 10">
            <a:extLst>
              <a:ext uri="{FF2B5EF4-FFF2-40B4-BE49-F238E27FC236}">
                <a16:creationId xmlns:a16="http://schemas.microsoft.com/office/drawing/2014/main" id="{F8A772CC-179C-42F8-885B-D3ADE22983A5}"/>
              </a:ext>
            </a:extLst>
          </p:cNvPr>
          <p:cNvSpPr>
            <a:spLocks noGrp="1"/>
          </p:cNvSpPr>
          <p:nvPr/>
        </p:nvSpPr>
        <p:spPr>
          <a:xfrm>
            <a:off x="7715250" y="3429000"/>
            <a:ext cx="3371850" cy="1524000"/>
          </a:xfrm>
          <a:prstGeom prst="rect">
            <a:avLst/>
          </a:prstGeom>
          <a:solidFill>
            <a:srgbClr val="EDEDED"/>
          </a:solidFill>
          <a:ln w="9525">
            <a:solidFill>
              <a:srgbClr val="B8BCC4"/>
            </a:solidFill>
            <a:prstDash val="solid"/>
          </a:ln>
        </p:spPr>
        <p:txBody>
          <a:bodyPr/>
          <a:lstStyle/>
          <a:p>
            <a:endParaRPr lang="en-US"/>
          </a:p>
        </p:txBody>
      </p:sp>
      <p:sp>
        <p:nvSpPr>
          <p:cNvPr id="12" name="Rectangle 11">
            <a:extLst>
              <a:ext uri="{FF2B5EF4-FFF2-40B4-BE49-F238E27FC236}">
                <a16:creationId xmlns:a16="http://schemas.microsoft.com/office/drawing/2014/main" id="{58DF2DE1-6462-4856-AD59-7E0874368951}"/>
              </a:ext>
            </a:extLst>
          </p:cNvPr>
          <p:cNvSpPr>
            <a:spLocks noGrp="1"/>
          </p:cNvSpPr>
          <p:nvPr/>
        </p:nvSpPr>
        <p:spPr>
          <a:xfrm>
            <a:off x="7886700" y="3600450"/>
            <a:ext cx="3028950" cy="323850"/>
          </a:xfrm>
          <a:prstGeom prst="rect">
            <a:avLst/>
          </a:prstGeom>
          <a:noFill/>
          <a:ln w="0">
            <a:noFill/>
            <a:prstDash val="solid"/>
          </a:ln>
        </p:spPr>
        <p:txBody>
          <a:bodyPr/>
          <a:lstStyle/>
          <a:p>
            <a:pPr algn="l">
              <a:defRPr sz="1650" b="1">
                <a:solidFill>
                  <a:srgbClr val="000000"/>
                </a:solidFill>
              </a:defRPr>
            </a:pPr>
            <a:r>
              <a:rPr sz="1650" b="1" dirty="0">
                <a:solidFill>
                  <a:srgbClr val="000000"/>
                </a:solidFill>
              </a:rPr>
              <a:t>Experimental focus</a:t>
            </a:r>
          </a:p>
        </p:txBody>
      </p:sp>
      <p:sp>
        <p:nvSpPr>
          <p:cNvPr id="13" name="Rectangle 12">
            <a:extLst>
              <a:ext uri="{FF2B5EF4-FFF2-40B4-BE49-F238E27FC236}">
                <a16:creationId xmlns:a16="http://schemas.microsoft.com/office/drawing/2014/main" id="{0DFB3C1C-1FA9-49DB-8F86-DC53263C7F6B}"/>
              </a:ext>
            </a:extLst>
          </p:cNvPr>
          <p:cNvSpPr>
            <a:spLocks noGrp="1"/>
          </p:cNvSpPr>
          <p:nvPr/>
        </p:nvSpPr>
        <p:spPr>
          <a:xfrm>
            <a:off x="7886700" y="4019550"/>
            <a:ext cx="3028950" cy="800100"/>
          </a:xfrm>
          <a:prstGeom prst="rect">
            <a:avLst/>
          </a:prstGeom>
          <a:noFill/>
          <a:ln w="0">
            <a:noFill/>
            <a:prstDash val="solid"/>
          </a:ln>
        </p:spPr>
        <p:txBody>
          <a:bodyPr/>
          <a:lstStyle/>
          <a:p>
            <a:pPr algn="l">
              <a:defRPr sz="1350" b="0">
                <a:solidFill>
                  <a:srgbClr val="000000"/>
                </a:solidFill>
              </a:defRPr>
            </a:pPr>
            <a:r>
              <a:rPr sz="1350" b="0">
                <a:solidFill>
                  <a:srgbClr val="000000"/>
                </a:solidFill>
              </a:rPr>
              <a:t>Compare local, split, encrypted split, and TDX split inference on latency and CPU cost.</a:t>
            </a:r>
          </a:p>
        </p:txBody>
      </p:sp>
      <p:sp>
        <p:nvSpPr>
          <p:cNvPr id="14" name="Rectangle 13">
            <a:extLst>
              <a:ext uri="{FF2B5EF4-FFF2-40B4-BE49-F238E27FC236}">
                <a16:creationId xmlns:a16="http://schemas.microsoft.com/office/drawing/2014/main" id="{B1D6F0A7-E430-44F5-B8D1-8A2FC6F238BB}"/>
              </a:ext>
            </a:extLst>
          </p:cNvPr>
          <p:cNvSpPr>
            <a:spLocks noGrp="1"/>
          </p:cNvSpPr>
          <p:nvPr/>
        </p:nvSpPr>
        <p:spPr>
          <a:xfrm>
            <a:off x="400050" y="5638800"/>
            <a:ext cx="10572750" cy="361950"/>
          </a:xfrm>
          <a:prstGeom prst="rect">
            <a:avLst/>
          </a:prstGeom>
          <a:noFill/>
          <a:ln w="0">
            <a:noFill/>
            <a:prstDash val="solid"/>
          </a:ln>
        </p:spPr>
        <p:txBody>
          <a:bodyPr/>
          <a:lstStyle/>
          <a:p>
            <a:pPr algn="l">
              <a:defRPr sz="1950" b="1">
                <a:solidFill>
                  <a:srgbClr val="000000"/>
                </a:solidFill>
              </a:defRPr>
            </a:pPr>
            <a:r>
              <a:rPr sz="1950" b="1" dirty="0">
                <a:solidFill>
                  <a:srgbClr val="000000"/>
                </a:solidFill>
              </a:rPr>
              <a:t>Central question: does stronger protection break the practical latency budget for VLM inference?</a:t>
            </a:r>
          </a:p>
        </p:txBody>
      </p:sp>
      <p:sp>
        <p:nvSpPr>
          <p:cNvPr id="15" name="Rectangle 14">
            <a:extLst>
              <a:ext uri="{FF2B5EF4-FFF2-40B4-BE49-F238E27FC236}">
                <a16:creationId xmlns:a16="http://schemas.microsoft.com/office/drawing/2014/main" id="{8DA4254A-B12A-4FF6-8F4D-1D9068EB1A83}"/>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02</a:t>
            </a:r>
          </a:p>
        </p:txBody>
      </p:sp>
    </p:spTree>
    <p:extLst>
      <p:ext uri="{BB962C8B-B14F-4D97-AF65-F5344CB8AC3E}">
        <p14:creationId xmlns:p14="http://schemas.microsoft.com/office/powerpoint/2010/main" val="609221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91846E5-862D-47D6-AF92-8AE0BD473482}"/>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5C8886C3-D5A2-4F4C-9D60-F786175D327B}"/>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The system splits </a:t>
            </a:r>
            <a:r>
              <a:rPr sz="2925" b="1" dirty="0" err="1">
                <a:solidFill>
                  <a:srgbClr val="000000"/>
                </a:solidFill>
              </a:rPr>
              <a:t>nanoVLM</a:t>
            </a:r>
            <a:r>
              <a:rPr sz="2925" b="1" dirty="0">
                <a:solidFill>
                  <a:srgbClr val="000000"/>
                </a:solidFill>
              </a:rPr>
              <a:t> between edge vision encoding and cloud decoding</a:t>
            </a:r>
          </a:p>
        </p:txBody>
      </p:sp>
      <p:sp>
        <p:nvSpPr>
          <p:cNvPr id="3" name="Rectangle 2">
            <a:extLst>
              <a:ext uri="{FF2B5EF4-FFF2-40B4-BE49-F238E27FC236}">
                <a16:creationId xmlns:a16="http://schemas.microsoft.com/office/drawing/2014/main" id="{38BA8D2E-8881-487F-8EFF-37B2ACE7CEE4}"/>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sp>
        <p:nvSpPr>
          <p:cNvPr id="4" name="Rectangle 3">
            <a:extLst>
              <a:ext uri="{FF2B5EF4-FFF2-40B4-BE49-F238E27FC236}">
                <a16:creationId xmlns:a16="http://schemas.microsoft.com/office/drawing/2014/main" id="{30532C63-00B5-4643-9F5D-1F7DC52B869B}"/>
              </a:ext>
            </a:extLst>
          </p:cNvPr>
          <p:cNvSpPr>
            <a:spLocks noGrp="1"/>
          </p:cNvSpPr>
          <p:nvPr/>
        </p:nvSpPr>
        <p:spPr>
          <a:xfrm>
            <a:off x="400050" y="2266950"/>
            <a:ext cx="1714500" cy="1809750"/>
          </a:xfrm>
          <a:prstGeom prst="rect">
            <a:avLst/>
          </a:prstGeom>
          <a:solidFill>
            <a:srgbClr val="EDEDED"/>
          </a:solidFill>
          <a:ln w="9525">
            <a:solidFill>
              <a:srgbClr val="B8BCC4"/>
            </a:solidFill>
            <a:prstDash val="solid"/>
          </a:ln>
        </p:spPr>
        <p:txBody>
          <a:bodyPr/>
          <a:lstStyle/>
          <a:p>
            <a:endParaRPr lang="en-US"/>
          </a:p>
        </p:txBody>
      </p:sp>
      <p:sp>
        <p:nvSpPr>
          <p:cNvPr id="5" name="Rectangle 4">
            <a:extLst>
              <a:ext uri="{FF2B5EF4-FFF2-40B4-BE49-F238E27FC236}">
                <a16:creationId xmlns:a16="http://schemas.microsoft.com/office/drawing/2014/main" id="{3CA75804-E541-40FD-8CA4-B49496903EA1}"/>
              </a:ext>
            </a:extLst>
          </p:cNvPr>
          <p:cNvSpPr>
            <a:spLocks noGrp="1"/>
          </p:cNvSpPr>
          <p:nvPr/>
        </p:nvSpPr>
        <p:spPr>
          <a:xfrm>
            <a:off x="571500" y="2495550"/>
            <a:ext cx="1371600" cy="304800"/>
          </a:xfrm>
          <a:prstGeom prst="rect">
            <a:avLst/>
          </a:prstGeom>
          <a:noFill/>
          <a:ln w="0">
            <a:noFill/>
            <a:prstDash val="solid"/>
          </a:ln>
        </p:spPr>
        <p:txBody>
          <a:bodyPr/>
          <a:lstStyle/>
          <a:p>
            <a:pPr algn="l">
              <a:defRPr sz="1800" b="1">
                <a:solidFill>
                  <a:srgbClr val="000000"/>
                </a:solidFill>
              </a:defRPr>
            </a:pPr>
            <a:r>
              <a:rPr sz="1800" b="1" dirty="0">
                <a:solidFill>
                  <a:srgbClr val="000000"/>
                </a:solidFill>
              </a:rPr>
              <a:t>Image input</a:t>
            </a:r>
          </a:p>
        </p:txBody>
      </p:sp>
      <p:sp>
        <p:nvSpPr>
          <p:cNvPr id="6" name="Rectangle 5">
            <a:extLst>
              <a:ext uri="{FF2B5EF4-FFF2-40B4-BE49-F238E27FC236}">
                <a16:creationId xmlns:a16="http://schemas.microsoft.com/office/drawing/2014/main" id="{67D0CE46-922D-48A6-BB98-27147589DF46}"/>
              </a:ext>
            </a:extLst>
          </p:cNvPr>
          <p:cNvSpPr>
            <a:spLocks noGrp="1"/>
          </p:cNvSpPr>
          <p:nvPr/>
        </p:nvSpPr>
        <p:spPr>
          <a:xfrm>
            <a:off x="571500" y="3009900"/>
            <a:ext cx="1371600" cy="685800"/>
          </a:xfrm>
          <a:prstGeom prst="rect">
            <a:avLst/>
          </a:prstGeom>
          <a:noFill/>
          <a:ln w="0">
            <a:noFill/>
            <a:prstDash val="solid"/>
          </a:ln>
        </p:spPr>
        <p:txBody>
          <a:bodyPr/>
          <a:lstStyle/>
          <a:p>
            <a:pPr algn="l">
              <a:defRPr sz="1425" b="0">
                <a:solidFill>
                  <a:srgbClr val="555555"/>
                </a:solidFill>
              </a:defRPr>
            </a:pPr>
            <a:r>
              <a:rPr sz="1425" b="0">
                <a:solidFill>
                  <a:srgbClr val="555555"/>
                </a:solidFill>
              </a:rPr>
              <a:t>AI2D image</a:t>
            </a:r>
          </a:p>
          <a:p>
            <a:pPr algn="l">
              <a:defRPr sz="1425" b="0">
                <a:solidFill>
                  <a:srgbClr val="555555"/>
                </a:solidFill>
              </a:defRPr>
            </a:pPr>
            <a:r>
              <a:rPr sz="1425" b="0">
                <a:solidFill>
                  <a:srgbClr val="555555"/>
                </a:solidFill>
              </a:rPr>
              <a:t>resize / split</a:t>
            </a:r>
          </a:p>
        </p:txBody>
      </p:sp>
      <p:sp>
        <p:nvSpPr>
          <p:cNvPr id="7" name="Right Arrow 6">
            <a:extLst>
              <a:ext uri="{FF2B5EF4-FFF2-40B4-BE49-F238E27FC236}">
                <a16:creationId xmlns:a16="http://schemas.microsoft.com/office/drawing/2014/main" id="{12BBB597-AE9A-4144-B220-FA9182243981}"/>
              </a:ext>
            </a:extLst>
          </p:cNvPr>
          <p:cNvSpPr>
            <a:spLocks noGrp="1"/>
          </p:cNvSpPr>
          <p:nvPr/>
        </p:nvSpPr>
        <p:spPr>
          <a:xfrm>
            <a:off x="2190750" y="3009900"/>
            <a:ext cx="266700" cy="266700"/>
          </a:xfrm>
          <a:prstGeom prst="rightArrow">
            <a:avLst/>
          </a:prstGeom>
          <a:solidFill>
            <a:srgbClr val="FF6B35"/>
          </a:solidFill>
          <a:ln w="0">
            <a:solidFill>
              <a:srgbClr val="FF6B35"/>
            </a:solidFill>
            <a:prstDash val="solid"/>
          </a:ln>
        </p:spPr>
        <p:txBody>
          <a:bodyPr/>
          <a:lstStyle/>
          <a:p>
            <a:endParaRPr lang="en-US"/>
          </a:p>
        </p:txBody>
      </p:sp>
      <p:sp>
        <p:nvSpPr>
          <p:cNvPr id="8" name="Rectangle 7">
            <a:extLst>
              <a:ext uri="{FF2B5EF4-FFF2-40B4-BE49-F238E27FC236}">
                <a16:creationId xmlns:a16="http://schemas.microsoft.com/office/drawing/2014/main" id="{61D96FED-524F-4A04-8CCA-AE1061BA080E}"/>
              </a:ext>
            </a:extLst>
          </p:cNvPr>
          <p:cNvSpPr>
            <a:spLocks noGrp="1"/>
          </p:cNvSpPr>
          <p:nvPr/>
        </p:nvSpPr>
        <p:spPr>
          <a:xfrm>
            <a:off x="2495550" y="2266950"/>
            <a:ext cx="1714500" cy="1809750"/>
          </a:xfrm>
          <a:prstGeom prst="rect">
            <a:avLst/>
          </a:prstGeom>
          <a:solidFill>
            <a:srgbClr val="EDEDED"/>
          </a:solidFill>
          <a:ln w="9525">
            <a:solidFill>
              <a:srgbClr val="B8BCC4"/>
            </a:solidFill>
            <a:prstDash val="solid"/>
          </a:ln>
        </p:spPr>
        <p:txBody>
          <a:bodyPr/>
          <a:lstStyle/>
          <a:p>
            <a:endParaRPr lang="en-US"/>
          </a:p>
        </p:txBody>
      </p:sp>
      <p:sp>
        <p:nvSpPr>
          <p:cNvPr id="9" name="Rectangle 8">
            <a:extLst>
              <a:ext uri="{FF2B5EF4-FFF2-40B4-BE49-F238E27FC236}">
                <a16:creationId xmlns:a16="http://schemas.microsoft.com/office/drawing/2014/main" id="{0C75BA5F-CC8D-404B-BFB6-64E6526A3D7E}"/>
              </a:ext>
            </a:extLst>
          </p:cNvPr>
          <p:cNvSpPr>
            <a:spLocks noGrp="1"/>
          </p:cNvSpPr>
          <p:nvPr/>
        </p:nvSpPr>
        <p:spPr>
          <a:xfrm>
            <a:off x="2667000" y="2495550"/>
            <a:ext cx="1371600" cy="304800"/>
          </a:xfrm>
          <a:prstGeom prst="rect">
            <a:avLst/>
          </a:prstGeom>
          <a:noFill/>
          <a:ln w="0">
            <a:noFill/>
            <a:prstDash val="solid"/>
          </a:ln>
        </p:spPr>
        <p:txBody>
          <a:bodyPr/>
          <a:lstStyle/>
          <a:p>
            <a:pPr algn="l">
              <a:defRPr sz="1800" b="1">
                <a:solidFill>
                  <a:srgbClr val="000000"/>
                </a:solidFill>
              </a:defRPr>
            </a:pPr>
            <a:r>
              <a:rPr sz="1800" b="1" dirty="0">
                <a:solidFill>
                  <a:srgbClr val="000000"/>
                </a:solidFill>
              </a:rPr>
              <a:t>Edge</a:t>
            </a:r>
          </a:p>
        </p:txBody>
      </p:sp>
      <p:sp>
        <p:nvSpPr>
          <p:cNvPr id="10" name="Rectangle 9">
            <a:extLst>
              <a:ext uri="{FF2B5EF4-FFF2-40B4-BE49-F238E27FC236}">
                <a16:creationId xmlns:a16="http://schemas.microsoft.com/office/drawing/2014/main" id="{9A7C24AB-9BD3-4940-8534-C07E5C26B889}"/>
              </a:ext>
            </a:extLst>
          </p:cNvPr>
          <p:cNvSpPr>
            <a:spLocks noGrp="1"/>
          </p:cNvSpPr>
          <p:nvPr/>
        </p:nvSpPr>
        <p:spPr>
          <a:xfrm>
            <a:off x="2667000" y="3009900"/>
            <a:ext cx="1371600" cy="685800"/>
          </a:xfrm>
          <a:prstGeom prst="rect">
            <a:avLst/>
          </a:prstGeom>
          <a:noFill/>
          <a:ln w="0">
            <a:noFill/>
            <a:prstDash val="solid"/>
          </a:ln>
        </p:spPr>
        <p:txBody>
          <a:bodyPr/>
          <a:lstStyle/>
          <a:p>
            <a:pPr algn="l">
              <a:defRPr sz="1425" b="0">
                <a:solidFill>
                  <a:srgbClr val="555555"/>
                </a:solidFill>
              </a:defRPr>
            </a:pPr>
            <a:r>
              <a:rPr sz="1425" b="0" dirty="0">
                <a:solidFill>
                  <a:srgbClr val="555555"/>
                </a:solidFill>
              </a:rPr>
              <a:t>vision encoder</a:t>
            </a:r>
          </a:p>
          <a:p>
            <a:pPr algn="l">
              <a:defRPr sz="1425" b="0">
                <a:solidFill>
                  <a:srgbClr val="555555"/>
                </a:solidFill>
              </a:defRPr>
            </a:pPr>
            <a:r>
              <a:rPr sz="1425" b="0" dirty="0">
                <a:solidFill>
                  <a:srgbClr val="555555"/>
                </a:solidFill>
              </a:rPr>
              <a:t>projection module</a:t>
            </a:r>
          </a:p>
        </p:txBody>
      </p:sp>
      <p:sp>
        <p:nvSpPr>
          <p:cNvPr id="11" name="Right Arrow 10">
            <a:extLst>
              <a:ext uri="{FF2B5EF4-FFF2-40B4-BE49-F238E27FC236}">
                <a16:creationId xmlns:a16="http://schemas.microsoft.com/office/drawing/2014/main" id="{C1BBCB3C-2CAC-46D7-9EDF-EB4385D79A6C}"/>
              </a:ext>
            </a:extLst>
          </p:cNvPr>
          <p:cNvSpPr>
            <a:spLocks noGrp="1"/>
          </p:cNvSpPr>
          <p:nvPr/>
        </p:nvSpPr>
        <p:spPr>
          <a:xfrm>
            <a:off x="4286250" y="3009900"/>
            <a:ext cx="266700" cy="266700"/>
          </a:xfrm>
          <a:prstGeom prst="rightArrow">
            <a:avLst/>
          </a:prstGeom>
          <a:solidFill>
            <a:srgbClr val="FF6B35"/>
          </a:solidFill>
          <a:ln w="0">
            <a:solidFill>
              <a:srgbClr val="FF6B35"/>
            </a:solidFill>
            <a:prstDash val="solid"/>
          </a:ln>
        </p:spPr>
        <p:txBody>
          <a:bodyPr/>
          <a:lstStyle/>
          <a:p>
            <a:endParaRPr lang="en-US"/>
          </a:p>
        </p:txBody>
      </p:sp>
      <p:sp>
        <p:nvSpPr>
          <p:cNvPr id="12" name="Rectangle 11">
            <a:extLst>
              <a:ext uri="{FF2B5EF4-FFF2-40B4-BE49-F238E27FC236}">
                <a16:creationId xmlns:a16="http://schemas.microsoft.com/office/drawing/2014/main" id="{F35E9518-9306-40BA-9630-B993812B4076}"/>
              </a:ext>
            </a:extLst>
          </p:cNvPr>
          <p:cNvSpPr>
            <a:spLocks noGrp="1"/>
          </p:cNvSpPr>
          <p:nvPr/>
        </p:nvSpPr>
        <p:spPr>
          <a:xfrm>
            <a:off x="4591050" y="2266950"/>
            <a:ext cx="1714500" cy="1809750"/>
          </a:xfrm>
          <a:prstGeom prst="rect">
            <a:avLst/>
          </a:prstGeom>
          <a:solidFill>
            <a:srgbClr val="FFF1EA"/>
          </a:solidFill>
          <a:ln w="9525">
            <a:solidFill>
              <a:srgbClr val="B8BCC4"/>
            </a:solidFill>
            <a:prstDash val="solid"/>
          </a:ln>
        </p:spPr>
        <p:txBody>
          <a:bodyPr/>
          <a:lstStyle/>
          <a:p>
            <a:endParaRPr lang="en-US"/>
          </a:p>
        </p:txBody>
      </p:sp>
      <p:sp>
        <p:nvSpPr>
          <p:cNvPr id="13" name="Rectangle 12">
            <a:extLst>
              <a:ext uri="{FF2B5EF4-FFF2-40B4-BE49-F238E27FC236}">
                <a16:creationId xmlns:a16="http://schemas.microsoft.com/office/drawing/2014/main" id="{630514A2-64CA-4046-905E-C611ADCE9C19}"/>
              </a:ext>
            </a:extLst>
          </p:cNvPr>
          <p:cNvSpPr>
            <a:spLocks noGrp="1"/>
          </p:cNvSpPr>
          <p:nvPr/>
        </p:nvSpPr>
        <p:spPr>
          <a:xfrm>
            <a:off x="4762500" y="2495550"/>
            <a:ext cx="1371600" cy="304800"/>
          </a:xfrm>
          <a:prstGeom prst="rect">
            <a:avLst/>
          </a:prstGeom>
          <a:noFill/>
          <a:ln w="0">
            <a:noFill/>
            <a:prstDash val="solid"/>
          </a:ln>
        </p:spPr>
        <p:txBody>
          <a:bodyPr/>
          <a:lstStyle/>
          <a:p>
            <a:pPr algn="l">
              <a:defRPr sz="1800" b="1">
                <a:solidFill>
                  <a:srgbClr val="000000"/>
                </a:solidFill>
              </a:defRPr>
            </a:pPr>
            <a:r>
              <a:rPr sz="1800" b="1">
                <a:solidFill>
                  <a:srgbClr val="000000"/>
                </a:solidFill>
              </a:rPr>
              <a:t>Transport</a:t>
            </a:r>
          </a:p>
        </p:txBody>
      </p:sp>
      <p:sp>
        <p:nvSpPr>
          <p:cNvPr id="14" name="Rectangle 13">
            <a:extLst>
              <a:ext uri="{FF2B5EF4-FFF2-40B4-BE49-F238E27FC236}">
                <a16:creationId xmlns:a16="http://schemas.microsoft.com/office/drawing/2014/main" id="{372E2750-A62A-4294-85D7-C50836F48E72}"/>
              </a:ext>
            </a:extLst>
          </p:cNvPr>
          <p:cNvSpPr>
            <a:spLocks noGrp="1"/>
          </p:cNvSpPr>
          <p:nvPr/>
        </p:nvSpPr>
        <p:spPr>
          <a:xfrm>
            <a:off x="4762500" y="3009900"/>
            <a:ext cx="1371600" cy="685800"/>
          </a:xfrm>
          <a:prstGeom prst="rect">
            <a:avLst/>
          </a:prstGeom>
          <a:noFill/>
          <a:ln w="0">
            <a:noFill/>
            <a:prstDash val="solid"/>
          </a:ln>
        </p:spPr>
        <p:txBody>
          <a:bodyPr/>
          <a:lstStyle/>
          <a:p>
            <a:pPr algn="l">
              <a:defRPr sz="1425" b="0">
                <a:solidFill>
                  <a:srgbClr val="555555"/>
                </a:solidFill>
              </a:defRPr>
            </a:pPr>
            <a:r>
              <a:rPr sz="1425" b="0" dirty="0">
                <a:solidFill>
                  <a:srgbClr val="555555"/>
                </a:solidFill>
              </a:rPr>
              <a:t>embedding bytes</a:t>
            </a:r>
          </a:p>
          <a:p>
            <a:pPr algn="l">
              <a:defRPr sz="1425" b="0">
                <a:solidFill>
                  <a:srgbClr val="555555"/>
                </a:solidFill>
              </a:defRPr>
            </a:pPr>
            <a:r>
              <a:rPr sz="1425" b="0" dirty="0">
                <a:solidFill>
                  <a:srgbClr val="555555"/>
                </a:solidFill>
              </a:rPr>
              <a:t>metadata header</a:t>
            </a:r>
          </a:p>
        </p:txBody>
      </p:sp>
      <p:sp>
        <p:nvSpPr>
          <p:cNvPr id="15" name="Right Arrow 14">
            <a:extLst>
              <a:ext uri="{FF2B5EF4-FFF2-40B4-BE49-F238E27FC236}">
                <a16:creationId xmlns:a16="http://schemas.microsoft.com/office/drawing/2014/main" id="{270423C8-D0EC-428D-A52B-7B415E2F966C}"/>
              </a:ext>
            </a:extLst>
          </p:cNvPr>
          <p:cNvSpPr>
            <a:spLocks noGrp="1"/>
          </p:cNvSpPr>
          <p:nvPr/>
        </p:nvSpPr>
        <p:spPr>
          <a:xfrm>
            <a:off x="6381750" y="3009900"/>
            <a:ext cx="266700" cy="266700"/>
          </a:xfrm>
          <a:prstGeom prst="rightArrow">
            <a:avLst/>
          </a:prstGeom>
          <a:solidFill>
            <a:srgbClr val="FF6B35"/>
          </a:solidFill>
          <a:ln w="0">
            <a:solidFill>
              <a:srgbClr val="FF6B35"/>
            </a:solidFill>
            <a:prstDash val="solid"/>
          </a:ln>
        </p:spPr>
        <p:txBody>
          <a:bodyPr/>
          <a:lstStyle/>
          <a:p>
            <a:endParaRPr lang="en-US"/>
          </a:p>
        </p:txBody>
      </p:sp>
      <p:sp>
        <p:nvSpPr>
          <p:cNvPr id="16" name="Rectangle 15">
            <a:extLst>
              <a:ext uri="{FF2B5EF4-FFF2-40B4-BE49-F238E27FC236}">
                <a16:creationId xmlns:a16="http://schemas.microsoft.com/office/drawing/2014/main" id="{536E3DC1-FEB2-4605-A0ED-68E1FC63CB73}"/>
              </a:ext>
            </a:extLst>
          </p:cNvPr>
          <p:cNvSpPr>
            <a:spLocks noGrp="1"/>
          </p:cNvSpPr>
          <p:nvPr/>
        </p:nvSpPr>
        <p:spPr>
          <a:xfrm>
            <a:off x="6686550" y="2266950"/>
            <a:ext cx="1714500" cy="1809750"/>
          </a:xfrm>
          <a:prstGeom prst="rect">
            <a:avLst/>
          </a:prstGeom>
          <a:solidFill>
            <a:srgbClr val="EDEDED"/>
          </a:solidFill>
          <a:ln w="9525">
            <a:solidFill>
              <a:srgbClr val="B8BCC4"/>
            </a:solidFill>
            <a:prstDash val="solid"/>
          </a:ln>
        </p:spPr>
        <p:txBody>
          <a:bodyPr/>
          <a:lstStyle/>
          <a:p>
            <a:endParaRPr lang="en-US"/>
          </a:p>
        </p:txBody>
      </p:sp>
      <p:sp>
        <p:nvSpPr>
          <p:cNvPr id="17" name="Rectangle 16">
            <a:extLst>
              <a:ext uri="{FF2B5EF4-FFF2-40B4-BE49-F238E27FC236}">
                <a16:creationId xmlns:a16="http://schemas.microsoft.com/office/drawing/2014/main" id="{F97867B1-3C05-437E-8044-08A4405A8F0F}"/>
              </a:ext>
            </a:extLst>
          </p:cNvPr>
          <p:cNvSpPr>
            <a:spLocks noGrp="1"/>
          </p:cNvSpPr>
          <p:nvPr/>
        </p:nvSpPr>
        <p:spPr>
          <a:xfrm>
            <a:off x="6858000" y="2495550"/>
            <a:ext cx="1371600" cy="304800"/>
          </a:xfrm>
          <a:prstGeom prst="rect">
            <a:avLst/>
          </a:prstGeom>
          <a:noFill/>
          <a:ln w="0">
            <a:noFill/>
            <a:prstDash val="solid"/>
          </a:ln>
        </p:spPr>
        <p:txBody>
          <a:bodyPr/>
          <a:lstStyle/>
          <a:p>
            <a:pPr algn="l">
              <a:defRPr sz="1800" b="1">
                <a:solidFill>
                  <a:srgbClr val="000000"/>
                </a:solidFill>
              </a:defRPr>
            </a:pPr>
            <a:r>
              <a:rPr sz="1800" b="1">
                <a:solidFill>
                  <a:srgbClr val="000000"/>
                </a:solidFill>
              </a:rPr>
              <a:t>Cloud</a:t>
            </a:r>
          </a:p>
        </p:txBody>
      </p:sp>
      <p:sp>
        <p:nvSpPr>
          <p:cNvPr id="18" name="Rectangle 17">
            <a:extLst>
              <a:ext uri="{FF2B5EF4-FFF2-40B4-BE49-F238E27FC236}">
                <a16:creationId xmlns:a16="http://schemas.microsoft.com/office/drawing/2014/main" id="{79C10242-2772-4755-AD78-B92BFF8CAEB5}"/>
              </a:ext>
            </a:extLst>
          </p:cNvPr>
          <p:cNvSpPr>
            <a:spLocks noGrp="1"/>
          </p:cNvSpPr>
          <p:nvPr/>
        </p:nvSpPr>
        <p:spPr>
          <a:xfrm>
            <a:off x="6858000" y="3009900"/>
            <a:ext cx="1371600" cy="685800"/>
          </a:xfrm>
          <a:prstGeom prst="rect">
            <a:avLst/>
          </a:prstGeom>
          <a:noFill/>
          <a:ln w="0">
            <a:noFill/>
            <a:prstDash val="solid"/>
          </a:ln>
        </p:spPr>
        <p:txBody>
          <a:bodyPr/>
          <a:lstStyle/>
          <a:p>
            <a:pPr algn="l">
              <a:defRPr sz="1425" b="0">
                <a:solidFill>
                  <a:srgbClr val="555555"/>
                </a:solidFill>
              </a:defRPr>
            </a:pPr>
            <a:r>
              <a:rPr sz="1425" b="0">
                <a:solidFill>
                  <a:srgbClr val="555555"/>
                </a:solidFill>
              </a:rPr>
              <a:t>rebuild tensor</a:t>
            </a:r>
          </a:p>
          <a:p>
            <a:pPr algn="l">
              <a:defRPr sz="1425" b="0">
                <a:solidFill>
                  <a:srgbClr val="555555"/>
                </a:solidFill>
              </a:defRPr>
            </a:pPr>
            <a:r>
              <a:rPr sz="1425" b="0">
                <a:solidFill>
                  <a:srgbClr val="555555"/>
                </a:solidFill>
              </a:rPr>
              <a:t>prompt tokens</a:t>
            </a:r>
          </a:p>
        </p:txBody>
      </p:sp>
      <p:sp>
        <p:nvSpPr>
          <p:cNvPr id="19" name="Right Arrow 18">
            <a:extLst>
              <a:ext uri="{FF2B5EF4-FFF2-40B4-BE49-F238E27FC236}">
                <a16:creationId xmlns:a16="http://schemas.microsoft.com/office/drawing/2014/main" id="{EF95B371-B5FD-48B3-A157-5FFEFF728934}"/>
              </a:ext>
            </a:extLst>
          </p:cNvPr>
          <p:cNvSpPr>
            <a:spLocks noGrp="1"/>
          </p:cNvSpPr>
          <p:nvPr/>
        </p:nvSpPr>
        <p:spPr>
          <a:xfrm>
            <a:off x="8477250" y="3009900"/>
            <a:ext cx="266700" cy="266700"/>
          </a:xfrm>
          <a:prstGeom prst="rightArrow">
            <a:avLst/>
          </a:prstGeom>
          <a:solidFill>
            <a:srgbClr val="FF6B35"/>
          </a:solidFill>
          <a:ln w="0">
            <a:solidFill>
              <a:srgbClr val="FF6B35"/>
            </a:solidFill>
            <a:prstDash val="solid"/>
          </a:ln>
        </p:spPr>
        <p:txBody>
          <a:bodyPr/>
          <a:lstStyle/>
          <a:p>
            <a:endParaRPr lang="en-US"/>
          </a:p>
        </p:txBody>
      </p:sp>
      <p:sp>
        <p:nvSpPr>
          <p:cNvPr id="20" name="Rectangle 19">
            <a:extLst>
              <a:ext uri="{FF2B5EF4-FFF2-40B4-BE49-F238E27FC236}">
                <a16:creationId xmlns:a16="http://schemas.microsoft.com/office/drawing/2014/main" id="{CC89A456-E12D-47F2-934B-92D499C28AFA}"/>
              </a:ext>
            </a:extLst>
          </p:cNvPr>
          <p:cNvSpPr>
            <a:spLocks noGrp="1"/>
          </p:cNvSpPr>
          <p:nvPr/>
        </p:nvSpPr>
        <p:spPr>
          <a:xfrm>
            <a:off x="8782050" y="2266950"/>
            <a:ext cx="1714500" cy="1809750"/>
          </a:xfrm>
          <a:prstGeom prst="rect">
            <a:avLst/>
          </a:prstGeom>
          <a:solidFill>
            <a:srgbClr val="EDEDED"/>
          </a:solidFill>
          <a:ln w="9525">
            <a:solidFill>
              <a:srgbClr val="B8BCC4"/>
            </a:solidFill>
            <a:prstDash val="solid"/>
          </a:ln>
        </p:spPr>
        <p:txBody>
          <a:bodyPr/>
          <a:lstStyle/>
          <a:p>
            <a:endParaRPr lang="en-US"/>
          </a:p>
        </p:txBody>
      </p:sp>
      <p:sp>
        <p:nvSpPr>
          <p:cNvPr id="21" name="Rectangle 20">
            <a:extLst>
              <a:ext uri="{FF2B5EF4-FFF2-40B4-BE49-F238E27FC236}">
                <a16:creationId xmlns:a16="http://schemas.microsoft.com/office/drawing/2014/main" id="{BEF60A21-D832-4847-98EB-C80C356BF909}"/>
              </a:ext>
            </a:extLst>
          </p:cNvPr>
          <p:cNvSpPr>
            <a:spLocks noGrp="1"/>
          </p:cNvSpPr>
          <p:nvPr/>
        </p:nvSpPr>
        <p:spPr>
          <a:xfrm>
            <a:off x="8953500" y="2495550"/>
            <a:ext cx="1371600" cy="304800"/>
          </a:xfrm>
          <a:prstGeom prst="rect">
            <a:avLst/>
          </a:prstGeom>
          <a:noFill/>
          <a:ln w="0">
            <a:noFill/>
            <a:prstDash val="solid"/>
          </a:ln>
        </p:spPr>
        <p:txBody>
          <a:bodyPr/>
          <a:lstStyle/>
          <a:p>
            <a:pPr algn="l">
              <a:defRPr sz="1800" b="1">
                <a:solidFill>
                  <a:srgbClr val="000000"/>
                </a:solidFill>
              </a:defRPr>
            </a:pPr>
            <a:r>
              <a:rPr sz="1800" b="1">
                <a:solidFill>
                  <a:srgbClr val="000000"/>
                </a:solidFill>
              </a:rPr>
              <a:t>Output</a:t>
            </a:r>
          </a:p>
        </p:txBody>
      </p:sp>
      <p:sp>
        <p:nvSpPr>
          <p:cNvPr id="22" name="Rectangle 21">
            <a:extLst>
              <a:ext uri="{FF2B5EF4-FFF2-40B4-BE49-F238E27FC236}">
                <a16:creationId xmlns:a16="http://schemas.microsoft.com/office/drawing/2014/main" id="{91D7B78F-EE17-4C8F-A159-472B67583FB8}"/>
              </a:ext>
            </a:extLst>
          </p:cNvPr>
          <p:cNvSpPr>
            <a:spLocks noGrp="1"/>
          </p:cNvSpPr>
          <p:nvPr/>
        </p:nvSpPr>
        <p:spPr>
          <a:xfrm>
            <a:off x="8953500" y="3009900"/>
            <a:ext cx="1371600" cy="685800"/>
          </a:xfrm>
          <a:prstGeom prst="rect">
            <a:avLst/>
          </a:prstGeom>
          <a:noFill/>
          <a:ln w="0">
            <a:noFill/>
            <a:prstDash val="solid"/>
          </a:ln>
        </p:spPr>
        <p:txBody>
          <a:bodyPr/>
          <a:lstStyle/>
          <a:p>
            <a:pPr algn="l">
              <a:defRPr sz="1425" b="0">
                <a:solidFill>
                  <a:srgbClr val="555555"/>
                </a:solidFill>
              </a:defRPr>
            </a:pPr>
            <a:r>
              <a:rPr sz="1425" b="0">
                <a:solidFill>
                  <a:srgbClr val="555555"/>
                </a:solidFill>
              </a:rPr>
              <a:t>LLM decoder</a:t>
            </a:r>
          </a:p>
          <a:p>
            <a:pPr algn="l">
              <a:defRPr sz="1425" b="0">
                <a:solidFill>
                  <a:srgbClr val="555555"/>
                </a:solidFill>
              </a:defRPr>
            </a:pPr>
            <a:r>
              <a:rPr sz="1425" b="0">
                <a:solidFill>
                  <a:srgbClr val="555555"/>
                </a:solidFill>
              </a:rPr>
              <a:t>generated text</a:t>
            </a:r>
          </a:p>
        </p:txBody>
      </p:sp>
      <p:sp>
        <p:nvSpPr>
          <p:cNvPr id="23" name="Rectangle 22">
            <a:extLst>
              <a:ext uri="{FF2B5EF4-FFF2-40B4-BE49-F238E27FC236}">
                <a16:creationId xmlns:a16="http://schemas.microsoft.com/office/drawing/2014/main" id="{BF6D60D5-E05D-45F0-9B1B-C623045A2AD3}"/>
              </a:ext>
            </a:extLst>
          </p:cNvPr>
          <p:cNvSpPr>
            <a:spLocks noGrp="1"/>
          </p:cNvSpPr>
          <p:nvPr/>
        </p:nvSpPr>
        <p:spPr>
          <a:xfrm>
            <a:off x="400050" y="4762500"/>
            <a:ext cx="10096500" cy="647700"/>
          </a:xfrm>
          <a:prstGeom prst="rect">
            <a:avLst/>
          </a:prstGeom>
          <a:noFill/>
          <a:ln w="0">
            <a:noFill/>
            <a:prstDash val="solid"/>
          </a:ln>
        </p:spPr>
        <p:txBody>
          <a:bodyPr/>
          <a:lstStyle/>
          <a:p>
            <a:pPr algn="l">
              <a:defRPr sz="1650" b="0">
                <a:solidFill>
                  <a:srgbClr val="000000"/>
                </a:solidFill>
              </a:defRPr>
            </a:pPr>
            <a:r>
              <a:rPr sz="1650" b="0">
                <a:solidFill>
                  <a:srgbClr val="000000"/>
                </a:solidFill>
              </a:rPr>
              <a:t>Implementation basis: edge.py performs image preprocessing, visual embedding generation, and request sending. cloud.py receives bytes, reconstructs the tensor, combines it with prompt tokens, and runs the decoder.</a:t>
            </a:r>
          </a:p>
        </p:txBody>
      </p:sp>
      <p:sp>
        <p:nvSpPr>
          <p:cNvPr id="24" name="Rectangle 23">
            <a:extLst>
              <a:ext uri="{FF2B5EF4-FFF2-40B4-BE49-F238E27FC236}">
                <a16:creationId xmlns:a16="http://schemas.microsoft.com/office/drawing/2014/main" id="{369467CE-8DCE-458C-9C7C-9F9EA0B943AC}"/>
              </a:ext>
            </a:extLst>
          </p:cNvPr>
          <p:cNvSpPr>
            <a:spLocks noGrp="1"/>
          </p:cNvSpPr>
          <p:nvPr/>
        </p:nvSpPr>
        <p:spPr>
          <a:xfrm>
            <a:off x="400050" y="5657850"/>
            <a:ext cx="9810750" cy="342900"/>
          </a:xfrm>
          <a:prstGeom prst="rect">
            <a:avLst/>
          </a:prstGeom>
          <a:noFill/>
          <a:ln w="0">
            <a:noFill/>
            <a:prstDash val="solid"/>
          </a:ln>
        </p:spPr>
        <p:txBody>
          <a:bodyPr/>
          <a:lstStyle/>
          <a:p>
            <a:pPr algn="l">
              <a:defRPr sz="1875" b="1">
                <a:solidFill>
                  <a:srgbClr val="000000"/>
                </a:solidFill>
              </a:defRPr>
            </a:pPr>
            <a:r>
              <a:rPr sz="1875" b="1">
                <a:solidFill>
                  <a:srgbClr val="000000"/>
                </a:solidFill>
              </a:rPr>
              <a:t>The split point is after projection, so the cloud can generate text without receiving the raw image.</a:t>
            </a:r>
          </a:p>
        </p:txBody>
      </p:sp>
      <p:sp>
        <p:nvSpPr>
          <p:cNvPr id="25" name="Rectangle 24">
            <a:extLst>
              <a:ext uri="{FF2B5EF4-FFF2-40B4-BE49-F238E27FC236}">
                <a16:creationId xmlns:a16="http://schemas.microsoft.com/office/drawing/2014/main" id="{C6C7E87C-8455-4267-A346-D3651ED3F385}"/>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03</a:t>
            </a:r>
          </a:p>
        </p:txBody>
      </p:sp>
    </p:spTree>
    <p:extLst>
      <p:ext uri="{BB962C8B-B14F-4D97-AF65-F5344CB8AC3E}">
        <p14:creationId xmlns:p14="http://schemas.microsoft.com/office/powerpoint/2010/main" val="756197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AA0B8F0-1E74-4881-BF66-34DB753B24D3}"/>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E6E2496E-B66E-403B-AF43-E580104462A3}"/>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The experiment matrix isolates three comparison dimensions</a:t>
            </a:r>
          </a:p>
        </p:txBody>
      </p:sp>
      <p:sp>
        <p:nvSpPr>
          <p:cNvPr id="3" name="Rectangle 2">
            <a:extLst>
              <a:ext uri="{FF2B5EF4-FFF2-40B4-BE49-F238E27FC236}">
                <a16:creationId xmlns:a16="http://schemas.microsoft.com/office/drawing/2014/main" id="{56EC3ECD-9ADA-457F-997F-FECE9BE9A704}"/>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sp>
        <p:nvSpPr>
          <p:cNvPr id="4" name="Rectangle 3">
            <a:extLst>
              <a:ext uri="{FF2B5EF4-FFF2-40B4-BE49-F238E27FC236}">
                <a16:creationId xmlns:a16="http://schemas.microsoft.com/office/drawing/2014/main" id="{1113413E-869F-445B-9566-C212C8E41B53}"/>
              </a:ext>
            </a:extLst>
          </p:cNvPr>
          <p:cNvSpPr>
            <a:spLocks noGrp="1"/>
          </p:cNvSpPr>
          <p:nvPr/>
        </p:nvSpPr>
        <p:spPr>
          <a:xfrm>
            <a:off x="400050" y="1695450"/>
            <a:ext cx="2381250" cy="285750"/>
          </a:xfrm>
          <a:prstGeom prst="rect">
            <a:avLst/>
          </a:prstGeom>
          <a:noFill/>
          <a:ln w="0">
            <a:noFill/>
            <a:prstDash val="solid"/>
          </a:ln>
        </p:spPr>
        <p:txBody>
          <a:bodyPr/>
          <a:lstStyle/>
          <a:p>
            <a:pPr algn="l">
              <a:defRPr sz="1500" b="1">
                <a:solidFill>
                  <a:srgbClr val="555555"/>
                </a:solidFill>
              </a:defRPr>
            </a:pPr>
            <a:r>
              <a:rPr sz="1500" b="1" dirty="0">
                <a:solidFill>
                  <a:srgbClr val="555555"/>
                </a:solidFill>
              </a:rPr>
              <a:t>Dimension</a:t>
            </a:r>
          </a:p>
        </p:txBody>
      </p:sp>
      <p:sp>
        <p:nvSpPr>
          <p:cNvPr id="5" name="Rectangle 4">
            <a:extLst>
              <a:ext uri="{FF2B5EF4-FFF2-40B4-BE49-F238E27FC236}">
                <a16:creationId xmlns:a16="http://schemas.microsoft.com/office/drawing/2014/main" id="{1871FD53-90AF-4125-BAE4-C9993CF690E1}"/>
              </a:ext>
            </a:extLst>
          </p:cNvPr>
          <p:cNvSpPr>
            <a:spLocks noGrp="1"/>
          </p:cNvSpPr>
          <p:nvPr/>
        </p:nvSpPr>
        <p:spPr>
          <a:xfrm>
            <a:off x="3238500" y="1695450"/>
            <a:ext cx="2381250" cy="285750"/>
          </a:xfrm>
          <a:prstGeom prst="rect">
            <a:avLst/>
          </a:prstGeom>
          <a:noFill/>
          <a:ln w="0">
            <a:noFill/>
            <a:prstDash val="solid"/>
          </a:ln>
        </p:spPr>
        <p:txBody>
          <a:bodyPr/>
          <a:lstStyle/>
          <a:p>
            <a:pPr algn="l">
              <a:defRPr sz="1500" b="1">
                <a:solidFill>
                  <a:srgbClr val="555555"/>
                </a:solidFill>
              </a:defRPr>
            </a:pPr>
            <a:r>
              <a:rPr sz="1500" b="1" dirty="0">
                <a:solidFill>
                  <a:srgbClr val="555555"/>
                </a:solidFill>
              </a:rPr>
              <a:t>Control</a:t>
            </a:r>
          </a:p>
        </p:txBody>
      </p:sp>
      <p:sp>
        <p:nvSpPr>
          <p:cNvPr id="6" name="Rectangle 5">
            <a:extLst>
              <a:ext uri="{FF2B5EF4-FFF2-40B4-BE49-F238E27FC236}">
                <a16:creationId xmlns:a16="http://schemas.microsoft.com/office/drawing/2014/main" id="{A383C78A-36B5-41AC-BB58-5ABE903BE0E5}"/>
              </a:ext>
            </a:extLst>
          </p:cNvPr>
          <p:cNvSpPr>
            <a:spLocks noGrp="1"/>
          </p:cNvSpPr>
          <p:nvPr/>
        </p:nvSpPr>
        <p:spPr>
          <a:xfrm>
            <a:off x="6076950" y="1695450"/>
            <a:ext cx="2381250" cy="285750"/>
          </a:xfrm>
          <a:prstGeom prst="rect">
            <a:avLst/>
          </a:prstGeom>
          <a:noFill/>
          <a:ln w="0">
            <a:noFill/>
            <a:prstDash val="solid"/>
          </a:ln>
        </p:spPr>
        <p:txBody>
          <a:bodyPr/>
          <a:lstStyle/>
          <a:p>
            <a:pPr algn="l">
              <a:defRPr sz="1500" b="1">
                <a:solidFill>
                  <a:srgbClr val="555555"/>
                </a:solidFill>
              </a:defRPr>
            </a:pPr>
            <a:r>
              <a:rPr sz="1500" b="1" dirty="0">
                <a:solidFill>
                  <a:srgbClr val="555555"/>
                </a:solidFill>
              </a:rPr>
              <a:t>Experiment</a:t>
            </a:r>
          </a:p>
        </p:txBody>
      </p:sp>
      <p:sp>
        <p:nvSpPr>
          <p:cNvPr id="7" name="Rectangle 6">
            <a:extLst>
              <a:ext uri="{FF2B5EF4-FFF2-40B4-BE49-F238E27FC236}">
                <a16:creationId xmlns:a16="http://schemas.microsoft.com/office/drawing/2014/main" id="{C3B9D965-466F-42C6-8C0D-2DD5C298421B}"/>
              </a:ext>
            </a:extLst>
          </p:cNvPr>
          <p:cNvSpPr>
            <a:spLocks noGrp="1"/>
          </p:cNvSpPr>
          <p:nvPr/>
        </p:nvSpPr>
        <p:spPr>
          <a:xfrm>
            <a:off x="8915400" y="1695450"/>
            <a:ext cx="2381250" cy="285750"/>
          </a:xfrm>
          <a:prstGeom prst="rect">
            <a:avLst/>
          </a:prstGeom>
          <a:noFill/>
          <a:ln w="0">
            <a:noFill/>
            <a:prstDash val="solid"/>
          </a:ln>
        </p:spPr>
        <p:txBody>
          <a:bodyPr/>
          <a:lstStyle/>
          <a:p>
            <a:pPr algn="l">
              <a:defRPr sz="1500" b="1">
                <a:solidFill>
                  <a:srgbClr val="555555"/>
                </a:solidFill>
              </a:defRPr>
            </a:pPr>
            <a:r>
              <a:rPr sz="1500" b="1" dirty="0">
                <a:solidFill>
                  <a:srgbClr val="555555"/>
                </a:solidFill>
              </a:rPr>
              <a:t>Purpose</a:t>
            </a:r>
          </a:p>
        </p:txBody>
      </p:sp>
      <p:sp>
        <p:nvSpPr>
          <p:cNvPr id="8" name="Rectangle 7">
            <a:extLst>
              <a:ext uri="{FF2B5EF4-FFF2-40B4-BE49-F238E27FC236}">
                <a16:creationId xmlns:a16="http://schemas.microsoft.com/office/drawing/2014/main" id="{51118C43-6C94-48F3-AE06-888823CBA056}"/>
              </a:ext>
            </a:extLst>
          </p:cNvPr>
          <p:cNvSpPr>
            <a:spLocks noGrp="1"/>
          </p:cNvSpPr>
          <p:nvPr/>
        </p:nvSpPr>
        <p:spPr>
          <a:xfrm>
            <a:off x="400050" y="2076450"/>
            <a:ext cx="11391900" cy="13335"/>
          </a:xfrm>
          <a:prstGeom prst="rect">
            <a:avLst/>
          </a:prstGeom>
          <a:solidFill>
            <a:srgbClr val="B8BCC4"/>
          </a:solidFill>
          <a:ln w="0">
            <a:solidFill>
              <a:srgbClr val="B8BCC4"/>
            </a:solidFill>
            <a:prstDash val="solid"/>
          </a:ln>
        </p:spPr>
        <p:txBody>
          <a:bodyPr/>
          <a:lstStyle/>
          <a:p>
            <a:endParaRPr lang="en-US"/>
          </a:p>
        </p:txBody>
      </p:sp>
      <p:sp>
        <p:nvSpPr>
          <p:cNvPr id="9" name="Rectangle 8">
            <a:extLst>
              <a:ext uri="{FF2B5EF4-FFF2-40B4-BE49-F238E27FC236}">
                <a16:creationId xmlns:a16="http://schemas.microsoft.com/office/drawing/2014/main" id="{D61D0F69-E4C0-42E1-80F8-F63ACB147EE2}"/>
              </a:ext>
            </a:extLst>
          </p:cNvPr>
          <p:cNvSpPr>
            <a:spLocks noGrp="1"/>
          </p:cNvSpPr>
          <p:nvPr/>
        </p:nvSpPr>
        <p:spPr>
          <a:xfrm>
            <a:off x="400050" y="2209800"/>
            <a:ext cx="11391900" cy="685800"/>
          </a:xfrm>
          <a:prstGeom prst="rect">
            <a:avLst/>
          </a:prstGeom>
          <a:solidFill>
            <a:srgbClr val="F6F6F6"/>
          </a:solidFill>
          <a:ln w="9525">
            <a:solidFill>
              <a:srgbClr val="B8BCC4"/>
            </a:solidFill>
            <a:prstDash val="solid"/>
          </a:ln>
        </p:spPr>
        <p:txBody>
          <a:bodyPr/>
          <a:lstStyle/>
          <a:p>
            <a:endParaRPr lang="en-US"/>
          </a:p>
        </p:txBody>
      </p:sp>
      <p:sp>
        <p:nvSpPr>
          <p:cNvPr id="10" name="Rectangle 9">
            <a:extLst>
              <a:ext uri="{FF2B5EF4-FFF2-40B4-BE49-F238E27FC236}">
                <a16:creationId xmlns:a16="http://schemas.microsoft.com/office/drawing/2014/main" id="{34D28EB7-BFB6-4DFC-9B9F-EF1D37312F1A}"/>
              </a:ext>
            </a:extLst>
          </p:cNvPr>
          <p:cNvSpPr>
            <a:spLocks noGrp="1"/>
          </p:cNvSpPr>
          <p:nvPr/>
        </p:nvSpPr>
        <p:spPr>
          <a:xfrm>
            <a:off x="400050" y="2305050"/>
            <a:ext cx="2333625" cy="533400"/>
          </a:xfrm>
          <a:prstGeom prst="rect">
            <a:avLst/>
          </a:prstGeom>
          <a:noFill/>
          <a:ln w="0">
            <a:noFill/>
            <a:prstDash val="solid"/>
          </a:ln>
        </p:spPr>
        <p:txBody>
          <a:bodyPr/>
          <a:lstStyle/>
          <a:p>
            <a:pPr algn="l">
              <a:defRPr sz="1575" b="1">
                <a:solidFill>
                  <a:srgbClr val="000000"/>
                </a:solidFill>
              </a:defRPr>
            </a:pPr>
            <a:r>
              <a:rPr sz="1575" b="1" dirty="0">
                <a:solidFill>
                  <a:srgbClr val="000000"/>
                </a:solidFill>
              </a:rPr>
              <a:t>Inference placement</a:t>
            </a:r>
          </a:p>
        </p:txBody>
      </p:sp>
      <p:sp>
        <p:nvSpPr>
          <p:cNvPr id="11" name="Rectangle 10">
            <a:extLst>
              <a:ext uri="{FF2B5EF4-FFF2-40B4-BE49-F238E27FC236}">
                <a16:creationId xmlns:a16="http://schemas.microsoft.com/office/drawing/2014/main" id="{7414F3E5-3614-4024-9739-EF9D285FD87A}"/>
              </a:ext>
            </a:extLst>
          </p:cNvPr>
          <p:cNvSpPr>
            <a:spLocks noGrp="1"/>
          </p:cNvSpPr>
          <p:nvPr/>
        </p:nvSpPr>
        <p:spPr>
          <a:xfrm>
            <a:off x="3238500" y="23050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Local baseline</a:t>
            </a:r>
          </a:p>
        </p:txBody>
      </p:sp>
      <p:sp>
        <p:nvSpPr>
          <p:cNvPr id="12" name="Rectangle 11">
            <a:extLst>
              <a:ext uri="{FF2B5EF4-FFF2-40B4-BE49-F238E27FC236}">
                <a16:creationId xmlns:a16="http://schemas.microsoft.com/office/drawing/2014/main" id="{76FFD638-4747-4C7D-88D3-1787F4C3A9CF}"/>
              </a:ext>
            </a:extLst>
          </p:cNvPr>
          <p:cNvSpPr>
            <a:spLocks noGrp="1"/>
          </p:cNvSpPr>
          <p:nvPr/>
        </p:nvSpPr>
        <p:spPr>
          <a:xfrm>
            <a:off x="6076950" y="23050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Split inference</a:t>
            </a:r>
          </a:p>
        </p:txBody>
      </p:sp>
      <p:sp>
        <p:nvSpPr>
          <p:cNvPr id="13" name="Rectangle 12">
            <a:extLst>
              <a:ext uri="{FF2B5EF4-FFF2-40B4-BE49-F238E27FC236}">
                <a16:creationId xmlns:a16="http://schemas.microsoft.com/office/drawing/2014/main" id="{C6FEF1F9-4F6F-468B-BD26-7E30A062862B}"/>
              </a:ext>
            </a:extLst>
          </p:cNvPr>
          <p:cNvSpPr>
            <a:spLocks noGrp="1"/>
          </p:cNvSpPr>
          <p:nvPr/>
        </p:nvSpPr>
        <p:spPr>
          <a:xfrm>
            <a:off x="8915400" y="2305050"/>
            <a:ext cx="2714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Measure the cost of splitting the model</a:t>
            </a:r>
          </a:p>
        </p:txBody>
      </p:sp>
      <p:sp>
        <p:nvSpPr>
          <p:cNvPr id="14" name="Rectangle 13">
            <a:extLst>
              <a:ext uri="{FF2B5EF4-FFF2-40B4-BE49-F238E27FC236}">
                <a16:creationId xmlns:a16="http://schemas.microsoft.com/office/drawing/2014/main" id="{98CCEECE-947F-4A87-9588-AEB0FBDA8C73}"/>
              </a:ext>
            </a:extLst>
          </p:cNvPr>
          <p:cNvSpPr>
            <a:spLocks noGrp="1"/>
          </p:cNvSpPr>
          <p:nvPr/>
        </p:nvSpPr>
        <p:spPr>
          <a:xfrm>
            <a:off x="400050" y="3181350"/>
            <a:ext cx="2333625" cy="533400"/>
          </a:xfrm>
          <a:prstGeom prst="rect">
            <a:avLst/>
          </a:prstGeom>
          <a:noFill/>
          <a:ln w="0">
            <a:noFill/>
            <a:prstDash val="solid"/>
          </a:ln>
        </p:spPr>
        <p:txBody>
          <a:bodyPr/>
          <a:lstStyle/>
          <a:p>
            <a:pPr algn="l">
              <a:defRPr sz="1575" b="1">
                <a:solidFill>
                  <a:srgbClr val="000000"/>
                </a:solidFill>
              </a:defRPr>
            </a:pPr>
            <a:r>
              <a:rPr sz="1575" b="1" dirty="0">
                <a:solidFill>
                  <a:srgbClr val="000000"/>
                </a:solidFill>
              </a:rPr>
              <a:t>Transport protocol</a:t>
            </a:r>
          </a:p>
        </p:txBody>
      </p:sp>
      <p:sp>
        <p:nvSpPr>
          <p:cNvPr id="15" name="Rectangle 14">
            <a:extLst>
              <a:ext uri="{FF2B5EF4-FFF2-40B4-BE49-F238E27FC236}">
                <a16:creationId xmlns:a16="http://schemas.microsoft.com/office/drawing/2014/main" id="{E3BFD234-CDA7-4128-9FF9-A9104F70D4EE}"/>
              </a:ext>
            </a:extLst>
          </p:cNvPr>
          <p:cNvSpPr>
            <a:spLocks noGrp="1"/>
          </p:cNvSpPr>
          <p:nvPr/>
        </p:nvSpPr>
        <p:spPr>
          <a:xfrm>
            <a:off x="3238500" y="31813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HTTP</a:t>
            </a:r>
          </a:p>
        </p:txBody>
      </p:sp>
      <p:sp>
        <p:nvSpPr>
          <p:cNvPr id="16" name="Rectangle 15">
            <a:extLst>
              <a:ext uri="{FF2B5EF4-FFF2-40B4-BE49-F238E27FC236}">
                <a16:creationId xmlns:a16="http://schemas.microsoft.com/office/drawing/2014/main" id="{DE764B78-34F7-480D-811C-251385CC4E3B}"/>
              </a:ext>
            </a:extLst>
          </p:cNvPr>
          <p:cNvSpPr>
            <a:spLocks noGrp="1"/>
          </p:cNvSpPr>
          <p:nvPr/>
        </p:nvSpPr>
        <p:spPr>
          <a:xfrm>
            <a:off x="6076950" y="31813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HTTPS AES-GCM</a:t>
            </a:r>
          </a:p>
          <a:p>
            <a:pPr algn="l">
              <a:defRPr sz="1425" b="0">
                <a:solidFill>
                  <a:srgbClr val="000000"/>
                </a:solidFill>
              </a:defRPr>
            </a:pPr>
            <a:r>
              <a:rPr sz="1425" b="0" dirty="0">
                <a:solidFill>
                  <a:srgbClr val="000000"/>
                </a:solidFill>
              </a:rPr>
              <a:t>HTTPS ChaCha20</a:t>
            </a:r>
          </a:p>
        </p:txBody>
      </p:sp>
      <p:sp>
        <p:nvSpPr>
          <p:cNvPr id="17" name="Rectangle 16">
            <a:extLst>
              <a:ext uri="{FF2B5EF4-FFF2-40B4-BE49-F238E27FC236}">
                <a16:creationId xmlns:a16="http://schemas.microsoft.com/office/drawing/2014/main" id="{E54C6B5C-0648-4312-BFBF-8B0FF9E3CD6F}"/>
              </a:ext>
            </a:extLst>
          </p:cNvPr>
          <p:cNvSpPr>
            <a:spLocks noGrp="1"/>
          </p:cNvSpPr>
          <p:nvPr/>
        </p:nvSpPr>
        <p:spPr>
          <a:xfrm>
            <a:off x="8915400" y="3181350"/>
            <a:ext cx="2714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Measure encryption and authentication overhead</a:t>
            </a:r>
          </a:p>
        </p:txBody>
      </p:sp>
      <p:sp>
        <p:nvSpPr>
          <p:cNvPr id="18" name="Rectangle 17">
            <a:extLst>
              <a:ext uri="{FF2B5EF4-FFF2-40B4-BE49-F238E27FC236}">
                <a16:creationId xmlns:a16="http://schemas.microsoft.com/office/drawing/2014/main" id="{F04D90EA-58E0-4C76-B4B9-B4641C41B7D4}"/>
              </a:ext>
            </a:extLst>
          </p:cNvPr>
          <p:cNvSpPr>
            <a:spLocks noGrp="1"/>
          </p:cNvSpPr>
          <p:nvPr/>
        </p:nvSpPr>
        <p:spPr>
          <a:xfrm>
            <a:off x="400050" y="3962400"/>
            <a:ext cx="11391900" cy="685800"/>
          </a:xfrm>
          <a:prstGeom prst="rect">
            <a:avLst/>
          </a:prstGeom>
          <a:solidFill>
            <a:srgbClr val="F6F6F6"/>
          </a:solidFill>
          <a:ln w="9525">
            <a:solidFill>
              <a:srgbClr val="B8BCC4"/>
            </a:solidFill>
            <a:prstDash val="solid"/>
          </a:ln>
        </p:spPr>
        <p:txBody>
          <a:bodyPr/>
          <a:lstStyle/>
          <a:p>
            <a:endParaRPr lang="en-US"/>
          </a:p>
        </p:txBody>
      </p:sp>
      <p:sp>
        <p:nvSpPr>
          <p:cNvPr id="19" name="Rectangle 18">
            <a:extLst>
              <a:ext uri="{FF2B5EF4-FFF2-40B4-BE49-F238E27FC236}">
                <a16:creationId xmlns:a16="http://schemas.microsoft.com/office/drawing/2014/main" id="{3FED99B4-D4B8-4CDC-B302-EF136F3028C6}"/>
              </a:ext>
            </a:extLst>
          </p:cNvPr>
          <p:cNvSpPr>
            <a:spLocks noGrp="1"/>
          </p:cNvSpPr>
          <p:nvPr/>
        </p:nvSpPr>
        <p:spPr>
          <a:xfrm>
            <a:off x="400050" y="4057650"/>
            <a:ext cx="2333625" cy="533400"/>
          </a:xfrm>
          <a:prstGeom prst="rect">
            <a:avLst/>
          </a:prstGeom>
          <a:noFill/>
          <a:ln w="0">
            <a:noFill/>
            <a:prstDash val="solid"/>
          </a:ln>
        </p:spPr>
        <p:txBody>
          <a:bodyPr/>
          <a:lstStyle/>
          <a:p>
            <a:pPr algn="l">
              <a:defRPr sz="1575" b="1">
                <a:solidFill>
                  <a:srgbClr val="000000"/>
                </a:solidFill>
              </a:defRPr>
            </a:pPr>
            <a:r>
              <a:rPr sz="1575" b="1" dirty="0">
                <a:solidFill>
                  <a:srgbClr val="000000"/>
                </a:solidFill>
              </a:rPr>
              <a:t>Cloud environment</a:t>
            </a:r>
          </a:p>
        </p:txBody>
      </p:sp>
      <p:sp>
        <p:nvSpPr>
          <p:cNvPr id="20" name="Rectangle 19">
            <a:extLst>
              <a:ext uri="{FF2B5EF4-FFF2-40B4-BE49-F238E27FC236}">
                <a16:creationId xmlns:a16="http://schemas.microsoft.com/office/drawing/2014/main" id="{BD8ABC90-68CC-422A-BD78-67BC7130391C}"/>
              </a:ext>
            </a:extLst>
          </p:cNvPr>
          <p:cNvSpPr>
            <a:spLocks noGrp="1"/>
          </p:cNvSpPr>
          <p:nvPr/>
        </p:nvSpPr>
        <p:spPr>
          <a:xfrm>
            <a:off x="3238500" y="40576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Standard VM</a:t>
            </a:r>
          </a:p>
        </p:txBody>
      </p:sp>
      <p:sp>
        <p:nvSpPr>
          <p:cNvPr id="21" name="Rectangle 20">
            <a:extLst>
              <a:ext uri="{FF2B5EF4-FFF2-40B4-BE49-F238E27FC236}">
                <a16:creationId xmlns:a16="http://schemas.microsoft.com/office/drawing/2014/main" id="{552C689B-4B89-4413-82C6-38E236DD8DF0}"/>
              </a:ext>
            </a:extLst>
          </p:cNvPr>
          <p:cNvSpPr>
            <a:spLocks noGrp="1"/>
          </p:cNvSpPr>
          <p:nvPr/>
        </p:nvSpPr>
        <p:spPr>
          <a:xfrm>
            <a:off x="6076950" y="40576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Intel TDX VM</a:t>
            </a:r>
          </a:p>
        </p:txBody>
      </p:sp>
      <p:sp>
        <p:nvSpPr>
          <p:cNvPr id="22" name="Rectangle 21">
            <a:extLst>
              <a:ext uri="{FF2B5EF4-FFF2-40B4-BE49-F238E27FC236}">
                <a16:creationId xmlns:a16="http://schemas.microsoft.com/office/drawing/2014/main" id="{D00E2882-6E63-4CCC-A969-04E41922113F}"/>
              </a:ext>
            </a:extLst>
          </p:cNvPr>
          <p:cNvSpPr>
            <a:spLocks noGrp="1"/>
          </p:cNvSpPr>
          <p:nvPr/>
        </p:nvSpPr>
        <p:spPr>
          <a:xfrm>
            <a:off x="8915400" y="4057650"/>
            <a:ext cx="2714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Measure trusted execution overhead</a:t>
            </a:r>
          </a:p>
        </p:txBody>
      </p:sp>
      <p:sp>
        <p:nvSpPr>
          <p:cNvPr id="23" name="Rectangle 22">
            <a:extLst>
              <a:ext uri="{FF2B5EF4-FFF2-40B4-BE49-F238E27FC236}">
                <a16:creationId xmlns:a16="http://schemas.microsoft.com/office/drawing/2014/main" id="{5B92B35E-3F9D-4CDB-8624-88A9DAC7B1B7}"/>
              </a:ext>
            </a:extLst>
          </p:cNvPr>
          <p:cNvSpPr>
            <a:spLocks noGrp="1"/>
          </p:cNvSpPr>
          <p:nvPr/>
        </p:nvSpPr>
        <p:spPr>
          <a:xfrm>
            <a:off x="400050" y="4933950"/>
            <a:ext cx="2333625" cy="533400"/>
          </a:xfrm>
          <a:prstGeom prst="rect">
            <a:avLst/>
          </a:prstGeom>
          <a:noFill/>
          <a:ln w="0">
            <a:noFill/>
            <a:prstDash val="solid"/>
          </a:ln>
        </p:spPr>
        <p:txBody>
          <a:bodyPr/>
          <a:lstStyle/>
          <a:p>
            <a:pPr algn="l">
              <a:defRPr sz="1575" b="1">
                <a:solidFill>
                  <a:srgbClr val="000000"/>
                </a:solidFill>
              </a:defRPr>
            </a:pPr>
            <a:r>
              <a:rPr sz="1575" b="1" dirty="0">
                <a:solidFill>
                  <a:srgbClr val="000000"/>
                </a:solidFill>
              </a:rPr>
              <a:t>Input batch</a:t>
            </a:r>
          </a:p>
        </p:txBody>
      </p:sp>
      <p:sp>
        <p:nvSpPr>
          <p:cNvPr id="24" name="Rectangle 23">
            <a:extLst>
              <a:ext uri="{FF2B5EF4-FFF2-40B4-BE49-F238E27FC236}">
                <a16:creationId xmlns:a16="http://schemas.microsoft.com/office/drawing/2014/main" id="{1EA78AF7-2B9C-4824-82D5-DE4F64C57ECA}"/>
              </a:ext>
            </a:extLst>
          </p:cNvPr>
          <p:cNvSpPr>
            <a:spLocks noGrp="1"/>
          </p:cNvSpPr>
          <p:nvPr/>
        </p:nvSpPr>
        <p:spPr>
          <a:xfrm>
            <a:off x="3238500" y="4933950"/>
            <a:ext cx="2333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AI2D images</a:t>
            </a:r>
          </a:p>
        </p:txBody>
      </p:sp>
      <p:sp>
        <p:nvSpPr>
          <p:cNvPr id="25" name="Rectangle 24">
            <a:extLst>
              <a:ext uri="{FF2B5EF4-FFF2-40B4-BE49-F238E27FC236}">
                <a16:creationId xmlns:a16="http://schemas.microsoft.com/office/drawing/2014/main" id="{C6FC8FE0-ADF3-4639-878E-4CED2E2C3AD8}"/>
              </a:ext>
            </a:extLst>
          </p:cNvPr>
          <p:cNvSpPr>
            <a:spLocks noGrp="1"/>
          </p:cNvSpPr>
          <p:nvPr/>
        </p:nvSpPr>
        <p:spPr>
          <a:xfrm>
            <a:off x="6076950" y="4933950"/>
            <a:ext cx="2333625" cy="533400"/>
          </a:xfrm>
          <a:prstGeom prst="rect">
            <a:avLst/>
          </a:prstGeom>
          <a:noFill/>
          <a:ln w="0">
            <a:noFill/>
            <a:prstDash val="solid"/>
          </a:ln>
        </p:spPr>
        <p:txBody>
          <a:bodyPr/>
          <a:lstStyle/>
          <a:p>
            <a:pPr algn="l">
              <a:defRPr sz="1425" b="0">
                <a:solidFill>
                  <a:srgbClr val="000000"/>
                </a:solidFill>
              </a:defRPr>
            </a:pPr>
            <a:r>
              <a:rPr lang="en-GB" sz="1425" b="0" dirty="0">
                <a:solidFill>
                  <a:srgbClr val="000000"/>
                </a:solidFill>
              </a:rPr>
              <a:t>20 TDX images</a:t>
            </a:r>
          </a:p>
        </p:txBody>
      </p:sp>
      <p:sp>
        <p:nvSpPr>
          <p:cNvPr id="26" name="Rectangle 25">
            <a:extLst>
              <a:ext uri="{FF2B5EF4-FFF2-40B4-BE49-F238E27FC236}">
                <a16:creationId xmlns:a16="http://schemas.microsoft.com/office/drawing/2014/main" id="{F5988ABA-5B34-4FBC-9492-B91EDEE708F6}"/>
              </a:ext>
            </a:extLst>
          </p:cNvPr>
          <p:cNvSpPr>
            <a:spLocks noGrp="1"/>
          </p:cNvSpPr>
          <p:nvPr/>
        </p:nvSpPr>
        <p:spPr>
          <a:xfrm>
            <a:off x="8915400" y="4933950"/>
            <a:ext cx="2714625" cy="533400"/>
          </a:xfrm>
          <a:prstGeom prst="rect">
            <a:avLst/>
          </a:prstGeom>
          <a:noFill/>
          <a:ln w="0">
            <a:noFill/>
            <a:prstDash val="solid"/>
          </a:ln>
        </p:spPr>
        <p:txBody>
          <a:bodyPr/>
          <a:lstStyle/>
          <a:p>
            <a:pPr algn="l">
              <a:defRPr sz="1425" b="0">
                <a:solidFill>
                  <a:srgbClr val="000000"/>
                </a:solidFill>
              </a:defRPr>
            </a:pPr>
            <a:r>
              <a:rPr sz="1425" b="0" dirty="0">
                <a:solidFill>
                  <a:srgbClr val="000000"/>
                </a:solidFill>
              </a:rPr>
              <a:t>Build repeatable interim metrics</a:t>
            </a:r>
          </a:p>
        </p:txBody>
      </p:sp>
      <p:sp>
        <p:nvSpPr>
          <p:cNvPr id="27" name="Rectangle 26">
            <a:extLst>
              <a:ext uri="{FF2B5EF4-FFF2-40B4-BE49-F238E27FC236}">
                <a16:creationId xmlns:a16="http://schemas.microsoft.com/office/drawing/2014/main" id="{03148F3D-8B84-44A7-A9B3-AFA32E1681B4}"/>
              </a:ext>
            </a:extLst>
          </p:cNvPr>
          <p:cNvSpPr>
            <a:spLocks noGrp="1"/>
          </p:cNvSpPr>
          <p:nvPr/>
        </p:nvSpPr>
        <p:spPr>
          <a:xfrm>
            <a:off x="400050" y="6019800"/>
            <a:ext cx="10096500" cy="304800"/>
          </a:xfrm>
          <a:prstGeom prst="rect">
            <a:avLst/>
          </a:prstGeom>
          <a:noFill/>
          <a:ln w="0">
            <a:noFill/>
            <a:prstDash val="solid"/>
          </a:ln>
        </p:spPr>
        <p:txBody>
          <a:bodyPr/>
          <a:lstStyle/>
          <a:p>
            <a:pPr algn="l">
              <a:defRPr sz="1800" b="1">
                <a:solidFill>
                  <a:srgbClr val="000000"/>
                </a:solidFill>
              </a:defRPr>
            </a:pPr>
            <a:r>
              <a:rPr sz="1800" b="1" dirty="0">
                <a:solidFill>
                  <a:srgbClr val="000000"/>
                </a:solidFill>
              </a:rPr>
              <a:t>The logic is sequential: first test split inference, then protocol choice, then TDX.</a:t>
            </a:r>
          </a:p>
        </p:txBody>
      </p:sp>
      <p:sp>
        <p:nvSpPr>
          <p:cNvPr id="28" name="Rectangle 27">
            <a:extLst>
              <a:ext uri="{FF2B5EF4-FFF2-40B4-BE49-F238E27FC236}">
                <a16:creationId xmlns:a16="http://schemas.microsoft.com/office/drawing/2014/main" id="{9A1C901A-9DA6-4653-B274-67E905AABA26}"/>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04</a:t>
            </a:r>
          </a:p>
        </p:txBody>
      </p:sp>
    </p:spTree>
    <p:extLst>
      <p:ext uri="{BB962C8B-B14F-4D97-AF65-F5344CB8AC3E}">
        <p14:creationId xmlns:p14="http://schemas.microsoft.com/office/powerpoint/2010/main" val="1781428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E4732D8-4409-453F-8EDE-13CE7654442F}"/>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E05A37BA-42CF-4045-BB96-CEA2FEAB2C67}"/>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The metrics separate end-to-end latency into explainable stages</a:t>
            </a:r>
          </a:p>
        </p:txBody>
      </p:sp>
      <p:sp>
        <p:nvSpPr>
          <p:cNvPr id="3" name="Rectangle 2">
            <a:extLst>
              <a:ext uri="{FF2B5EF4-FFF2-40B4-BE49-F238E27FC236}">
                <a16:creationId xmlns:a16="http://schemas.microsoft.com/office/drawing/2014/main" id="{F8269637-76DF-44F5-BD98-9F67CE483BC9}"/>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sp>
        <p:nvSpPr>
          <p:cNvPr id="4" name="Rectangle 3">
            <a:extLst>
              <a:ext uri="{FF2B5EF4-FFF2-40B4-BE49-F238E27FC236}">
                <a16:creationId xmlns:a16="http://schemas.microsoft.com/office/drawing/2014/main" id="{021F04A2-EAB5-4B8E-8C24-7A239FA6A797}"/>
              </a:ext>
            </a:extLst>
          </p:cNvPr>
          <p:cNvSpPr>
            <a:spLocks noGrp="1"/>
          </p:cNvSpPr>
          <p:nvPr/>
        </p:nvSpPr>
        <p:spPr>
          <a:xfrm>
            <a:off x="609600" y="1809750"/>
            <a:ext cx="3143250" cy="323850"/>
          </a:xfrm>
          <a:prstGeom prst="rect">
            <a:avLst/>
          </a:prstGeom>
          <a:noFill/>
          <a:ln w="0">
            <a:noFill/>
            <a:prstDash val="solid"/>
          </a:ln>
        </p:spPr>
        <p:txBody>
          <a:bodyPr/>
          <a:lstStyle/>
          <a:p>
            <a:pPr algn="l">
              <a:defRPr sz="2100" b="1">
                <a:solidFill>
                  <a:srgbClr val="000000"/>
                </a:solidFill>
              </a:defRPr>
            </a:pPr>
            <a:r>
              <a:rPr sz="2100" b="1" dirty="0">
                <a:solidFill>
                  <a:srgbClr val="000000"/>
                </a:solidFill>
              </a:rPr>
              <a:t>Split total latency</a:t>
            </a:r>
          </a:p>
        </p:txBody>
      </p:sp>
      <p:sp>
        <p:nvSpPr>
          <p:cNvPr id="5" name="Rectangle 4">
            <a:extLst>
              <a:ext uri="{FF2B5EF4-FFF2-40B4-BE49-F238E27FC236}">
                <a16:creationId xmlns:a16="http://schemas.microsoft.com/office/drawing/2014/main" id="{DDC9407B-31DC-4252-9491-769E9F49A345}"/>
              </a:ext>
            </a:extLst>
          </p:cNvPr>
          <p:cNvSpPr>
            <a:spLocks noGrp="1"/>
          </p:cNvSpPr>
          <p:nvPr/>
        </p:nvSpPr>
        <p:spPr>
          <a:xfrm>
            <a:off x="4000500" y="1809750"/>
            <a:ext cx="381000" cy="323850"/>
          </a:xfrm>
          <a:prstGeom prst="rect">
            <a:avLst/>
          </a:prstGeom>
          <a:noFill/>
          <a:ln w="0">
            <a:noFill/>
            <a:prstDash val="solid"/>
          </a:ln>
        </p:spPr>
        <p:txBody>
          <a:bodyPr/>
          <a:lstStyle/>
          <a:p>
            <a:pPr algn="l">
              <a:defRPr sz="2400" b="1">
                <a:solidFill>
                  <a:srgbClr val="000000"/>
                </a:solidFill>
              </a:defRPr>
            </a:pPr>
            <a:r>
              <a:rPr sz="2400" b="1">
                <a:solidFill>
                  <a:srgbClr val="000000"/>
                </a:solidFill>
              </a:rPr>
              <a:t>=</a:t>
            </a:r>
          </a:p>
        </p:txBody>
      </p:sp>
      <p:sp>
        <p:nvSpPr>
          <p:cNvPr id="6" name="Rectangle 5">
            <a:extLst>
              <a:ext uri="{FF2B5EF4-FFF2-40B4-BE49-F238E27FC236}">
                <a16:creationId xmlns:a16="http://schemas.microsoft.com/office/drawing/2014/main" id="{FBBDF82F-74E0-4A47-956F-7FAC710D75EB}"/>
              </a:ext>
            </a:extLst>
          </p:cNvPr>
          <p:cNvSpPr>
            <a:spLocks noGrp="1"/>
          </p:cNvSpPr>
          <p:nvPr/>
        </p:nvSpPr>
        <p:spPr>
          <a:xfrm>
            <a:off x="4476750" y="1600200"/>
            <a:ext cx="2000250" cy="1428750"/>
          </a:xfrm>
          <a:prstGeom prst="rect">
            <a:avLst/>
          </a:prstGeom>
          <a:solidFill>
            <a:srgbClr val="EDEDED"/>
          </a:solidFill>
          <a:ln w="9525">
            <a:solidFill>
              <a:srgbClr val="B8BCC4"/>
            </a:solidFill>
            <a:prstDash val="solid"/>
          </a:ln>
        </p:spPr>
        <p:txBody>
          <a:bodyPr/>
          <a:lstStyle/>
          <a:p>
            <a:endParaRPr lang="en-US"/>
          </a:p>
        </p:txBody>
      </p:sp>
      <p:sp>
        <p:nvSpPr>
          <p:cNvPr id="7" name="Rectangle 6">
            <a:extLst>
              <a:ext uri="{FF2B5EF4-FFF2-40B4-BE49-F238E27FC236}">
                <a16:creationId xmlns:a16="http://schemas.microsoft.com/office/drawing/2014/main" id="{8CA4CD4D-EAC1-4A22-A53B-30B6F72E0541}"/>
              </a:ext>
            </a:extLst>
          </p:cNvPr>
          <p:cNvSpPr>
            <a:spLocks noGrp="1"/>
          </p:cNvSpPr>
          <p:nvPr/>
        </p:nvSpPr>
        <p:spPr>
          <a:xfrm>
            <a:off x="4648200" y="1771650"/>
            <a:ext cx="1657350" cy="323850"/>
          </a:xfrm>
          <a:prstGeom prst="rect">
            <a:avLst/>
          </a:prstGeom>
          <a:noFill/>
          <a:ln w="0">
            <a:noFill/>
            <a:prstDash val="solid"/>
          </a:ln>
        </p:spPr>
        <p:txBody>
          <a:bodyPr/>
          <a:lstStyle/>
          <a:p>
            <a:pPr algn="l">
              <a:defRPr sz="1650" b="1">
                <a:solidFill>
                  <a:srgbClr val="000000"/>
                </a:solidFill>
              </a:defRPr>
            </a:pPr>
            <a:r>
              <a:rPr sz="1650" b="1" dirty="0">
                <a:solidFill>
                  <a:srgbClr val="000000"/>
                </a:solidFill>
              </a:rPr>
              <a:t>Edge compute</a:t>
            </a:r>
          </a:p>
        </p:txBody>
      </p:sp>
      <p:sp>
        <p:nvSpPr>
          <p:cNvPr id="8" name="Rectangle 7">
            <a:extLst>
              <a:ext uri="{FF2B5EF4-FFF2-40B4-BE49-F238E27FC236}">
                <a16:creationId xmlns:a16="http://schemas.microsoft.com/office/drawing/2014/main" id="{75417F82-9CF6-4195-8102-E97BACD5626F}"/>
              </a:ext>
            </a:extLst>
          </p:cNvPr>
          <p:cNvSpPr>
            <a:spLocks noGrp="1"/>
          </p:cNvSpPr>
          <p:nvPr/>
        </p:nvSpPr>
        <p:spPr>
          <a:xfrm>
            <a:off x="4648200" y="2190750"/>
            <a:ext cx="1657350" cy="704850"/>
          </a:xfrm>
          <a:prstGeom prst="rect">
            <a:avLst/>
          </a:prstGeom>
          <a:noFill/>
          <a:ln w="0">
            <a:noFill/>
            <a:prstDash val="solid"/>
          </a:ln>
        </p:spPr>
        <p:txBody>
          <a:bodyPr/>
          <a:lstStyle/>
          <a:p>
            <a:pPr algn="l">
              <a:defRPr sz="1350" b="0">
                <a:solidFill>
                  <a:srgbClr val="000000"/>
                </a:solidFill>
              </a:defRPr>
            </a:pPr>
            <a:r>
              <a:rPr sz="1350" b="0">
                <a:solidFill>
                  <a:srgbClr val="000000"/>
                </a:solidFill>
              </a:rPr>
              <a:t>image preprocessing</a:t>
            </a:r>
          </a:p>
          <a:p>
            <a:pPr algn="l">
              <a:defRPr sz="1350" b="0">
                <a:solidFill>
                  <a:srgbClr val="000000"/>
                </a:solidFill>
              </a:defRPr>
            </a:pPr>
            <a:r>
              <a:rPr sz="1350" b="0">
                <a:solidFill>
                  <a:srgbClr val="000000"/>
                </a:solidFill>
              </a:rPr>
              <a:t>vision encoder</a:t>
            </a:r>
          </a:p>
          <a:p>
            <a:pPr algn="l">
              <a:defRPr sz="1350" b="0">
                <a:solidFill>
                  <a:srgbClr val="000000"/>
                </a:solidFill>
              </a:defRPr>
            </a:pPr>
            <a:r>
              <a:rPr sz="1350" b="0">
                <a:solidFill>
                  <a:srgbClr val="000000"/>
                </a:solidFill>
              </a:rPr>
              <a:t>projection</a:t>
            </a:r>
          </a:p>
        </p:txBody>
      </p:sp>
      <p:sp>
        <p:nvSpPr>
          <p:cNvPr id="9" name="Rectangle 8">
            <a:extLst>
              <a:ext uri="{FF2B5EF4-FFF2-40B4-BE49-F238E27FC236}">
                <a16:creationId xmlns:a16="http://schemas.microsoft.com/office/drawing/2014/main" id="{8BD8F65C-BA72-4519-BD9F-D9DD8653969B}"/>
              </a:ext>
            </a:extLst>
          </p:cNvPr>
          <p:cNvSpPr>
            <a:spLocks noGrp="1"/>
          </p:cNvSpPr>
          <p:nvPr/>
        </p:nvSpPr>
        <p:spPr>
          <a:xfrm>
            <a:off x="6686550" y="2038350"/>
            <a:ext cx="381000" cy="323850"/>
          </a:xfrm>
          <a:prstGeom prst="rect">
            <a:avLst/>
          </a:prstGeom>
          <a:noFill/>
          <a:ln w="0">
            <a:noFill/>
            <a:prstDash val="solid"/>
          </a:ln>
        </p:spPr>
        <p:txBody>
          <a:bodyPr/>
          <a:lstStyle/>
          <a:p>
            <a:pPr algn="l">
              <a:defRPr sz="2400" b="1">
                <a:solidFill>
                  <a:srgbClr val="000000"/>
                </a:solidFill>
              </a:defRPr>
            </a:pPr>
            <a:r>
              <a:rPr sz="2400" b="1">
                <a:solidFill>
                  <a:srgbClr val="000000"/>
                </a:solidFill>
              </a:rPr>
              <a:t>+</a:t>
            </a:r>
          </a:p>
        </p:txBody>
      </p:sp>
      <p:sp>
        <p:nvSpPr>
          <p:cNvPr id="10" name="Rectangle 9">
            <a:extLst>
              <a:ext uri="{FF2B5EF4-FFF2-40B4-BE49-F238E27FC236}">
                <a16:creationId xmlns:a16="http://schemas.microsoft.com/office/drawing/2014/main" id="{6C9CA84A-6E1F-47C7-A0E7-9915C8D2DC90}"/>
              </a:ext>
            </a:extLst>
          </p:cNvPr>
          <p:cNvSpPr>
            <a:spLocks noGrp="1"/>
          </p:cNvSpPr>
          <p:nvPr/>
        </p:nvSpPr>
        <p:spPr>
          <a:xfrm>
            <a:off x="7162800" y="1600200"/>
            <a:ext cx="2190750" cy="1428750"/>
          </a:xfrm>
          <a:prstGeom prst="rect">
            <a:avLst/>
          </a:prstGeom>
          <a:solidFill>
            <a:srgbClr val="FFF1EA"/>
          </a:solidFill>
          <a:ln w="9525">
            <a:solidFill>
              <a:srgbClr val="B8BCC4"/>
            </a:solidFill>
            <a:prstDash val="solid"/>
          </a:ln>
        </p:spPr>
        <p:txBody>
          <a:bodyPr/>
          <a:lstStyle/>
          <a:p>
            <a:endParaRPr lang="en-US"/>
          </a:p>
        </p:txBody>
      </p:sp>
      <p:sp>
        <p:nvSpPr>
          <p:cNvPr id="11" name="Rectangle 10">
            <a:extLst>
              <a:ext uri="{FF2B5EF4-FFF2-40B4-BE49-F238E27FC236}">
                <a16:creationId xmlns:a16="http://schemas.microsoft.com/office/drawing/2014/main" id="{BB091892-34C4-4543-98EB-43D6EF4F87DC}"/>
              </a:ext>
            </a:extLst>
          </p:cNvPr>
          <p:cNvSpPr>
            <a:spLocks noGrp="1"/>
          </p:cNvSpPr>
          <p:nvPr/>
        </p:nvSpPr>
        <p:spPr>
          <a:xfrm>
            <a:off x="7334250" y="1771650"/>
            <a:ext cx="1847850" cy="323850"/>
          </a:xfrm>
          <a:prstGeom prst="rect">
            <a:avLst/>
          </a:prstGeom>
          <a:noFill/>
          <a:ln w="0">
            <a:noFill/>
            <a:prstDash val="solid"/>
          </a:ln>
        </p:spPr>
        <p:txBody>
          <a:bodyPr/>
          <a:lstStyle/>
          <a:p>
            <a:pPr algn="l">
              <a:defRPr sz="1650" b="1">
                <a:solidFill>
                  <a:srgbClr val="FF6B35"/>
                </a:solidFill>
              </a:defRPr>
            </a:pPr>
            <a:r>
              <a:rPr sz="1650" b="1" dirty="0">
                <a:solidFill>
                  <a:srgbClr val="FF6B35"/>
                </a:solidFill>
              </a:rPr>
              <a:t>Transfer and cloud</a:t>
            </a:r>
          </a:p>
        </p:txBody>
      </p:sp>
      <p:sp>
        <p:nvSpPr>
          <p:cNvPr id="12" name="Rectangle 11">
            <a:extLst>
              <a:ext uri="{FF2B5EF4-FFF2-40B4-BE49-F238E27FC236}">
                <a16:creationId xmlns:a16="http://schemas.microsoft.com/office/drawing/2014/main" id="{1692B0EC-2677-4827-A959-F53B4A32ED14}"/>
              </a:ext>
            </a:extLst>
          </p:cNvPr>
          <p:cNvSpPr>
            <a:spLocks noGrp="1"/>
          </p:cNvSpPr>
          <p:nvPr/>
        </p:nvSpPr>
        <p:spPr>
          <a:xfrm>
            <a:off x="7334250" y="2190750"/>
            <a:ext cx="1847850" cy="70485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payload transfer</a:t>
            </a:r>
          </a:p>
          <a:p>
            <a:pPr algn="l">
              <a:defRPr sz="1350" b="0">
                <a:solidFill>
                  <a:srgbClr val="000000"/>
                </a:solidFill>
              </a:defRPr>
            </a:pPr>
            <a:r>
              <a:rPr sz="1350" b="0" dirty="0">
                <a:solidFill>
                  <a:srgbClr val="000000"/>
                </a:solidFill>
              </a:rPr>
              <a:t>cloud request</a:t>
            </a:r>
          </a:p>
          <a:p>
            <a:pPr algn="l">
              <a:defRPr sz="1350" b="0">
                <a:solidFill>
                  <a:srgbClr val="000000"/>
                </a:solidFill>
              </a:defRPr>
            </a:pPr>
            <a:r>
              <a:rPr sz="1350" b="0" dirty="0">
                <a:solidFill>
                  <a:srgbClr val="000000"/>
                </a:solidFill>
              </a:rPr>
              <a:t>network overhead</a:t>
            </a:r>
          </a:p>
        </p:txBody>
      </p:sp>
      <p:sp>
        <p:nvSpPr>
          <p:cNvPr id="13" name="Rectangle 12">
            <a:extLst>
              <a:ext uri="{FF2B5EF4-FFF2-40B4-BE49-F238E27FC236}">
                <a16:creationId xmlns:a16="http://schemas.microsoft.com/office/drawing/2014/main" id="{1206484B-7D9E-4878-86FE-F3F492E22A95}"/>
              </a:ext>
            </a:extLst>
          </p:cNvPr>
          <p:cNvSpPr>
            <a:spLocks noGrp="1"/>
          </p:cNvSpPr>
          <p:nvPr/>
        </p:nvSpPr>
        <p:spPr>
          <a:xfrm>
            <a:off x="9582150" y="2038350"/>
            <a:ext cx="381000" cy="323850"/>
          </a:xfrm>
          <a:prstGeom prst="rect">
            <a:avLst/>
          </a:prstGeom>
          <a:noFill/>
          <a:ln w="0">
            <a:noFill/>
            <a:prstDash val="solid"/>
          </a:ln>
        </p:spPr>
        <p:txBody>
          <a:bodyPr/>
          <a:lstStyle/>
          <a:p>
            <a:pPr algn="l">
              <a:defRPr sz="2400" b="1">
                <a:solidFill>
                  <a:srgbClr val="000000"/>
                </a:solidFill>
              </a:defRPr>
            </a:pPr>
            <a:r>
              <a:rPr sz="2400" b="1">
                <a:solidFill>
                  <a:srgbClr val="000000"/>
                </a:solidFill>
              </a:rPr>
              <a:t>+</a:t>
            </a:r>
          </a:p>
        </p:txBody>
      </p:sp>
      <p:sp>
        <p:nvSpPr>
          <p:cNvPr id="14" name="Rectangle 13">
            <a:extLst>
              <a:ext uri="{FF2B5EF4-FFF2-40B4-BE49-F238E27FC236}">
                <a16:creationId xmlns:a16="http://schemas.microsoft.com/office/drawing/2014/main" id="{E3C31BA3-0242-4AF2-806F-539ACEE3862A}"/>
              </a:ext>
            </a:extLst>
          </p:cNvPr>
          <p:cNvSpPr>
            <a:spLocks noGrp="1"/>
          </p:cNvSpPr>
          <p:nvPr/>
        </p:nvSpPr>
        <p:spPr>
          <a:xfrm>
            <a:off x="10001250" y="1600200"/>
            <a:ext cx="1790700" cy="1428750"/>
          </a:xfrm>
          <a:prstGeom prst="rect">
            <a:avLst/>
          </a:prstGeom>
          <a:solidFill>
            <a:srgbClr val="EDEDED"/>
          </a:solidFill>
          <a:ln w="9525">
            <a:solidFill>
              <a:srgbClr val="B8BCC4"/>
            </a:solidFill>
            <a:prstDash val="solid"/>
          </a:ln>
        </p:spPr>
        <p:txBody>
          <a:bodyPr/>
          <a:lstStyle/>
          <a:p>
            <a:endParaRPr lang="en-US"/>
          </a:p>
        </p:txBody>
      </p:sp>
      <p:sp>
        <p:nvSpPr>
          <p:cNvPr id="15" name="Rectangle 14">
            <a:extLst>
              <a:ext uri="{FF2B5EF4-FFF2-40B4-BE49-F238E27FC236}">
                <a16:creationId xmlns:a16="http://schemas.microsoft.com/office/drawing/2014/main" id="{0741B18E-23C1-4758-A113-A5D103C1D1AF}"/>
              </a:ext>
            </a:extLst>
          </p:cNvPr>
          <p:cNvSpPr>
            <a:spLocks noGrp="1"/>
          </p:cNvSpPr>
          <p:nvPr/>
        </p:nvSpPr>
        <p:spPr>
          <a:xfrm>
            <a:off x="10172700" y="1771650"/>
            <a:ext cx="1447800" cy="323850"/>
          </a:xfrm>
          <a:prstGeom prst="rect">
            <a:avLst/>
          </a:prstGeom>
          <a:noFill/>
          <a:ln w="0">
            <a:noFill/>
            <a:prstDash val="solid"/>
          </a:ln>
        </p:spPr>
        <p:txBody>
          <a:bodyPr/>
          <a:lstStyle/>
          <a:p>
            <a:pPr algn="l">
              <a:defRPr sz="1650" b="1">
                <a:solidFill>
                  <a:srgbClr val="000000"/>
                </a:solidFill>
              </a:defRPr>
            </a:pPr>
            <a:r>
              <a:rPr sz="1650" b="1">
                <a:solidFill>
                  <a:srgbClr val="000000"/>
                </a:solidFill>
              </a:rPr>
              <a:t>Resource signals</a:t>
            </a:r>
          </a:p>
        </p:txBody>
      </p:sp>
      <p:sp>
        <p:nvSpPr>
          <p:cNvPr id="16" name="Rectangle 15">
            <a:extLst>
              <a:ext uri="{FF2B5EF4-FFF2-40B4-BE49-F238E27FC236}">
                <a16:creationId xmlns:a16="http://schemas.microsoft.com/office/drawing/2014/main" id="{2F9E4A79-E334-457F-AE37-39BD3954DF50}"/>
              </a:ext>
            </a:extLst>
          </p:cNvPr>
          <p:cNvSpPr>
            <a:spLocks noGrp="1"/>
          </p:cNvSpPr>
          <p:nvPr/>
        </p:nvSpPr>
        <p:spPr>
          <a:xfrm>
            <a:off x="10172700" y="2190750"/>
            <a:ext cx="1447800" cy="70485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edge CPU</a:t>
            </a:r>
          </a:p>
          <a:p>
            <a:pPr algn="l">
              <a:defRPr sz="1350" b="0">
                <a:solidFill>
                  <a:srgbClr val="000000"/>
                </a:solidFill>
              </a:defRPr>
            </a:pPr>
            <a:r>
              <a:rPr sz="1350" b="0" dirty="0">
                <a:solidFill>
                  <a:srgbClr val="000000"/>
                </a:solidFill>
              </a:rPr>
              <a:t>cloud CPU</a:t>
            </a:r>
          </a:p>
          <a:p>
            <a:pPr algn="l">
              <a:defRPr sz="1350" b="0">
                <a:solidFill>
                  <a:srgbClr val="000000"/>
                </a:solidFill>
              </a:defRPr>
            </a:pPr>
            <a:r>
              <a:rPr sz="1350" b="0" dirty="0">
                <a:solidFill>
                  <a:srgbClr val="000000"/>
                </a:solidFill>
              </a:rPr>
              <a:t>payload bytes</a:t>
            </a:r>
          </a:p>
        </p:txBody>
      </p:sp>
      <p:sp>
        <p:nvSpPr>
          <p:cNvPr id="17" name="Rectangle 16">
            <a:extLst>
              <a:ext uri="{FF2B5EF4-FFF2-40B4-BE49-F238E27FC236}">
                <a16:creationId xmlns:a16="http://schemas.microsoft.com/office/drawing/2014/main" id="{6B09A88D-0CDA-43D9-84FC-41CED0C49787}"/>
              </a:ext>
            </a:extLst>
          </p:cNvPr>
          <p:cNvSpPr>
            <a:spLocks noGrp="1"/>
          </p:cNvSpPr>
          <p:nvPr/>
        </p:nvSpPr>
        <p:spPr>
          <a:xfrm>
            <a:off x="609600" y="3714750"/>
            <a:ext cx="2667000" cy="247650"/>
          </a:xfrm>
          <a:prstGeom prst="rect">
            <a:avLst/>
          </a:prstGeom>
          <a:noFill/>
          <a:ln w="0">
            <a:noFill/>
            <a:prstDash val="solid"/>
          </a:ln>
        </p:spPr>
        <p:txBody>
          <a:bodyPr/>
          <a:lstStyle/>
          <a:p>
            <a:pPr algn="l">
              <a:defRPr sz="1200" b="1">
                <a:solidFill>
                  <a:srgbClr val="555555"/>
                </a:solidFill>
              </a:defRPr>
            </a:pPr>
            <a:r>
              <a:rPr sz="1200" b="1">
                <a:solidFill>
                  <a:srgbClr val="555555"/>
                </a:solidFill>
              </a:rPr>
              <a:t>Payload</a:t>
            </a:r>
          </a:p>
        </p:txBody>
      </p:sp>
      <p:sp>
        <p:nvSpPr>
          <p:cNvPr id="18" name="Rectangle 17">
            <a:extLst>
              <a:ext uri="{FF2B5EF4-FFF2-40B4-BE49-F238E27FC236}">
                <a16:creationId xmlns:a16="http://schemas.microsoft.com/office/drawing/2014/main" id="{3383250C-4E1E-4412-8CD1-5418031827D3}"/>
              </a:ext>
            </a:extLst>
          </p:cNvPr>
          <p:cNvSpPr>
            <a:spLocks noGrp="1"/>
          </p:cNvSpPr>
          <p:nvPr/>
        </p:nvSpPr>
        <p:spPr>
          <a:xfrm>
            <a:off x="609600" y="4000500"/>
            <a:ext cx="2667000" cy="590550"/>
          </a:xfrm>
          <a:prstGeom prst="rect">
            <a:avLst/>
          </a:prstGeom>
          <a:noFill/>
          <a:ln w="0">
            <a:noFill/>
            <a:prstDash val="solid"/>
          </a:ln>
        </p:spPr>
        <p:txBody>
          <a:bodyPr/>
          <a:lstStyle/>
          <a:p>
            <a:pPr algn="l">
              <a:defRPr sz="3600" b="1">
                <a:solidFill>
                  <a:srgbClr val="000000"/>
                </a:solidFill>
              </a:defRPr>
            </a:pPr>
            <a:r>
              <a:rPr sz="3600" b="1" dirty="0">
                <a:solidFill>
                  <a:srgbClr val="000000"/>
                </a:solidFill>
              </a:rPr>
              <a:t>≈2.06 MB</a:t>
            </a:r>
          </a:p>
        </p:txBody>
      </p:sp>
      <p:sp>
        <p:nvSpPr>
          <p:cNvPr id="19" name="Rectangle 18">
            <a:extLst>
              <a:ext uri="{FF2B5EF4-FFF2-40B4-BE49-F238E27FC236}">
                <a16:creationId xmlns:a16="http://schemas.microsoft.com/office/drawing/2014/main" id="{3252D2AD-1C9A-49F0-89BE-70903FB3B718}"/>
              </a:ext>
            </a:extLst>
          </p:cNvPr>
          <p:cNvSpPr>
            <a:spLocks noGrp="1"/>
          </p:cNvSpPr>
          <p:nvPr/>
        </p:nvSpPr>
        <p:spPr>
          <a:xfrm>
            <a:off x="609600" y="4591050"/>
            <a:ext cx="2667000" cy="514350"/>
          </a:xfrm>
          <a:prstGeom prst="rect">
            <a:avLst/>
          </a:prstGeom>
          <a:noFill/>
          <a:ln w="0">
            <a:noFill/>
            <a:prstDash val="solid"/>
          </a:ln>
        </p:spPr>
        <p:txBody>
          <a:bodyPr/>
          <a:lstStyle/>
          <a:p>
            <a:pPr algn="l">
              <a:defRPr sz="1350" b="0">
                <a:solidFill>
                  <a:srgbClr val="555555"/>
                </a:solidFill>
              </a:defRPr>
            </a:pPr>
            <a:r>
              <a:rPr sz="1350" b="0" dirty="0">
                <a:solidFill>
                  <a:srgbClr val="555555"/>
                </a:solidFill>
              </a:rPr>
              <a:t>Each image sends projected visual embeddings, not the original JPEG.</a:t>
            </a:r>
          </a:p>
        </p:txBody>
      </p:sp>
      <p:sp>
        <p:nvSpPr>
          <p:cNvPr id="20" name="Rectangle 19">
            <a:extLst>
              <a:ext uri="{FF2B5EF4-FFF2-40B4-BE49-F238E27FC236}">
                <a16:creationId xmlns:a16="http://schemas.microsoft.com/office/drawing/2014/main" id="{88103756-8EF1-4EE0-B202-409319D7BEC6}"/>
              </a:ext>
            </a:extLst>
          </p:cNvPr>
          <p:cNvSpPr>
            <a:spLocks noGrp="1"/>
          </p:cNvSpPr>
          <p:nvPr/>
        </p:nvSpPr>
        <p:spPr>
          <a:xfrm>
            <a:off x="3676650" y="3714750"/>
            <a:ext cx="3143250" cy="247650"/>
          </a:xfrm>
          <a:prstGeom prst="rect">
            <a:avLst/>
          </a:prstGeom>
          <a:noFill/>
          <a:ln w="0">
            <a:noFill/>
            <a:prstDash val="solid"/>
          </a:ln>
        </p:spPr>
        <p:txBody>
          <a:bodyPr/>
          <a:lstStyle/>
          <a:p>
            <a:pPr algn="l">
              <a:defRPr sz="1200" b="1">
                <a:solidFill>
                  <a:srgbClr val="555555"/>
                </a:solidFill>
              </a:defRPr>
            </a:pPr>
            <a:r>
              <a:rPr sz="1200" b="1">
                <a:solidFill>
                  <a:srgbClr val="555555"/>
                </a:solidFill>
              </a:rPr>
              <a:t>Protocol overhead</a:t>
            </a:r>
          </a:p>
        </p:txBody>
      </p:sp>
      <p:sp>
        <p:nvSpPr>
          <p:cNvPr id="21" name="Rectangle 20">
            <a:extLst>
              <a:ext uri="{FF2B5EF4-FFF2-40B4-BE49-F238E27FC236}">
                <a16:creationId xmlns:a16="http://schemas.microsoft.com/office/drawing/2014/main" id="{A0A5ADF5-0C63-48BE-A42C-925818A7482B}"/>
              </a:ext>
            </a:extLst>
          </p:cNvPr>
          <p:cNvSpPr>
            <a:spLocks noGrp="1"/>
          </p:cNvSpPr>
          <p:nvPr/>
        </p:nvSpPr>
        <p:spPr>
          <a:xfrm>
            <a:off x="3676650" y="4000500"/>
            <a:ext cx="3143250" cy="590550"/>
          </a:xfrm>
          <a:prstGeom prst="rect">
            <a:avLst/>
          </a:prstGeom>
          <a:noFill/>
          <a:ln w="0">
            <a:noFill/>
            <a:prstDash val="solid"/>
          </a:ln>
        </p:spPr>
        <p:txBody>
          <a:bodyPr/>
          <a:lstStyle/>
          <a:p>
            <a:pPr algn="l">
              <a:defRPr sz="3600" b="1">
                <a:solidFill>
                  <a:srgbClr val="000000"/>
                </a:solidFill>
              </a:defRPr>
            </a:pPr>
            <a:r>
              <a:rPr sz="3600" b="1" dirty="0">
                <a:solidFill>
                  <a:srgbClr val="000000"/>
                </a:solidFill>
              </a:rPr>
              <a:t>4-20 </a:t>
            </a:r>
            <a:r>
              <a:rPr sz="3600" b="1" dirty="0" err="1">
                <a:solidFill>
                  <a:srgbClr val="000000"/>
                </a:solidFill>
              </a:rPr>
              <a:t>ms</a:t>
            </a:r>
            <a:endParaRPr sz="3600" b="1" dirty="0">
              <a:solidFill>
                <a:srgbClr val="000000"/>
              </a:solidFill>
            </a:endParaRPr>
          </a:p>
        </p:txBody>
      </p:sp>
      <p:sp>
        <p:nvSpPr>
          <p:cNvPr id="22" name="Rectangle 21">
            <a:extLst>
              <a:ext uri="{FF2B5EF4-FFF2-40B4-BE49-F238E27FC236}">
                <a16:creationId xmlns:a16="http://schemas.microsoft.com/office/drawing/2014/main" id="{FE28F88D-1E5A-41D0-B57A-5F7296809031}"/>
              </a:ext>
            </a:extLst>
          </p:cNvPr>
          <p:cNvSpPr>
            <a:spLocks noGrp="1"/>
          </p:cNvSpPr>
          <p:nvPr/>
        </p:nvSpPr>
        <p:spPr>
          <a:xfrm>
            <a:off x="3676650" y="4591050"/>
            <a:ext cx="3143250" cy="514350"/>
          </a:xfrm>
          <a:prstGeom prst="rect">
            <a:avLst/>
          </a:prstGeom>
          <a:noFill/>
          <a:ln w="0">
            <a:noFill/>
            <a:prstDash val="solid"/>
          </a:ln>
        </p:spPr>
        <p:txBody>
          <a:bodyPr/>
          <a:lstStyle/>
          <a:p>
            <a:pPr algn="l">
              <a:defRPr sz="1350" b="0">
                <a:solidFill>
                  <a:srgbClr val="555555"/>
                </a:solidFill>
              </a:defRPr>
            </a:pPr>
            <a:r>
              <a:rPr sz="1350" b="0" dirty="0">
                <a:solidFill>
                  <a:srgbClr val="555555"/>
                </a:solidFill>
              </a:rPr>
              <a:t>HTTPS overhead is small compared with cloud generation time.</a:t>
            </a:r>
          </a:p>
        </p:txBody>
      </p:sp>
      <p:sp>
        <p:nvSpPr>
          <p:cNvPr id="23" name="Rectangle 22">
            <a:extLst>
              <a:ext uri="{FF2B5EF4-FFF2-40B4-BE49-F238E27FC236}">
                <a16:creationId xmlns:a16="http://schemas.microsoft.com/office/drawing/2014/main" id="{5D5D72EC-6C43-4D12-B952-FCA7A0678CE5}"/>
              </a:ext>
            </a:extLst>
          </p:cNvPr>
          <p:cNvSpPr>
            <a:spLocks noGrp="1"/>
          </p:cNvSpPr>
          <p:nvPr/>
        </p:nvSpPr>
        <p:spPr>
          <a:xfrm>
            <a:off x="7429500" y="3714750"/>
            <a:ext cx="3429000" cy="247650"/>
          </a:xfrm>
          <a:prstGeom prst="rect">
            <a:avLst/>
          </a:prstGeom>
          <a:noFill/>
          <a:ln w="0">
            <a:noFill/>
            <a:prstDash val="solid"/>
          </a:ln>
        </p:spPr>
        <p:txBody>
          <a:bodyPr/>
          <a:lstStyle/>
          <a:p>
            <a:pPr algn="l">
              <a:defRPr sz="1200" b="1">
                <a:solidFill>
                  <a:srgbClr val="555555"/>
                </a:solidFill>
              </a:defRPr>
            </a:pPr>
            <a:r>
              <a:rPr sz="1200" b="1" dirty="0">
                <a:solidFill>
                  <a:srgbClr val="555555"/>
                </a:solidFill>
              </a:rPr>
              <a:t>Cloud request</a:t>
            </a:r>
          </a:p>
        </p:txBody>
      </p:sp>
      <p:sp>
        <p:nvSpPr>
          <p:cNvPr id="24" name="Rectangle 23">
            <a:extLst>
              <a:ext uri="{FF2B5EF4-FFF2-40B4-BE49-F238E27FC236}">
                <a16:creationId xmlns:a16="http://schemas.microsoft.com/office/drawing/2014/main" id="{7046320A-59A9-465D-B815-6890D2CEDC7D}"/>
              </a:ext>
            </a:extLst>
          </p:cNvPr>
          <p:cNvSpPr>
            <a:spLocks noGrp="1"/>
          </p:cNvSpPr>
          <p:nvPr/>
        </p:nvSpPr>
        <p:spPr>
          <a:xfrm>
            <a:off x="7429500" y="4000500"/>
            <a:ext cx="3429000" cy="590550"/>
          </a:xfrm>
          <a:prstGeom prst="rect">
            <a:avLst/>
          </a:prstGeom>
          <a:noFill/>
          <a:ln w="0">
            <a:noFill/>
            <a:prstDash val="solid"/>
          </a:ln>
        </p:spPr>
        <p:txBody>
          <a:bodyPr/>
          <a:lstStyle/>
          <a:p>
            <a:pPr algn="l">
              <a:defRPr sz="3600" b="1">
                <a:solidFill>
                  <a:srgbClr val="000000"/>
                </a:solidFill>
              </a:defRPr>
            </a:pPr>
            <a:r>
              <a:rPr sz="3600" b="1" dirty="0">
                <a:solidFill>
                  <a:srgbClr val="000000"/>
                </a:solidFill>
              </a:rPr>
              <a:t>14.7-16.2 s</a:t>
            </a:r>
          </a:p>
        </p:txBody>
      </p:sp>
      <p:sp>
        <p:nvSpPr>
          <p:cNvPr id="25" name="Rectangle 24">
            <a:extLst>
              <a:ext uri="{FF2B5EF4-FFF2-40B4-BE49-F238E27FC236}">
                <a16:creationId xmlns:a16="http://schemas.microsoft.com/office/drawing/2014/main" id="{6A1EDBCF-B87E-4967-AE39-D7E3862FDAA6}"/>
              </a:ext>
            </a:extLst>
          </p:cNvPr>
          <p:cNvSpPr>
            <a:spLocks noGrp="1"/>
          </p:cNvSpPr>
          <p:nvPr/>
        </p:nvSpPr>
        <p:spPr>
          <a:xfrm>
            <a:off x="7429500" y="4591050"/>
            <a:ext cx="3429000" cy="514350"/>
          </a:xfrm>
          <a:prstGeom prst="rect">
            <a:avLst/>
          </a:prstGeom>
          <a:noFill/>
          <a:ln w="0">
            <a:noFill/>
            <a:prstDash val="solid"/>
          </a:ln>
        </p:spPr>
        <p:txBody>
          <a:bodyPr/>
          <a:lstStyle/>
          <a:p>
            <a:pPr algn="l">
              <a:defRPr sz="1350" b="0">
                <a:solidFill>
                  <a:srgbClr val="555555"/>
                </a:solidFill>
              </a:defRPr>
            </a:pPr>
            <a:r>
              <a:rPr sz="1350" b="0">
                <a:solidFill>
                  <a:srgbClr val="555555"/>
                </a:solidFill>
              </a:rPr>
              <a:t>Current latency is dominated by model-side computation.</a:t>
            </a:r>
          </a:p>
        </p:txBody>
      </p:sp>
      <p:sp>
        <p:nvSpPr>
          <p:cNvPr id="26" name="Rectangle 25">
            <a:extLst>
              <a:ext uri="{FF2B5EF4-FFF2-40B4-BE49-F238E27FC236}">
                <a16:creationId xmlns:a16="http://schemas.microsoft.com/office/drawing/2014/main" id="{38B48084-3F46-4908-8C9E-AB3013EE9B5E}"/>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05</a:t>
            </a:r>
          </a:p>
        </p:txBody>
      </p:sp>
    </p:spTree>
    <p:extLst>
      <p:ext uri="{BB962C8B-B14F-4D97-AF65-F5344CB8AC3E}">
        <p14:creationId xmlns:p14="http://schemas.microsoft.com/office/powerpoint/2010/main" val="153320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55EB73-CE27-4341-96CF-9F88B19F2B87}"/>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F18E9061-36EB-42CC-97FA-1B3EC1774188}"/>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The current data suggests encryption is not the main bottleneck</a:t>
            </a:r>
          </a:p>
        </p:txBody>
      </p:sp>
      <p:sp>
        <p:nvSpPr>
          <p:cNvPr id="3" name="Rectangle 2">
            <a:extLst>
              <a:ext uri="{FF2B5EF4-FFF2-40B4-BE49-F238E27FC236}">
                <a16:creationId xmlns:a16="http://schemas.microsoft.com/office/drawing/2014/main" id="{7F9A91E7-FCAF-48EA-84CE-F3E69FC13F6B}"/>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graphicFrame>
        <p:nvGraphicFramePr>
          <p:cNvPr id="12" name="Chart"/>
          <p:cNvGraphicFramePr/>
          <p:nvPr/>
        </p:nvGraphicFramePr>
        <p:xfrm>
          <a:off x="647700" y="1809750"/>
          <a:ext cx="68580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419444F7-25D0-4B99-9A62-4373B942B4F1}"/>
              </a:ext>
            </a:extLst>
          </p:cNvPr>
          <p:cNvSpPr>
            <a:spLocks noGrp="1"/>
          </p:cNvSpPr>
          <p:nvPr/>
        </p:nvSpPr>
        <p:spPr>
          <a:xfrm>
            <a:off x="647700" y="5257800"/>
            <a:ext cx="5905500" cy="266700"/>
          </a:xfrm>
          <a:prstGeom prst="rect">
            <a:avLst/>
          </a:prstGeom>
          <a:noFill/>
          <a:ln w="0">
            <a:noFill/>
            <a:prstDash val="solid"/>
          </a:ln>
        </p:spPr>
        <p:txBody>
          <a:bodyPr/>
          <a:lstStyle/>
          <a:p>
            <a:pPr algn="l">
              <a:defRPr sz="1350" b="0">
                <a:solidFill>
                  <a:srgbClr val="555555"/>
                </a:solidFill>
              </a:defRPr>
            </a:pPr>
            <a:r>
              <a:rPr sz="1350" b="0">
                <a:solidFill>
                  <a:srgbClr val="555555"/>
                </a:solidFill>
              </a:rPr>
              <a:t>Average end-to-end split latency, seconds</a:t>
            </a:r>
          </a:p>
        </p:txBody>
      </p:sp>
      <p:sp>
        <p:nvSpPr>
          <p:cNvPr id="6" name="Rectangle 5">
            <a:extLst>
              <a:ext uri="{FF2B5EF4-FFF2-40B4-BE49-F238E27FC236}">
                <a16:creationId xmlns:a16="http://schemas.microsoft.com/office/drawing/2014/main" id="{00B4F2B8-B23D-4318-8067-165BD3A87BC2}"/>
              </a:ext>
            </a:extLst>
          </p:cNvPr>
          <p:cNvSpPr>
            <a:spLocks noGrp="1"/>
          </p:cNvSpPr>
          <p:nvPr/>
        </p:nvSpPr>
        <p:spPr>
          <a:xfrm>
            <a:off x="8096250" y="1885950"/>
            <a:ext cx="3238500" cy="1333500"/>
          </a:xfrm>
          <a:prstGeom prst="rect">
            <a:avLst/>
          </a:prstGeom>
          <a:noFill/>
          <a:ln w="0">
            <a:noFill/>
            <a:prstDash val="solid"/>
          </a:ln>
        </p:spPr>
        <p:txBody>
          <a:bodyPr/>
          <a:lstStyle/>
          <a:p>
            <a:pPr algn="l">
              <a:defRPr sz="1875" b="1">
                <a:solidFill>
                  <a:srgbClr val="000000"/>
                </a:solidFill>
              </a:defRPr>
            </a:pPr>
            <a:r>
              <a:rPr sz="1875" b="1" dirty="0">
                <a:solidFill>
                  <a:srgbClr val="000000"/>
                </a:solidFill>
              </a:rPr>
              <a:t>Observation: within the same cloud environment, HTTP, AES-GCM, and ChaCha20 differ by less than 0.5 seconds end to end.</a:t>
            </a:r>
          </a:p>
        </p:txBody>
      </p:sp>
      <p:sp>
        <p:nvSpPr>
          <p:cNvPr id="7" name="Rectangle 6">
            <a:extLst>
              <a:ext uri="{FF2B5EF4-FFF2-40B4-BE49-F238E27FC236}">
                <a16:creationId xmlns:a16="http://schemas.microsoft.com/office/drawing/2014/main" id="{CFC2F391-825E-43EC-9ECE-2E38BD3AD0BB}"/>
              </a:ext>
            </a:extLst>
          </p:cNvPr>
          <p:cNvSpPr>
            <a:spLocks noGrp="1"/>
          </p:cNvSpPr>
          <p:nvPr/>
        </p:nvSpPr>
        <p:spPr>
          <a:xfrm>
            <a:off x="8096250" y="3619500"/>
            <a:ext cx="3238500" cy="1238250"/>
          </a:xfrm>
          <a:prstGeom prst="rect">
            <a:avLst/>
          </a:prstGeom>
          <a:noFill/>
          <a:ln w="0">
            <a:noFill/>
            <a:prstDash val="solid"/>
          </a:ln>
        </p:spPr>
        <p:txBody>
          <a:bodyPr/>
          <a:lstStyle/>
          <a:p>
            <a:pPr algn="l">
              <a:defRPr sz="1650" b="0">
                <a:solidFill>
                  <a:srgbClr val="555555"/>
                </a:solidFill>
              </a:defRPr>
            </a:pPr>
            <a:r>
              <a:rPr sz="1650" b="0" dirty="0">
                <a:solidFill>
                  <a:srgbClr val="555555"/>
                </a:solidFill>
              </a:rPr>
              <a:t>Interpretation: protocol overhead is measured in milliseconds. The larger cost sits in visual embedding generation and cloud decoder execution.</a:t>
            </a:r>
          </a:p>
        </p:txBody>
      </p:sp>
      <p:sp>
        <p:nvSpPr>
          <p:cNvPr id="8" name="Rectangle 7">
            <a:extLst>
              <a:ext uri="{FF2B5EF4-FFF2-40B4-BE49-F238E27FC236}">
                <a16:creationId xmlns:a16="http://schemas.microsoft.com/office/drawing/2014/main" id="{8C856705-6D5C-4080-B44B-D87A4A0A09C7}"/>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06</a:t>
            </a:r>
          </a:p>
        </p:txBody>
      </p:sp>
    </p:spTree>
    <p:extLst>
      <p:ext uri="{BB962C8B-B14F-4D97-AF65-F5344CB8AC3E}">
        <p14:creationId xmlns:p14="http://schemas.microsoft.com/office/powerpoint/2010/main" val="82935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CFE38E-5F02-41E1-ADEF-747D6CCCB61D}"/>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A379493D-75A7-41A2-83CD-6036D0E701F2}"/>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TDX overhead appears mainly in cloud request and CPU time</a:t>
            </a:r>
          </a:p>
        </p:txBody>
      </p:sp>
      <p:sp>
        <p:nvSpPr>
          <p:cNvPr id="3" name="Rectangle 2">
            <a:extLst>
              <a:ext uri="{FF2B5EF4-FFF2-40B4-BE49-F238E27FC236}">
                <a16:creationId xmlns:a16="http://schemas.microsoft.com/office/drawing/2014/main" id="{E34A0BA4-0E96-46CF-B549-6FD8A98B4D4E}"/>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graphicFrame>
        <p:nvGraphicFramePr>
          <p:cNvPr id="13" name="Chart"/>
          <p:cNvGraphicFramePr/>
          <p:nvPr/>
        </p:nvGraphicFramePr>
        <p:xfrm>
          <a:off x="590550" y="1752600"/>
          <a:ext cx="5143500" cy="3333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477000" y="1752600"/>
          <a:ext cx="4953000"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0AE50607-BB26-4C7D-B55C-F4980A50C5FB}"/>
              </a:ext>
            </a:extLst>
          </p:cNvPr>
          <p:cNvSpPr>
            <a:spLocks noGrp="1"/>
          </p:cNvSpPr>
          <p:nvPr/>
        </p:nvSpPr>
        <p:spPr>
          <a:xfrm>
            <a:off x="590550" y="5181600"/>
            <a:ext cx="2857500" cy="266700"/>
          </a:xfrm>
          <a:prstGeom prst="rect">
            <a:avLst/>
          </a:prstGeom>
          <a:noFill/>
          <a:ln w="0">
            <a:noFill/>
            <a:prstDash val="solid"/>
          </a:ln>
        </p:spPr>
        <p:txBody>
          <a:bodyPr/>
          <a:lstStyle/>
          <a:p>
            <a:pPr algn="l">
              <a:defRPr sz="1350" b="0">
                <a:solidFill>
                  <a:srgbClr val="555555"/>
                </a:solidFill>
              </a:defRPr>
            </a:pPr>
            <a:r>
              <a:rPr sz="1350" b="0">
                <a:solidFill>
                  <a:srgbClr val="555555"/>
                </a:solidFill>
              </a:rPr>
              <a:t>Cloud request time, seconds</a:t>
            </a:r>
          </a:p>
        </p:txBody>
      </p:sp>
      <p:sp>
        <p:nvSpPr>
          <p:cNvPr id="7" name="Rectangle 6">
            <a:extLst>
              <a:ext uri="{FF2B5EF4-FFF2-40B4-BE49-F238E27FC236}">
                <a16:creationId xmlns:a16="http://schemas.microsoft.com/office/drawing/2014/main" id="{D53B1C0A-91F7-4E29-8404-E60D15F13C53}"/>
              </a:ext>
            </a:extLst>
          </p:cNvPr>
          <p:cNvSpPr>
            <a:spLocks noGrp="1"/>
          </p:cNvSpPr>
          <p:nvPr/>
        </p:nvSpPr>
        <p:spPr>
          <a:xfrm>
            <a:off x="6477000" y="5181600"/>
            <a:ext cx="2857500" cy="266700"/>
          </a:xfrm>
          <a:prstGeom prst="rect">
            <a:avLst/>
          </a:prstGeom>
          <a:noFill/>
          <a:ln w="0">
            <a:noFill/>
            <a:prstDash val="solid"/>
          </a:ln>
        </p:spPr>
        <p:txBody>
          <a:bodyPr/>
          <a:lstStyle/>
          <a:p>
            <a:pPr algn="l">
              <a:defRPr sz="1350" b="0">
                <a:solidFill>
                  <a:srgbClr val="555555"/>
                </a:solidFill>
              </a:defRPr>
            </a:pPr>
            <a:r>
              <a:rPr sz="1350" b="0">
                <a:solidFill>
                  <a:srgbClr val="555555"/>
                </a:solidFill>
              </a:rPr>
              <a:t>Cloud CPU time, seconds</a:t>
            </a:r>
          </a:p>
        </p:txBody>
      </p:sp>
      <p:sp>
        <p:nvSpPr>
          <p:cNvPr id="8" name="Rectangle 7">
            <a:extLst>
              <a:ext uri="{FF2B5EF4-FFF2-40B4-BE49-F238E27FC236}">
                <a16:creationId xmlns:a16="http://schemas.microsoft.com/office/drawing/2014/main" id="{7E2FB0B7-C08F-4548-9BED-F4E596EADB91}"/>
              </a:ext>
            </a:extLst>
          </p:cNvPr>
          <p:cNvSpPr>
            <a:spLocks noGrp="1"/>
          </p:cNvSpPr>
          <p:nvPr/>
        </p:nvSpPr>
        <p:spPr>
          <a:xfrm>
            <a:off x="762000" y="5810250"/>
            <a:ext cx="10287000" cy="342900"/>
          </a:xfrm>
          <a:prstGeom prst="rect">
            <a:avLst/>
          </a:prstGeom>
          <a:noFill/>
          <a:ln w="0">
            <a:noFill/>
            <a:prstDash val="solid"/>
          </a:ln>
        </p:spPr>
        <p:txBody>
          <a:bodyPr/>
          <a:lstStyle/>
          <a:p>
            <a:pPr algn="l">
              <a:defRPr sz="1725" b="1">
                <a:solidFill>
                  <a:srgbClr val="000000"/>
                </a:solidFill>
              </a:defRPr>
            </a:pPr>
            <a:r>
              <a:rPr sz="1725" b="1" dirty="0">
                <a:solidFill>
                  <a:srgbClr val="000000"/>
                </a:solidFill>
              </a:rPr>
              <a:t>Current observation: TDX adds roughly 1.2-1.7 seconds to split total latency and about 2.2-3.0 seconds to cloud CPU time.</a:t>
            </a:r>
          </a:p>
        </p:txBody>
      </p:sp>
      <p:sp>
        <p:nvSpPr>
          <p:cNvPr id="9" name="Rectangle 8">
            <a:extLst>
              <a:ext uri="{FF2B5EF4-FFF2-40B4-BE49-F238E27FC236}">
                <a16:creationId xmlns:a16="http://schemas.microsoft.com/office/drawing/2014/main" id="{0CB1E6FD-8503-455C-B9AF-0A69C4E0F548}"/>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07</a:t>
            </a:r>
          </a:p>
        </p:txBody>
      </p:sp>
    </p:spTree>
    <p:extLst>
      <p:ext uri="{BB962C8B-B14F-4D97-AF65-F5344CB8AC3E}">
        <p14:creationId xmlns:p14="http://schemas.microsoft.com/office/powerpoint/2010/main" val="1373496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17C426A-084A-4EAF-BA0F-382341D60122}"/>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E277B1A9-1B62-4686-98B9-56AEBE2EA31D}"/>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The findings are useful, but still interim</a:t>
            </a:r>
          </a:p>
        </p:txBody>
      </p:sp>
      <p:sp>
        <p:nvSpPr>
          <p:cNvPr id="3" name="Rectangle 2">
            <a:extLst>
              <a:ext uri="{FF2B5EF4-FFF2-40B4-BE49-F238E27FC236}">
                <a16:creationId xmlns:a16="http://schemas.microsoft.com/office/drawing/2014/main" id="{71A614DC-2B92-493F-AA40-00E80BDEF57E}"/>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sp>
        <p:nvSpPr>
          <p:cNvPr id="4" name="Rectangle 3">
            <a:extLst>
              <a:ext uri="{FF2B5EF4-FFF2-40B4-BE49-F238E27FC236}">
                <a16:creationId xmlns:a16="http://schemas.microsoft.com/office/drawing/2014/main" id="{4444F88E-B1FF-43BA-AEE5-9E07888DB51A}"/>
              </a:ext>
            </a:extLst>
          </p:cNvPr>
          <p:cNvSpPr>
            <a:spLocks noGrp="1"/>
          </p:cNvSpPr>
          <p:nvPr/>
        </p:nvSpPr>
        <p:spPr>
          <a:xfrm>
            <a:off x="514350" y="1809750"/>
            <a:ext cx="3333750" cy="1619250"/>
          </a:xfrm>
          <a:prstGeom prst="rect">
            <a:avLst/>
          </a:prstGeom>
          <a:solidFill>
            <a:srgbClr val="FFF1EA"/>
          </a:solidFill>
          <a:ln w="9525">
            <a:solidFill>
              <a:srgbClr val="B8BCC4"/>
            </a:solidFill>
            <a:prstDash val="solid"/>
          </a:ln>
        </p:spPr>
        <p:txBody>
          <a:bodyPr/>
          <a:lstStyle/>
          <a:p>
            <a:endParaRPr lang="en-US"/>
          </a:p>
        </p:txBody>
      </p:sp>
      <p:sp>
        <p:nvSpPr>
          <p:cNvPr id="5" name="Rectangle 4">
            <a:extLst>
              <a:ext uri="{FF2B5EF4-FFF2-40B4-BE49-F238E27FC236}">
                <a16:creationId xmlns:a16="http://schemas.microsoft.com/office/drawing/2014/main" id="{2796CE41-6923-4B44-B160-77202B8A3F8E}"/>
              </a:ext>
            </a:extLst>
          </p:cNvPr>
          <p:cNvSpPr>
            <a:spLocks noGrp="1"/>
          </p:cNvSpPr>
          <p:nvPr/>
        </p:nvSpPr>
        <p:spPr>
          <a:xfrm>
            <a:off x="685800" y="1981200"/>
            <a:ext cx="2990850" cy="323850"/>
          </a:xfrm>
          <a:prstGeom prst="rect">
            <a:avLst/>
          </a:prstGeom>
          <a:noFill/>
          <a:ln w="0">
            <a:noFill/>
            <a:prstDash val="solid"/>
          </a:ln>
        </p:spPr>
        <p:txBody>
          <a:bodyPr/>
          <a:lstStyle/>
          <a:p>
            <a:pPr algn="l">
              <a:defRPr sz="1650" b="1">
                <a:solidFill>
                  <a:srgbClr val="FF6B35"/>
                </a:solidFill>
              </a:defRPr>
            </a:pPr>
            <a:r>
              <a:rPr sz="1650" b="1">
                <a:solidFill>
                  <a:srgbClr val="FF6B35"/>
                </a:solidFill>
              </a:rPr>
              <a:t>Finding 1</a:t>
            </a:r>
          </a:p>
        </p:txBody>
      </p:sp>
      <p:sp>
        <p:nvSpPr>
          <p:cNvPr id="6" name="Rectangle 5">
            <a:extLst>
              <a:ext uri="{FF2B5EF4-FFF2-40B4-BE49-F238E27FC236}">
                <a16:creationId xmlns:a16="http://schemas.microsoft.com/office/drawing/2014/main" id="{F1A76D37-49C9-447D-9EE3-438969A56BA2}"/>
              </a:ext>
            </a:extLst>
          </p:cNvPr>
          <p:cNvSpPr>
            <a:spLocks noGrp="1"/>
          </p:cNvSpPr>
          <p:nvPr/>
        </p:nvSpPr>
        <p:spPr>
          <a:xfrm>
            <a:off x="685800" y="2400300"/>
            <a:ext cx="2990850" cy="89535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HTTPS AES-GCM and ChaCha20 do not create a visible end-to-end latency penalty in the current runs.</a:t>
            </a:r>
          </a:p>
        </p:txBody>
      </p:sp>
      <p:sp>
        <p:nvSpPr>
          <p:cNvPr id="7" name="Rectangle 6">
            <a:extLst>
              <a:ext uri="{FF2B5EF4-FFF2-40B4-BE49-F238E27FC236}">
                <a16:creationId xmlns:a16="http://schemas.microsoft.com/office/drawing/2014/main" id="{EB6EF22A-6A1C-45E8-ABF3-F421ACCA915E}"/>
              </a:ext>
            </a:extLst>
          </p:cNvPr>
          <p:cNvSpPr>
            <a:spLocks noGrp="1"/>
          </p:cNvSpPr>
          <p:nvPr/>
        </p:nvSpPr>
        <p:spPr>
          <a:xfrm>
            <a:off x="4429125" y="1809750"/>
            <a:ext cx="3333750" cy="1619250"/>
          </a:xfrm>
          <a:prstGeom prst="rect">
            <a:avLst/>
          </a:prstGeom>
          <a:solidFill>
            <a:srgbClr val="EDEDED"/>
          </a:solidFill>
          <a:ln w="9525">
            <a:solidFill>
              <a:srgbClr val="B8BCC4"/>
            </a:solidFill>
            <a:prstDash val="solid"/>
          </a:ln>
        </p:spPr>
        <p:txBody>
          <a:bodyPr/>
          <a:lstStyle/>
          <a:p>
            <a:endParaRPr lang="en-US"/>
          </a:p>
        </p:txBody>
      </p:sp>
      <p:sp>
        <p:nvSpPr>
          <p:cNvPr id="8" name="Rectangle 7">
            <a:extLst>
              <a:ext uri="{FF2B5EF4-FFF2-40B4-BE49-F238E27FC236}">
                <a16:creationId xmlns:a16="http://schemas.microsoft.com/office/drawing/2014/main" id="{0CDAC53F-A18E-4F70-96B3-3912ADE44573}"/>
              </a:ext>
            </a:extLst>
          </p:cNvPr>
          <p:cNvSpPr>
            <a:spLocks noGrp="1"/>
          </p:cNvSpPr>
          <p:nvPr/>
        </p:nvSpPr>
        <p:spPr>
          <a:xfrm>
            <a:off x="4600575" y="1981200"/>
            <a:ext cx="2990850" cy="323850"/>
          </a:xfrm>
          <a:prstGeom prst="rect">
            <a:avLst/>
          </a:prstGeom>
          <a:noFill/>
          <a:ln w="0">
            <a:noFill/>
            <a:prstDash val="solid"/>
          </a:ln>
        </p:spPr>
        <p:txBody>
          <a:bodyPr/>
          <a:lstStyle/>
          <a:p>
            <a:pPr algn="l">
              <a:defRPr sz="1650" b="1">
                <a:solidFill>
                  <a:srgbClr val="000000"/>
                </a:solidFill>
              </a:defRPr>
            </a:pPr>
            <a:r>
              <a:rPr sz="1650" b="1">
                <a:solidFill>
                  <a:srgbClr val="000000"/>
                </a:solidFill>
              </a:rPr>
              <a:t>Finding 2</a:t>
            </a:r>
          </a:p>
        </p:txBody>
      </p:sp>
      <p:sp>
        <p:nvSpPr>
          <p:cNvPr id="9" name="Rectangle 8">
            <a:extLst>
              <a:ext uri="{FF2B5EF4-FFF2-40B4-BE49-F238E27FC236}">
                <a16:creationId xmlns:a16="http://schemas.microsoft.com/office/drawing/2014/main" id="{64C89648-1F3C-4244-9D64-94F1B7667A3E}"/>
              </a:ext>
            </a:extLst>
          </p:cNvPr>
          <p:cNvSpPr>
            <a:spLocks noGrp="1"/>
          </p:cNvSpPr>
          <p:nvPr/>
        </p:nvSpPr>
        <p:spPr>
          <a:xfrm>
            <a:off x="4600575" y="2400300"/>
            <a:ext cx="2990850" cy="89535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TDX has a larger measurable cost than the protocol choice, especially on cloud-side CPU time.</a:t>
            </a:r>
          </a:p>
        </p:txBody>
      </p:sp>
      <p:sp>
        <p:nvSpPr>
          <p:cNvPr id="10" name="Rectangle 9">
            <a:extLst>
              <a:ext uri="{FF2B5EF4-FFF2-40B4-BE49-F238E27FC236}">
                <a16:creationId xmlns:a16="http://schemas.microsoft.com/office/drawing/2014/main" id="{7B06CADC-3909-4AC3-AF3B-26CB324CB9DD}"/>
              </a:ext>
            </a:extLst>
          </p:cNvPr>
          <p:cNvSpPr>
            <a:spLocks noGrp="1"/>
          </p:cNvSpPr>
          <p:nvPr/>
        </p:nvSpPr>
        <p:spPr>
          <a:xfrm>
            <a:off x="8343900" y="1809750"/>
            <a:ext cx="3333750" cy="1619250"/>
          </a:xfrm>
          <a:prstGeom prst="rect">
            <a:avLst/>
          </a:prstGeom>
          <a:solidFill>
            <a:srgbClr val="EDEDED"/>
          </a:solidFill>
          <a:ln w="9525">
            <a:solidFill>
              <a:srgbClr val="B8BCC4"/>
            </a:solidFill>
            <a:prstDash val="solid"/>
          </a:ln>
        </p:spPr>
        <p:txBody>
          <a:bodyPr/>
          <a:lstStyle/>
          <a:p>
            <a:endParaRPr lang="en-US"/>
          </a:p>
        </p:txBody>
      </p:sp>
      <p:sp>
        <p:nvSpPr>
          <p:cNvPr id="11" name="Rectangle 10">
            <a:extLst>
              <a:ext uri="{FF2B5EF4-FFF2-40B4-BE49-F238E27FC236}">
                <a16:creationId xmlns:a16="http://schemas.microsoft.com/office/drawing/2014/main" id="{144E665A-3979-42E9-A432-452E37C7510C}"/>
              </a:ext>
            </a:extLst>
          </p:cNvPr>
          <p:cNvSpPr>
            <a:spLocks noGrp="1"/>
          </p:cNvSpPr>
          <p:nvPr/>
        </p:nvSpPr>
        <p:spPr>
          <a:xfrm>
            <a:off x="8515350" y="1981200"/>
            <a:ext cx="2990850" cy="323850"/>
          </a:xfrm>
          <a:prstGeom prst="rect">
            <a:avLst/>
          </a:prstGeom>
          <a:noFill/>
          <a:ln w="0">
            <a:noFill/>
            <a:prstDash val="solid"/>
          </a:ln>
        </p:spPr>
        <p:txBody>
          <a:bodyPr/>
          <a:lstStyle/>
          <a:p>
            <a:pPr algn="l">
              <a:defRPr sz="1650" b="1">
                <a:solidFill>
                  <a:srgbClr val="000000"/>
                </a:solidFill>
              </a:defRPr>
            </a:pPr>
            <a:r>
              <a:rPr sz="1650" b="1">
                <a:solidFill>
                  <a:srgbClr val="000000"/>
                </a:solidFill>
              </a:rPr>
              <a:t>Finding 3</a:t>
            </a:r>
          </a:p>
        </p:txBody>
      </p:sp>
      <p:sp>
        <p:nvSpPr>
          <p:cNvPr id="12" name="Rectangle 11">
            <a:extLst>
              <a:ext uri="{FF2B5EF4-FFF2-40B4-BE49-F238E27FC236}">
                <a16:creationId xmlns:a16="http://schemas.microsoft.com/office/drawing/2014/main" id="{B1B28CC1-D82D-4256-BF1D-B73247320A5E}"/>
              </a:ext>
            </a:extLst>
          </p:cNvPr>
          <p:cNvSpPr>
            <a:spLocks noGrp="1"/>
          </p:cNvSpPr>
          <p:nvPr/>
        </p:nvSpPr>
        <p:spPr>
          <a:xfrm>
            <a:off x="8515350" y="2400300"/>
            <a:ext cx="2990850" cy="89535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The split architecture is currently compute-bound rather than protocol-bound.</a:t>
            </a:r>
          </a:p>
        </p:txBody>
      </p:sp>
      <p:sp>
        <p:nvSpPr>
          <p:cNvPr id="13" name="Rectangle 12">
            <a:extLst>
              <a:ext uri="{FF2B5EF4-FFF2-40B4-BE49-F238E27FC236}">
                <a16:creationId xmlns:a16="http://schemas.microsoft.com/office/drawing/2014/main" id="{A7F5CFBA-F973-444D-A220-A42CC092533A}"/>
              </a:ext>
            </a:extLst>
          </p:cNvPr>
          <p:cNvSpPr>
            <a:spLocks noGrp="1"/>
          </p:cNvSpPr>
          <p:nvPr/>
        </p:nvSpPr>
        <p:spPr>
          <a:xfrm>
            <a:off x="514350" y="4095750"/>
            <a:ext cx="3429000" cy="323850"/>
          </a:xfrm>
          <a:prstGeom prst="rect">
            <a:avLst/>
          </a:prstGeom>
          <a:noFill/>
          <a:ln w="0">
            <a:noFill/>
            <a:prstDash val="solid"/>
          </a:ln>
        </p:spPr>
        <p:txBody>
          <a:bodyPr/>
          <a:lstStyle/>
          <a:p>
            <a:pPr algn="l">
              <a:defRPr sz="2100" b="1">
                <a:solidFill>
                  <a:srgbClr val="000000"/>
                </a:solidFill>
              </a:defRPr>
            </a:pPr>
            <a:r>
              <a:rPr sz="2100" b="1" dirty="0">
                <a:solidFill>
                  <a:srgbClr val="000000"/>
                </a:solidFill>
              </a:rPr>
              <a:t>Caveats to state clearly</a:t>
            </a:r>
          </a:p>
        </p:txBody>
      </p:sp>
      <p:sp>
        <p:nvSpPr>
          <p:cNvPr id="14" name="Rectangle 13">
            <a:extLst>
              <a:ext uri="{FF2B5EF4-FFF2-40B4-BE49-F238E27FC236}">
                <a16:creationId xmlns:a16="http://schemas.microsoft.com/office/drawing/2014/main" id="{ED05843F-BA6E-4105-8772-64D9BA08B0D5}"/>
              </a:ext>
            </a:extLst>
          </p:cNvPr>
          <p:cNvSpPr>
            <a:spLocks noGrp="1"/>
          </p:cNvSpPr>
          <p:nvPr/>
        </p:nvSpPr>
        <p:spPr>
          <a:xfrm>
            <a:off x="514350" y="4591050"/>
            <a:ext cx="10287000" cy="1104900"/>
          </a:xfrm>
          <a:prstGeom prst="rect">
            <a:avLst/>
          </a:prstGeom>
          <a:noFill/>
          <a:ln w="0">
            <a:noFill/>
            <a:prstDash val="solid"/>
          </a:ln>
        </p:spPr>
        <p:txBody>
          <a:bodyPr/>
          <a:lstStyle/>
          <a:p>
            <a:pPr algn="l">
              <a:defRPr sz="1650" b="0">
                <a:solidFill>
                  <a:srgbClr val="000000"/>
                </a:solidFill>
              </a:defRPr>
            </a:pPr>
            <a:r>
              <a:rPr sz="1650" b="0" dirty="0">
                <a:solidFill>
                  <a:srgbClr val="000000"/>
                </a:solidFill>
              </a:rPr>
              <a:t>• Non-TDX and TDX runs use different sample counts: 25 and 20 images.</a:t>
            </a:r>
          </a:p>
          <a:p>
            <a:pPr algn="l">
              <a:defRPr sz="1650" b="0">
                <a:solidFill>
                  <a:srgbClr val="000000"/>
                </a:solidFill>
              </a:defRPr>
            </a:pPr>
            <a:r>
              <a:rPr sz="1650" b="0" dirty="0">
                <a:solidFill>
                  <a:srgbClr val="000000"/>
                </a:solidFill>
              </a:rPr>
              <a:t>• The current summary emphasizes averages; variance, P95, throughput, and resource peaks should be added.</a:t>
            </a:r>
          </a:p>
          <a:p>
            <a:pPr algn="l">
              <a:defRPr sz="1650" b="0">
                <a:solidFill>
                  <a:srgbClr val="000000"/>
                </a:solidFill>
              </a:defRPr>
            </a:pPr>
            <a:r>
              <a:rPr sz="1650" b="0" dirty="0">
                <a:solidFill>
                  <a:srgbClr val="000000"/>
                </a:solidFill>
              </a:rPr>
              <a:t>• Encryption, decryption, TLS setup, and key exchange should be timed separately instead of being folded into request latency.</a:t>
            </a:r>
          </a:p>
        </p:txBody>
      </p:sp>
      <p:sp>
        <p:nvSpPr>
          <p:cNvPr id="15" name="Rectangle 14">
            <a:extLst>
              <a:ext uri="{FF2B5EF4-FFF2-40B4-BE49-F238E27FC236}">
                <a16:creationId xmlns:a16="http://schemas.microsoft.com/office/drawing/2014/main" id="{3F5291DF-2C2F-4277-AF0F-F8EBAB378C63}"/>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08</a:t>
            </a:r>
          </a:p>
        </p:txBody>
      </p:sp>
    </p:spTree>
    <p:extLst>
      <p:ext uri="{BB962C8B-B14F-4D97-AF65-F5344CB8AC3E}">
        <p14:creationId xmlns:p14="http://schemas.microsoft.com/office/powerpoint/2010/main" val="262333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60E6A73-FD37-4499-945A-078A6892B22B}"/>
              </a:ext>
            </a:extLst>
          </p:cNvPr>
          <p:cNvSpPr>
            <a:spLocks noGrp="1"/>
          </p:cNvSpPr>
          <p:nvPr/>
        </p:nvSpPr>
        <p:spPr>
          <a:xfrm>
            <a:off x="400050" y="361950"/>
            <a:ext cx="4381500" cy="228600"/>
          </a:xfrm>
          <a:prstGeom prst="rect">
            <a:avLst/>
          </a:prstGeom>
          <a:noFill/>
          <a:ln w="0">
            <a:noFill/>
            <a:prstDash val="solid"/>
          </a:ln>
        </p:spPr>
        <p:txBody>
          <a:bodyPr/>
          <a:lstStyle/>
          <a:p>
            <a:pPr algn="l">
              <a:defRPr sz="1050" b="1">
                <a:solidFill>
                  <a:srgbClr val="555555"/>
                </a:solidFill>
              </a:defRPr>
            </a:pPr>
            <a:r>
              <a:rPr sz="1050" b="1">
                <a:solidFill>
                  <a:srgbClr val="555555"/>
                </a:solidFill>
              </a:rPr>
              <a:t>CT5195 MASTER CAPSTONE</a:t>
            </a:r>
          </a:p>
        </p:txBody>
      </p:sp>
      <p:sp>
        <p:nvSpPr>
          <p:cNvPr id="2" name="Rectangle 1">
            <a:extLst>
              <a:ext uri="{FF2B5EF4-FFF2-40B4-BE49-F238E27FC236}">
                <a16:creationId xmlns:a16="http://schemas.microsoft.com/office/drawing/2014/main" id="{C6E9AD74-3603-443E-A67E-1C2B550BB69F}"/>
              </a:ext>
            </a:extLst>
          </p:cNvPr>
          <p:cNvSpPr>
            <a:spLocks noGrp="1"/>
          </p:cNvSpPr>
          <p:nvPr/>
        </p:nvSpPr>
        <p:spPr>
          <a:xfrm>
            <a:off x="400050" y="685800"/>
            <a:ext cx="10287000" cy="571500"/>
          </a:xfrm>
          <a:prstGeom prst="rect">
            <a:avLst/>
          </a:prstGeom>
          <a:noFill/>
          <a:ln w="0">
            <a:noFill/>
            <a:prstDash val="solid"/>
          </a:ln>
        </p:spPr>
        <p:txBody>
          <a:bodyPr/>
          <a:lstStyle/>
          <a:p>
            <a:pPr algn="l">
              <a:defRPr sz="2925" b="1">
                <a:solidFill>
                  <a:srgbClr val="000000"/>
                </a:solidFill>
              </a:defRPr>
            </a:pPr>
            <a:r>
              <a:rPr sz="2925" b="1" dirty="0">
                <a:solidFill>
                  <a:srgbClr val="000000"/>
                </a:solidFill>
              </a:rPr>
              <a:t>Next experiments should close the security, performance, and correctness loop</a:t>
            </a:r>
          </a:p>
        </p:txBody>
      </p:sp>
      <p:sp>
        <p:nvSpPr>
          <p:cNvPr id="3" name="Rectangle 2">
            <a:extLst>
              <a:ext uri="{FF2B5EF4-FFF2-40B4-BE49-F238E27FC236}">
                <a16:creationId xmlns:a16="http://schemas.microsoft.com/office/drawing/2014/main" id="{CE407091-89A6-4E64-9606-C32B461C6976}"/>
              </a:ext>
            </a:extLst>
          </p:cNvPr>
          <p:cNvSpPr>
            <a:spLocks noGrp="1"/>
          </p:cNvSpPr>
          <p:nvPr/>
        </p:nvSpPr>
        <p:spPr>
          <a:xfrm>
            <a:off x="400050" y="1352550"/>
            <a:ext cx="11391900" cy="13335"/>
          </a:xfrm>
          <a:prstGeom prst="rect">
            <a:avLst/>
          </a:prstGeom>
          <a:solidFill>
            <a:srgbClr val="B8BCC4"/>
          </a:solidFill>
          <a:ln w="0">
            <a:solidFill>
              <a:srgbClr val="B8BCC4"/>
            </a:solidFill>
            <a:prstDash val="solid"/>
          </a:ln>
        </p:spPr>
        <p:txBody>
          <a:bodyPr/>
          <a:lstStyle/>
          <a:p>
            <a:endParaRPr lang="en-US"/>
          </a:p>
        </p:txBody>
      </p:sp>
      <p:sp>
        <p:nvSpPr>
          <p:cNvPr id="4" name="Rectangle 3">
            <a:extLst>
              <a:ext uri="{FF2B5EF4-FFF2-40B4-BE49-F238E27FC236}">
                <a16:creationId xmlns:a16="http://schemas.microsoft.com/office/drawing/2014/main" id="{CCE98824-A1D2-4B75-A5BC-C6A23F6F7FF0}"/>
              </a:ext>
            </a:extLst>
          </p:cNvPr>
          <p:cNvSpPr>
            <a:spLocks noGrp="1"/>
          </p:cNvSpPr>
          <p:nvPr/>
        </p:nvSpPr>
        <p:spPr>
          <a:xfrm>
            <a:off x="590550" y="1809750"/>
            <a:ext cx="4953000" cy="1428750"/>
          </a:xfrm>
          <a:prstGeom prst="rect">
            <a:avLst/>
          </a:prstGeom>
          <a:solidFill>
            <a:srgbClr val="FFF1EA"/>
          </a:solidFill>
          <a:ln w="9525">
            <a:solidFill>
              <a:srgbClr val="B8BCC4"/>
            </a:solidFill>
            <a:prstDash val="solid"/>
          </a:ln>
        </p:spPr>
        <p:txBody>
          <a:bodyPr/>
          <a:lstStyle/>
          <a:p>
            <a:endParaRPr lang="en-US"/>
          </a:p>
        </p:txBody>
      </p:sp>
      <p:sp>
        <p:nvSpPr>
          <p:cNvPr id="5" name="Rectangle 4">
            <a:extLst>
              <a:ext uri="{FF2B5EF4-FFF2-40B4-BE49-F238E27FC236}">
                <a16:creationId xmlns:a16="http://schemas.microsoft.com/office/drawing/2014/main" id="{86BB8873-1DC7-4D21-A3AF-2C577EE9FEF9}"/>
              </a:ext>
            </a:extLst>
          </p:cNvPr>
          <p:cNvSpPr>
            <a:spLocks noGrp="1"/>
          </p:cNvSpPr>
          <p:nvPr/>
        </p:nvSpPr>
        <p:spPr>
          <a:xfrm>
            <a:off x="800100" y="2019300"/>
            <a:ext cx="666750" cy="419100"/>
          </a:xfrm>
          <a:prstGeom prst="rect">
            <a:avLst/>
          </a:prstGeom>
          <a:noFill/>
          <a:ln w="0">
            <a:noFill/>
            <a:prstDash val="solid"/>
          </a:ln>
        </p:spPr>
        <p:txBody>
          <a:bodyPr/>
          <a:lstStyle/>
          <a:p>
            <a:pPr algn="l">
              <a:defRPr sz="2550" b="1">
                <a:solidFill>
                  <a:srgbClr val="FF6B35"/>
                </a:solidFill>
              </a:defRPr>
            </a:pPr>
            <a:r>
              <a:rPr sz="2550" b="1">
                <a:solidFill>
                  <a:srgbClr val="FF6B35"/>
                </a:solidFill>
              </a:rPr>
              <a:t>01</a:t>
            </a:r>
          </a:p>
        </p:txBody>
      </p:sp>
      <p:sp>
        <p:nvSpPr>
          <p:cNvPr id="6" name="Rectangle 5">
            <a:extLst>
              <a:ext uri="{FF2B5EF4-FFF2-40B4-BE49-F238E27FC236}">
                <a16:creationId xmlns:a16="http://schemas.microsoft.com/office/drawing/2014/main" id="{03DC525A-64CB-4840-8B67-5B36B54B24F7}"/>
              </a:ext>
            </a:extLst>
          </p:cNvPr>
          <p:cNvSpPr>
            <a:spLocks noGrp="1"/>
          </p:cNvSpPr>
          <p:nvPr/>
        </p:nvSpPr>
        <p:spPr>
          <a:xfrm>
            <a:off x="1619250" y="2057400"/>
            <a:ext cx="3048000" cy="304800"/>
          </a:xfrm>
          <a:prstGeom prst="rect">
            <a:avLst/>
          </a:prstGeom>
          <a:noFill/>
          <a:ln w="0">
            <a:noFill/>
            <a:prstDash val="solid"/>
          </a:ln>
        </p:spPr>
        <p:txBody>
          <a:bodyPr/>
          <a:lstStyle/>
          <a:p>
            <a:pPr algn="l">
              <a:defRPr sz="1950" b="1">
                <a:solidFill>
                  <a:srgbClr val="000000"/>
                </a:solidFill>
              </a:defRPr>
            </a:pPr>
            <a:r>
              <a:rPr sz="1950" b="1" dirty="0">
                <a:solidFill>
                  <a:srgbClr val="000000"/>
                </a:solidFill>
              </a:rPr>
              <a:t>Scale the runs</a:t>
            </a:r>
          </a:p>
        </p:txBody>
      </p:sp>
      <p:sp>
        <p:nvSpPr>
          <p:cNvPr id="7" name="Rectangle 6">
            <a:extLst>
              <a:ext uri="{FF2B5EF4-FFF2-40B4-BE49-F238E27FC236}">
                <a16:creationId xmlns:a16="http://schemas.microsoft.com/office/drawing/2014/main" id="{43B6D93A-5339-43FE-982D-76CC1AD37AA8}"/>
              </a:ext>
            </a:extLst>
          </p:cNvPr>
          <p:cNvSpPr>
            <a:spLocks noGrp="1"/>
          </p:cNvSpPr>
          <p:nvPr/>
        </p:nvSpPr>
        <p:spPr>
          <a:xfrm>
            <a:off x="1619250" y="2495550"/>
            <a:ext cx="3429000" cy="533400"/>
          </a:xfrm>
          <a:prstGeom prst="rect">
            <a:avLst/>
          </a:prstGeom>
          <a:noFill/>
          <a:ln w="0">
            <a:noFill/>
            <a:prstDash val="solid"/>
          </a:ln>
        </p:spPr>
        <p:txBody>
          <a:bodyPr/>
          <a:lstStyle/>
          <a:p>
            <a:pPr algn="l">
              <a:defRPr sz="1500" b="0">
                <a:solidFill>
                  <a:srgbClr val="555555"/>
                </a:solidFill>
              </a:defRPr>
            </a:pPr>
            <a:r>
              <a:rPr sz="1500" b="0" dirty="0">
                <a:solidFill>
                  <a:srgbClr val="555555"/>
                </a:solidFill>
              </a:rPr>
              <a:t>Use the same image count for TDX and non-TDX; report mean, standard deviation, and P95.</a:t>
            </a:r>
          </a:p>
        </p:txBody>
      </p:sp>
      <p:sp>
        <p:nvSpPr>
          <p:cNvPr id="8" name="Rectangle 7">
            <a:extLst>
              <a:ext uri="{FF2B5EF4-FFF2-40B4-BE49-F238E27FC236}">
                <a16:creationId xmlns:a16="http://schemas.microsoft.com/office/drawing/2014/main" id="{39405FEB-6D8B-47EE-BC94-EE9DCFB0BF1B}"/>
              </a:ext>
            </a:extLst>
          </p:cNvPr>
          <p:cNvSpPr>
            <a:spLocks noGrp="1"/>
          </p:cNvSpPr>
          <p:nvPr/>
        </p:nvSpPr>
        <p:spPr>
          <a:xfrm>
            <a:off x="6334125" y="1809750"/>
            <a:ext cx="4953000" cy="1428750"/>
          </a:xfrm>
          <a:prstGeom prst="rect">
            <a:avLst/>
          </a:prstGeom>
          <a:solidFill>
            <a:srgbClr val="EDEDED"/>
          </a:solidFill>
          <a:ln w="9525">
            <a:solidFill>
              <a:srgbClr val="B8BCC4"/>
            </a:solidFill>
            <a:prstDash val="solid"/>
          </a:ln>
        </p:spPr>
        <p:txBody>
          <a:bodyPr/>
          <a:lstStyle/>
          <a:p>
            <a:endParaRPr lang="en-US"/>
          </a:p>
        </p:txBody>
      </p:sp>
      <p:sp>
        <p:nvSpPr>
          <p:cNvPr id="9" name="Rectangle 8">
            <a:extLst>
              <a:ext uri="{FF2B5EF4-FFF2-40B4-BE49-F238E27FC236}">
                <a16:creationId xmlns:a16="http://schemas.microsoft.com/office/drawing/2014/main" id="{DC66DCD4-6226-493E-BBDD-DBF46A96FA0C}"/>
              </a:ext>
            </a:extLst>
          </p:cNvPr>
          <p:cNvSpPr>
            <a:spLocks noGrp="1"/>
          </p:cNvSpPr>
          <p:nvPr/>
        </p:nvSpPr>
        <p:spPr>
          <a:xfrm>
            <a:off x="6543675" y="2019300"/>
            <a:ext cx="666750" cy="419100"/>
          </a:xfrm>
          <a:prstGeom prst="rect">
            <a:avLst/>
          </a:prstGeom>
          <a:noFill/>
          <a:ln w="0">
            <a:noFill/>
            <a:prstDash val="solid"/>
          </a:ln>
        </p:spPr>
        <p:txBody>
          <a:bodyPr/>
          <a:lstStyle/>
          <a:p>
            <a:pPr algn="l">
              <a:defRPr sz="2550" b="1">
                <a:solidFill>
                  <a:srgbClr val="000000"/>
                </a:solidFill>
              </a:defRPr>
            </a:pPr>
            <a:r>
              <a:rPr sz="2550" b="1">
                <a:solidFill>
                  <a:srgbClr val="000000"/>
                </a:solidFill>
              </a:rPr>
              <a:t>02</a:t>
            </a:r>
          </a:p>
        </p:txBody>
      </p:sp>
      <p:sp>
        <p:nvSpPr>
          <p:cNvPr id="10" name="Rectangle 9">
            <a:extLst>
              <a:ext uri="{FF2B5EF4-FFF2-40B4-BE49-F238E27FC236}">
                <a16:creationId xmlns:a16="http://schemas.microsoft.com/office/drawing/2014/main" id="{E1801533-4672-4321-B2CF-B98FDB32A54C}"/>
              </a:ext>
            </a:extLst>
          </p:cNvPr>
          <p:cNvSpPr>
            <a:spLocks noGrp="1"/>
          </p:cNvSpPr>
          <p:nvPr/>
        </p:nvSpPr>
        <p:spPr>
          <a:xfrm>
            <a:off x="7362825" y="2057400"/>
            <a:ext cx="3048000" cy="304800"/>
          </a:xfrm>
          <a:prstGeom prst="rect">
            <a:avLst/>
          </a:prstGeom>
          <a:noFill/>
          <a:ln w="0">
            <a:noFill/>
            <a:prstDash val="solid"/>
          </a:ln>
        </p:spPr>
        <p:txBody>
          <a:bodyPr/>
          <a:lstStyle/>
          <a:p>
            <a:pPr algn="l">
              <a:defRPr sz="1950" b="1">
                <a:solidFill>
                  <a:srgbClr val="000000"/>
                </a:solidFill>
              </a:defRPr>
            </a:pPr>
            <a:r>
              <a:rPr sz="1950" b="1" dirty="0">
                <a:solidFill>
                  <a:srgbClr val="000000"/>
                </a:solidFill>
              </a:rPr>
              <a:t>Split the timers</a:t>
            </a:r>
          </a:p>
        </p:txBody>
      </p:sp>
      <p:sp>
        <p:nvSpPr>
          <p:cNvPr id="11" name="Rectangle 10">
            <a:extLst>
              <a:ext uri="{FF2B5EF4-FFF2-40B4-BE49-F238E27FC236}">
                <a16:creationId xmlns:a16="http://schemas.microsoft.com/office/drawing/2014/main" id="{9C4B62B3-A18F-4536-8ECC-B39BB286E5CD}"/>
              </a:ext>
            </a:extLst>
          </p:cNvPr>
          <p:cNvSpPr>
            <a:spLocks noGrp="1"/>
          </p:cNvSpPr>
          <p:nvPr/>
        </p:nvSpPr>
        <p:spPr>
          <a:xfrm>
            <a:off x="7362825" y="2495550"/>
            <a:ext cx="3429000" cy="533400"/>
          </a:xfrm>
          <a:prstGeom prst="rect">
            <a:avLst/>
          </a:prstGeom>
          <a:noFill/>
          <a:ln w="0">
            <a:noFill/>
            <a:prstDash val="solid"/>
          </a:ln>
        </p:spPr>
        <p:txBody>
          <a:bodyPr/>
          <a:lstStyle/>
          <a:p>
            <a:pPr algn="l">
              <a:defRPr sz="1500" b="0">
                <a:solidFill>
                  <a:srgbClr val="555555"/>
                </a:solidFill>
              </a:defRPr>
            </a:pPr>
            <a:r>
              <a:rPr sz="1500" b="0" dirty="0">
                <a:solidFill>
                  <a:srgbClr val="555555"/>
                </a:solidFill>
              </a:rPr>
              <a:t>Measure serialization, encryption, decryption, TLS setup, cloud decoder, and edge encoder separately.</a:t>
            </a:r>
          </a:p>
        </p:txBody>
      </p:sp>
      <p:sp>
        <p:nvSpPr>
          <p:cNvPr id="12" name="Rectangle 11">
            <a:extLst>
              <a:ext uri="{FF2B5EF4-FFF2-40B4-BE49-F238E27FC236}">
                <a16:creationId xmlns:a16="http://schemas.microsoft.com/office/drawing/2014/main" id="{C43745C8-B41B-4A4E-925F-415768DF7B7C}"/>
              </a:ext>
            </a:extLst>
          </p:cNvPr>
          <p:cNvSpPr>
            <a:spLocks noGrp="1"/>
          </p:cNvSpPr>
          <p:nvPr/>
        </p:nvSpPr>
        <p:spPr>
          <a:xfrm>
            <a:off x="590550" y="4000500"/>
            <a:ext cx="4953000" cy="1428750"/>
          </a:xfrm>
          <a:prstGeom prst="rect">
            <a:avLst/>
          </a:prstGeom>
          <a:solidFill>
            <a:srgbClr val="EDEDED"/>
          </a:solidFill>
          <a:ln w="9525">
            <a:solidFill>
              <a:srgbClr val="B8BCC4"/>
            </a:solidFill>
            <a:prstDash val="solid"/>
          </a:ln>
        </p:spPr>
        <p:txBody>
          <a:bodyPr/>
          <a:lstStyle/>
          <a:p>
            <a:endParaRPr lang="en-US"/>
          </a:p>
        </p:txBody>
      </p:sp>
      <p:sp>
        <p:nvSpPr>
          <p:cNvPr id="13" name="Rectangle 12">
            <a:extLst>
              <a:ext uri="{FF2B5EF4-FFF2-40B4-BE49-F238E27FC236}">
                <a16:creationId xmlns:a16="http://schemas.microsoft.com/office/drawing/2014/main" id="{5C222353-EC03-4981-9B7F-9E74E9E52044}"/>
              </a:ext>
            </a:extLst>
          </p:cNvPr>
          <p:cNvSpPr>
            <a:spLocks noGrp="1"/>
          </p:cNvSpPr>
          <p:nvPr/>
        </p:nvSpPr>
        <p:spPr>
          <a:xfrm>
            <a:off x="800100" y="4210050"/>
            <a:ext cx="666750" cy="419100"/>
          </a:xfrm>
          <a:prstGeom prst="rect">
            <a:avLst/>
          </a:prstGeom>
          <a:noFill/>
          <a:ln w="0">
            <a:noFill/>
            <a:prstDash val="solid"/>
          </a:ln>
        </p:spPr>
        <p:txBody>
          <a:bodyPr/>
          <a:lstStyle/>
          <a:p>
            <a:pPr algn="l">
              <a:defRPr sz="2550" b="1">
                <a:solidFill>
                  <a:srgbClr val="000000"/>
                </a:solidFill>
              </a:defRPr>
            </a:pPr>
            <a:r>
              <a:rPr sz="2550" b="1">
                <a:solidFill>
                  <a:srgbClr val="000000"/>
                </a:solidFill>
              </a:rPr>
              <a:t>03</a:t>
            </a:r>
          </a:p>
        </p:txBody>
      </p:sp>
      <p:sp>
        <p:nvSpPr>
          <p:cNvPr id="14" name="Rectangle 13">
            <a:extLst>
              <a:ext uri="{FF2B5EF4-FFF2-40B4-BE49-F238E27FC236}">
                <a16:creationId xmlns:a16="http://schemas.microsoft.com/office/drawing/2014/main" id="{A227B2D8-AFE3-45D4-9560-F8A75A42C956}"/>
              </a:ext>
            </a:extLst>
          </p:cNvPr>
          <p:cNvSpPr>
            <a:spLocks noGrp="1"/>
          </p:cNvSpPr>
          <p:nvPr/>
        </p:nvSpPr>
        <p:spPr>
          <a:xfrm>
            <a:off x="1619250" y="4248150"/>
            <a:ext cx="3048000" cy="304800"/>
          </a:xfrm>
          <a:prstGeom prst="rect">
            <a:avLst/>
          </a:prstGeom>
          <a:noFill/>
          <a:ln w="0">
            <a:noFill/>
            <a:prstDash val="solid"/>
          </a:ln>
        </p:spPr>
        <p:txBody>
          <a:bodyPr/>
          <a:lstStyle/>
          <a:p>
            <a:pPr algn="l">
              <a:defRPr sz="1950" b="1">
                <a:solidFill>
                  <a:srgbClr val="000000"/>
                </a:solidFill>
              </a:defRPr>
            </a:pPr>
            <a:r>
              <a:rPr sz="1950" b="1">
                <a:solidFill>
                  <a:srgbClr val="000000"/>
                </a:solidFill>
              </a:rPr>
              <a:t>Validate outputs</a:t>
            </a:r>
          </a:p>
        </p:txBody>
      </p:sp>
      <p:sp>
        <p:nvSpPr>
          <p:cNvPr id="15" name="Rectangle 14">
            <a:extLst>
              <a:ext uri="{FF2B5EF4-FFF2-40B4-BE49-F238E27FC236}">
                <a16:creationId xmlns:a16="http://schemas.microsoft.com/office/drawing/2014/main" id="{CF6A032F-CD1E-47EB-89AD-2085B40AB533}"/>
              </a:ext>
            </a:extLst>
          </p:cNvPr>
          <p:cNvSpPr>
            <a:spLocks noGrp="1"/>
          </p:cNvSpPr>
          <p:nvPr/>
        </p:nvSpPr>
        <p:spPr>
          <a:xfrm>
            <a:off x="1619250" y="4686300"/>
            <a:ext cx="3429000" cy="533400"/>
          </a:xfrm>
          <a:prstGeom prst="rect">
            <a:avLst/>
          </a:prstGeom>
          <a:noFill/>
          <a:ln w="0">
            <a:noFill/>
            <a:prstDash val="solid"/>
          </a:ln>
        </p:spPr>
        <p:txBody>
          <a:bodyPr/>
          <a:lstStyle/>
          <a:p>
            <a:pPr algn="l">
              <a:defRPr sz="1500" b="0">
                <a:solidFill>
                  <a:srgbClr val="555555"/>
                </a:solidFill>
              </a:defRPr>
            </a:pPr>
            <a:r>
              <a:rPr sz="1500" b="0" dirty="0">
                <a:solidFill>
                  <a:srgbClr val="555555"/>
                </a:solidFill>
              </a:rPr>
              <a:t>Track matched and unmatched generations between split inference and the local baseline.</a:t>
            </a:r>
          </a:p>
        </p:txBody>
      </p:sp>
      <p:sp>
        <p:nvSpPr>
          <p:cNvPr id="16" name="Rectangle 15">
            <a:extLst>
              <a:ext uri="{FF2B5EF4-FFF2-40B4-BE49-F238E27FC236}">
                <a16:creationId xmlns:a16="http://schemas.microsoft.com/office/drawing/2014/main" id="{479B1063-DA6A-44AB-BD12-7CD278D456EF}"/>
              </a:ext>
            </a:extLst>
          </p:cNvPr>
          <p:cNvSpPr>
            <a:spLocks noGrp="1"/>
          </p:cNvSpPr>
          <p:nvPr/>
        </p:nvSpPr>
        <p:spPr>
          <a:xfrm>
            <a:off x="6334125" y="4000500"/>
            <a:ext cx="4953000" cy="1428750"/>
          </a:xfrm>
          <a:prstGeom prst="rect">
            <a:avLst/>
          </a:prstGeom>
          <a:solidFill>
            <a:srgbClr val="EDEDED"/>
          </a:solidFill>
          <a:ln w="9525">
            <a:solidFill>
              <a:srgbClr val="B8BCC4"/>
            </a:solidFill>
            <a:prstDash val="solid"/>
          </a:ln>
        </p:spPr>
        <p:txBody>
          <a:bodyPr/>
          <a:lstStyle/>
          <a:p>
            <a:endParaRPr lang="en-US"/>
          </a:p>
        </p:txBody>
      </p:sp>
      <p:sp>
        <p:nvSpPr>
          <p:cNvPr id="17" name="Rectangle 16">
            <a:extLst>
              <a:ext uri="{FF2B5EF4-FFF2-40B4-BE49-F238E27FC236}">
                <a16:creationId xmlns:a16="http://schemas.microsoft.com/office/drawing/2014/main" id="{B7B921EA-17F6-486D-867B-A0E64AFD9D3D}"/>
              </a:ext>
            </a:extLst>
          </p:cNvPr>
          <p:cNvSpPr>
            <a:spLocks noGrp="1"/>
          </p:cNvSpPr>
          <p:nvPr/>
        </p:nvSpPr>
        <p:spPr>
          <a:xfrm>
            <a:off x="6543675" y="4210050"/>
            <a:ext cx="666750" cy="419100"/>
          </a:xfrm>
          <a:prstGeom prst="rect">
            <a:avLst/>
          </a:prstGeom>
          <a:noFill/>
          <a:ln w="0">
            <a:noFill/>
            <a:prstDash val="solid"/>
          </a:ln>
        </p:spPr>
        <p:txBody>
          <a:bodyPr/>
          <a:lstStyle/>
          <a:p>
            <a:pPr algn="l">
              <a:defRPr sz="2550" b="1">
                <a:solidFill>
                  <a:srgbClr val="000000"/>
                </a:solidFill>
              </a:defRPr>
            </a:pPr>
            <a:r>
              <a:rPr sz="2550" b="1">
                <a:solidFill>
                  <a:srgbClr val="000000"/>
                </a:solidFill>
              </a:rPr>
              <a:t>04</a:t>
            </a:r>
          </a:p>
        </p:txBody>
      </p:sp>
      <p:sp>
        <p:nvSpPr>
          <p:cNvPr id="18" name="Rectangle 17">
            <a:extLst>
              <a:ext uri="{FF2B5EF4-FFF2-40B4-BE49-F238E27FC236}">
                <a16:creationId xmlns:a16="http://schemas.microsoft.com/office/drawing/2014/main" id="{59398DB7-E25E-4529-BCBF-821E672A6B06}"/>
              </a:ext>
            </a:extLst>
          </p:cNvPr>
          <p:cNvSpPr>
            <a:spLocks noGrp="1"/>
          </p:cNvSpPr>
          <p:nvPr/>
        </p:nvSpPr>
        <p:spPr>
          <a:xfrm>
            <a:off x="7362825" y="4248150"/>
            <a:ext cx="3048000" cy="304800"/>
          </a:xfrm>
          <a:prstGeom prst="rect">
            <a:avLst/>
          </a:prstGeom>
          <a:noFill/>
          <a:ln w="0">
            <a:noFill/>
            <a:prstDash val="solid"/>
          </a:ln>
        </p:spPr>
        <p:txBody>
          <a:bodyPr/>
          <a:lstStyle/>
          <a:p>
            <a:pPr algn="l">
              <a:defRPr sz="1950" b="1">
                <a:solidFill>
                  <a:srgbClr val="000000"/>
                </a:solidFill>
              </a:defRPr>
            </a:pPr>
            <a:r>
              <a:rPr sz="1950" b="1">
                <a:solidFill>
                  <a:srgbClr val="000000"/>
                </a:solidFill>
              </a:rPr>
              <a:t>Optimize the path</a:t>
            </a:r>
          </a:p>
        </p:txBody>
      </p:sp>
      <p:sp>
        <p:nvSpPr>
          <p:cNvPr id="19" name="Rectangle 18">
            <a:extLst>
              <a:ext uri="{FF2B5EF4-FFF2-40B4-BE49-F238E27FC236}">
                <a16:creationId xmlns:a16="http://schemas.microsoft.com/office/drawing/2014/main" id="{E181FD0A-5BBB-4ECD-9013-071C9DB2436D}"/>
              </a:ext>
            </a:extLst>
          </p:cNvPr>
          <p:cNvSpPr>
            <a:spLocks noGrp="1"/>
          </p:cNvSpPr>
          <p:nvPr/>
        </p:nvSpPr>
        <p:spPr>
          <a:xfrm>
            <a:off x="7362825" y="4686300"/>
            <a:ext cx="3429000" cy="533400"/>
          </a:xfrm>
          <a:prstGeom prst="rect">
            <a:avLst/>
          </a:prstGeom>
          <a:noFill/>
          <a:ln w="0">
            <a:noFill/>
            <a:prstDash val="solid"/>
          </a:ln>
        </p:spPr>
        <p:txBody>
          <a:bodyPr/>
          <a:lstStyle/>
          <a:p>
            <a:pPr algn="l">
              <a:defRPr sz="1500" b="0">
                <a:solidFill>
                  <a:srgbClr val="555555"/>
                </a:solidFill>
              </a:defRPr>
            </a:pPr>
            <a:r>
              <a:rPr sz="1500" b="0" dirty="0">
                <a:solidFill>
                  <a:srgbClr val="555555"/>
                </a:solidFill>
              </a:rPr>
              <a:t>Test embedding compression, float16 payloads, batching, or a lighter decoder for latency reduction.</a:t>
            </a:r>
          </a:p>
        </p:txBody>
      </p:sp>
      <p:sp>
        <p:nvSpPr>
          <p:cNvPr id="20" name="Rectangle 19">
            <a:extLst>
              <a:ext uri="{FF2B5EF4-FFF2-40B4-BE49-F238E27FC236}">
                <a16:creationId xmlns:a16="http://schemas.microsoft.com/office/drawing/2014/main" id="{1D17940E-DCD9-4157-9068-612F9D6121F4}"/>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09</a:t>
            </a:r>
          </a:p>
        </p:txBody>
      </p:sp>
    </p:spTree>
    <p:extLst>
      <p:ext uri="{BB962C8B-B14F-4D97-AF65-F5344CB8AC3E}">
        <p14:creationId xmlns:p14="http://schemas.microsoft.com/office/powerpoint/2010/main" val="91260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617FC5A-57F3-44BD-8D09-8446E020FF5C}"/>
              </a:ext>
            </a:extLst>
          </p:cNvPr>
          <p:cNvSpPr>
            <a:spLocks noGrp="1"/>
          </p:cNvSpPr>
          <p:nvPr/>
        </p:nvSpPr>
        <p:spPr>
          <a:xfrm>
            <a:off x="400050" y="552450"/>
            <a:ext cx="4381500" cy="457200"/>
          </a:xfrm>
          <a:prstGeom prst="rect">
            <a:avLst/>
          </a:prstGeom>
          <a:noFill/>
          <a:ln w="0">
            <a:noFill/>
            <a:prstDash val="solid"/>
          </a:ln>
        </p:spPr>
        <p:txBody>
          <a:bodyPr/>
          <a:lstStyle/>
          <a:p>
            <a:pPr algn="l">
              <a:defRPr sz="2850" b="1">
                <a:solidFill>
                  <a:srgbClr val="000000"/>
                </a:solidFill>
              </a:defRPr>
            </a:pPr>
            <a:r>
              <a:rPr sz="2850" b="1">
                <a:solidFill>
                  <a:srgbClr val="000000"/>
                </a:solidFill>
              </a:rPr>
              <a:t>Bottom line</a:t>
            </a:r>
          </a:p>
        </p:txBody>
      </p:sp>
      <p:sp>
        <p:nvSpPr>
          <p:cNvPr id="2" name="Rectangle 1">
            <a:extLst>
              <a:ext uri="{FF2B5EF4-FFF2-40B4-BE49-F238E27FC236}">
                <a16:creationId xmlns:a16="http://schemas.microsoft.com/office/drawing/2014/main" id="{B3F6A8E9-5097-4287-A16E-33E44E1CA45C}"/>
              </a:ext>
            </a:extLst>
          </p:cNvPr>
          <p:cNvSpPr>
            <a:spLocks noGrp="1"/>
          </p:cNvSpPr>
          <p:nvPr/>
        </p:nvSpPr>
        <p:spPr>
          <a:xfrm>
            <a:off x="400050" y="1200150"/>
            <a:ext cx="11391900" cy="13335"/>
          </a:xfrm>
          <a:prstGeom prst="rect">
            <a:avLst/>
          </a:prstGeom>
          <a:solidFill>
            <a:srgbClr val="000000"/>
          </a:solidFill>
          <a:ln w="0">
            <a:solidFill>
              <a:srgbClr val="000000"/>
            </a:solidFill>
            <a:prstDash val="solid"/>
          </a:ln>
        </p:spPr>
        <p:txBody>
          <a:bodyPr/>
          <a:lstStyle/>
          <a:p>
            <a:endParaRPr lang="en-US"/>
          </a:p>
        </p:txBody>
      </p:sp>
      <p:sp>
        <p:nvSpPr>
          <p:cNvPr id="3" name="Rectangle 2">
            <a:extLst>
              <a:ext uri="{FF2B5EF4-FFF2-40B4-BE49-F238E27FC236}">
                <a16:creationId xmlns:a16="http://schemas.microsoft.com/office/drawing/2014/main" id="{AFF27DAC-767A-4273-BFE3-581458E14DAE}"/>
              </a:ext>
            </a:extLst>
          </p:cNvPr>
          <p:cNvSpPr>
            <a:spLocks noGrp="1"/>
          </p:cNvSpPr>
          <p:nvPr/>
        </p:nvSpPr>
        <p:spPr>
          <a:xfrm>
            <a:off x="400050" y="1885950"/>
            <a:ext cx="9334500" cy="1428750"/>
          </a:xfrm>
          <a:prstGeom prst="rect">
            <a:avLst/>
          </a:prstGeom>
          <a:noFill/>
          <a:ln w="0">
            <a:noFill/>
            <a:prstDash val="solid"/>
          </a:ln>
        </p:spPr>
        <p:txBody>
          <a:bodyPr/>
          <a:lstStyle/>
          <a:p>
            <a:pPr algn="l">
              <a:defRPr sz="2550" b="1">
                <a:solidFill>
                  <a:srgbClr val="000000"/>
                </a:solidFill>
              </a:defRPr>
            </a:pPr>
            <a:r>
              <a:rPr sz="2550" b="1" dirty="0">
                <a:solidFill>
                  <a:srgbClr val="000000"/>
                </a:solidFill>
              </a:rPr>
              <a:t>The experiment now has a testable route for secure split VLM inference: keep the raw image at the edge, transmit embeddings over protected channels, and run cloud decoding inside a trusted environment.</a:t>
            </a:r>
          </a:p>
        </p:txBody>
      </p:sp>
      <p:sp>
        <p:nvSpPr>
          <p:cNvPr id="4" name="Rectangle 3">
            <a:extLst>
              <a:ext uri="{FF2B5EF4-FFF2-40B4-BE49-F238E27FC236}">
                <a16:creationId xmlns:a16="http://schemas.microsoft.com/office/drawing/2014/main" id="{2E37ECE8-C9C5-4CEA-8346-526B9372E395}"/>
              </a:ext>
            </a:extLst>
          </p:cNvPr>
          <p:cNvSpPr>
            <a:spLocks noGrp="1"/>
          </p:cNvSpPr>
          <p:nvPr/>
        </p:nvSpPr>
        <p:spPr>
          <a:xfrm>
            <a:off x="400050" y="4000500"/>
            <a:ext cx="9334500" cy="914400"/>
          </a:xfrm>
          <a:prstGeom prst="rect">
            <a:avLst/>
          </a:prstGeom>
          <a:noFill/>
          <a:ln w="0">
            <a:noFill/>
            <a:prstDash val="solid"/>
          </a:ln>
        </p:spPr>
        <p:txBody>
          <a:bodyPr/>
          <a:lstStyle/>
          <a:p>
            <a:pPr algn="l">
              <a:defRPr sz="1950" b="0">
                <a:solidFill>
                  <a:srgbClr val="555555"/>
                </a:solidFill>
              </a:defRPr>
            </a:pPr>
            <a:r>
              <a:rPr sz="1950" b="0">
                <a:solidFill>
                  <a:srgbClr val="555555"/>
                </a:solidFill>
              </a:rPr>
              <a:t>The strongest current message is that protocol encryption is not the dominant cost. The next research value comes from quantifying and reducing model-side and TDX overhead.</a:t>
            </a:r>
          </a:p>
        </p:txBody>
      </p:sp>
      <p:sp>
        <p:nvSpPr>
          <p:cNvPr id="5" name="Rectangle 4">
            <a:extLst>
              <a:ext uri="{FF2B5EF4-FFF2-40B4-BE49-F238E27FC236}">
                <a16:creationId xmlns:a16="http://schemas.microsoft.com/office/drawing/2014/main" id="{C8B44E4B-0B4E-40E1-88E3-8CAB5DE831CA}"/>
              </a:ext>
            </a:extLst>
          </p:cNvPr>
          <p:cNvSpPr>
            <a:spLocks noGrp="1"/>
          </p:cNvSpPr>
          <p:nvPr/>
        </p:nvSpPr>
        <p:spPr>
          <a:xfrm>
            <a:off x="400050" y="5676900"/>
            <a:ext cx="8763000" cy="342900"/>
          </a:xfrm>
          <a:prstGeom prst="rect">
            <a:avLst/>
          </a:prstGeom>
          <a:noFill/>
          <a:ln w="0">
            <a:noFill/>
            <a:prstDash val="solid"/>
          </a:ln>
        </p:spPr>
        <p:txBody>
          <a:bodyPr/>
          <a:lstStyle/>
          <a:p>
            <a:pPr algn="l">
              <a:defRPr sz="1950" b="1">
                <a:solidFill>
                  <a:srgbClr val="FF6B35"/>
                </a:solidFill>
              </a:defRPr>
            </a:pPr>
            <a:r>
              <a:rPr sz="1950" b="1">
                <a:solidFill>
                  <a:srgbClr val="FF6B35"/>
                </a:solidFill>
              </a:rPr>
              <a:t>Next version: stronger statistics and finer-grained security overhead measurement.</a:t>
            </a:r>
          </a:p>
        </p:txBody>
      </p:sp>
      <p:sp>
        <p:nvSpPr>
          <p:cNvPr id="6" name="Rectangle 5">
            <a:extLst>
              <a:ext uri="{FF2B5EF4-FFF2-40B4-BE49-F238E27FC236}">
                <a16:creationId xmlns:a16="http://schemas.microsoft.com/office/drawing/2014/main" id="{A167D9B9-6752-491E-90E9-501343636CBD}"/>
              </a:ext>
            </a:extLst>
          </p:cNvPr>
          <p:cNvSpPr>
            <a:spLocks noGrp="1"/>
          </p:cNvSpPr>
          <p:nvPr/>
        </p:nvSpPr>
        <p:spPr>
          <a:xfrm>
            <a:off x="11220450" y="6362700"/>
            <a:ext cx="571500" cy="228600"/>
          </a:xfrm>
          <a:prstGeom prst="rect">
            <a:avLst/>
          </a:prstGeom>
          <a:noFill/>
          <a:ln w="0">
            <a:noFill/>
            <a:prstDash val="solid"/>
          </a:ln>
        </p:spPr>
        <p:txBody>
          <a:bodyPr/>
          <a:lstStyle/>
          <a:p>
            <a:pPr algn="r">
              <a:defRPr sz="1200" b="1">
                <a:solidFill>
                  <a:srgbClr val="555555"/>
                </a:solidFill>
              </a:defRPr>
            </a:pPr>
            <a:r>
              <a:rPr sz="1200" b="1">
                <a:solidFill>
                  <a:srgbClr val="555555"/>
                </a:solidFill>
              </a:rPr>
              <a:t>10</a:t>
            </a:r>
          </a:p>
        </p:txBody>
      </p:sp>
    </p:spTree>
    <p:extLst>
      <p:ext uri="{BB962C8B-B14F-4D97-AF65-F5344CB8AC3E}">
        <p14:creationId xmlns:p14="http://schemas.microsoft.com/office/powerpoint/2010/main" val="51742702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840</Words>
  <Application>Microsoft Macintosh PowerPoint</Application>
  <DocSecurity>0</DocSecurity>
  <PresentationFormat>Widescreen</PresentationFormat>
  <Paragraphs>136</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耀泉 马</cp:lastModifiedBy>
  <cp:revision>1</cp:revision>
  <dcterms:created xsi:type="dcterms:W3CDTF">2026-07-06T12:35:00Z</dcterms:created>
  <dcterms:modified xsi:type="dcterms:W3CDTF">2026-07-06T14:14:47Z</dcterms:modified>
</cp:coreProperties>
</file>