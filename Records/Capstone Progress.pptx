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74" r:id="rId5"/>
    <p:sldId id="272" r:id="rId6"/>
    <p:sldId id="273" r:id="rId7"/>
    <p:sldId id="271" r:id="rId8"/>
    <p:sldId id="270" r:id="rId9"/>
    <p:sldId id="264" r:id="rId10"/>
    <p:sldId id="261" r:id="rId11"/>
    <p:sldId id="262" r:id="rId12"/>
    <p:sldId id="258" r:id="rId13"/>
    <p:sldId id="266" r:id="rId14"/>
    <p:sldId id="265" r:id="rId15"/>
    <p:sldId id="268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7364D2-7B48-1D4A-8AEF-744EC3E9C1FF}">
          <p14:sldIdLst>
            <p14:sldId id="256"/>
          </p14:sldIdLst>
        </p14:section>
        <p14:section name="Week 1" id="{7A9EE9F0-9EA2-FD4F-95A0-5FB502EDB152}">
          <p14:sldIdLst>
            <p14:sldId id="257"/>
            <p14:sldId id="269"/>
            <p14:sldId id="274"/>
            <p14:sldId id="272"/>
            <p14:sldId id="273"/>
            <p14:sldId id="271"/>
            <p14:sldId id="270"/>
            <p14:sldId id="264"/>
            <p14:sldId id="261"/>
            <p14:sldId id="262"/>
            <p14:sldId id="258"/>
            <p14:sldId id="266"/>
            <p14:sldId id="265"/>
            <p14:sldId id="26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6E8"/>
    <a:srgbClr val="FFD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7"/>
    <p:restoredTop sz="88293"/>
  </p:normalViewPr>
  <p:slideViewPr>
    <p:cSldViewPr snapToGrid="0">
      <p:cViewPr varScale="1">
        <p:scale>
          <a:sx n="142" d="100"/>
          <a:sy n="142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耀泉 马" userId="19e30af8d5659de2" providerId="LiveId" clId="{C3594856-CEDA-5129-B2AF-7962E3CA4CA3}"/>
    <pc:docChg chg="undo custSel addSld modSld modSection">
      <pc:chgData name="耀泉 马" userId="19e30af8d5659de2" providerId="LiveId" clId="{C3594856-CEDA-5129-B2AF-7962E3CA4CA3}" dt="2026-08-29T15:05:49.399" v="3900" actId="14100"/>
      <pc:docMkLst>
        <pc:docMk/>
      </pc:docMkLst>
      <pc:sldChg chg="addSp delSp modSp add mod">
        <pc:chgData name="耀泉 马" userId="19e30af8d5659de2" providerId="LiveId" clId="{C3594856-CEDA-5129-B2AF-7962E3CA4CA3}" dt="2026-08-29T15:05:49.399" v="3900" actId="14100"/>
        <pc:sldMkLst>
          <pc:docMk/>
          <pc:sldMk cId="3818938006" sldId="271"/>
        </pc:sldMkLst>
        <pc:spChg chg="mod">
          <ac:chgData name="耀泉 马" userId="19e30af8d5659de2" providerId="LiveId" clId="{C3594856-CEDA-5129-B2AF-7962E3CA4CA3}" dt="2026-08-29T15:05:49.399" v="3900" actId="14100"/>
          <ac:spMkLst>
            <pc:docMk/>
            <pc:sldMk cId="3818938006" sldId="271"/>
            <ac:spMk id="99" creationId="{90347F0A-ECAF-A7B1-63CD-3E3550DBF8AF}"/>
          </ac:spMkLst>
        </pc:spChg>
        <pc:spChg chg="mod">
          <ac:chgData name="耀泉 马" userId="19e30af8d5659de2" providerId="LiveId" clId="{C3594856-CEDA-5129-B2AF-7962E3CA4CA3}" dt="2026-08-29T15:04:13.264" v="3899" actId="1036"/>
          <ac:spMkLst>
            <pc:docMk/>
            <pc:sldMk cId="3818938006" sldId="271"/>
            <ac:spMk id="116" creationId="{675D2EFF-A2F5-4279-BCF9-0ACEB30AB000}"/>
          </ac:spMkLst>
        </pc:spChg>
        <pc:spChg chg="mod">
          <ac:chgData name="耀泉 马" userId="19e30af8d5659de2" providerId="LiveId" clId="{C3594856-CEDA-5129-B2AF-7962E3CA4CA3}" dt="2026-08-29T15:04:13.264" v="3899" actId="1036"/>
          <ac:spMkLst>
            <pc:docMk/>
            <pc:sldMk cId="3818938006" sldId="271"/>
            <ac:spMk id="119" creationId="{66331CAF-B02E-915B-AA87-EA61C9C6C789}"/>
          </ac:spMkLst>
        </pc:spChg>
        <pc:picChg chg="mod">
          <ac:chgData name="耀泉 马" userId="19e30af8d5659de2" providerId="LiveId" clId="{C3594856-CEDA-5129-B2AF-7962E3CA4CA3}" dt="2026-08-29T15:04:13.264" v="3899" actId="1036"/>
          <ac:picMkLst>
            <pc:docMk/>
            <pc:sldMk cId="3818938006" sldId="271"/>
            <ac:picMk id="115" creationId="{DC745EEF-5712-EDC5-4655-A507855F2E9A}"/>
          </ac:picMkLst>
        </pc:picChg>
        <pc:picChg chg="mod">
          <ac:chgData name="耀泉 马" userId="19e30af8d5659de2" providerId="LiveId" clId="{C3594856-CEDA-5129-B2AF-7962E3CA4CA3}" dt="2026-08-29T15:04:13.264" v="3899" actId="1036"/>
          <ac:picMkLst>
            <pc:docMk/>
            <pc:sldMk cId="3818938006" sldId="271"/>
            <ac:picMk id="117" creationId="{0E50EEC2-F282-83FB-B042-D41BC1ECC5A7}"/>
          </ac:picMkLst>
        </pc:picChg>
        <pc:cxnChg chg="mod">
          <ac:chgData name="耀泉 马" userId="19e30af8d5659de2" providerId="LiveId" clId="{C3594856-CEDA-5129-B2AF-7962E3CA4CA3}" dt="2026-08-29T15:04:13.264" v="3899" actId="1036"/>
          <ac:cxnSpMkLst>
            <pc:docMk/>
            <pc:sldMk cId="3818938006" sldId="271"/>
            <ac:cxnSpMk id="127" creationId="{B475213A-4FA8-0889-07CA-E7D0B82C2E2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F708F-C5DA-2442-B459-317C43B6759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6F6D7-A759-5D41-8F8D-5EE238F0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8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8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94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2454-4557-5CA4-6F7E-48A74AD4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B386A-050C-A21A-A0F7-264DBED76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94A03-D584-8559-5D7B-F01C3FF78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CD6EE-E775-5342-A033-41C481CB3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3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ABF3-4CEF-72CE-4BA5-9B84A941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63D2-03F3-6686-458D-1BF90BB2D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A8AE2-3AFC-8568-1FD2-72A96B86B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B259-50BF-265F-3A2F-019F34082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50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45CA-06E6-D7A6-7052-780C3DD89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6577B-9E75-CC60-64F5-51067774E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7D16C-D352-50D4-5962-1A0ABB154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74736-7148-9342-58B1-712C1C6AB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35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E3B3-A0C2-6003-B513-13FFF2CA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5D98A-0799-E896-0357-7AD3E280A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ECCA4-4CD9-FAD1-8FF9-041F882D7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86F77-241C-411D-2191-146A56B99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6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Embedded Systems Authentication and Encryption Using Strong PUF </a:t>
            </a:r>
            <a:r>
              <a:rPr lang="en-GB" dirty="0" err="1"/>
              <a:t>Modeling</a:t>
            </a:r>
            <a:r>
              <a:rPr lang="en-GB" dirty="0"/>
              <a:t> 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ieeexplore.ieee.org</a:t>
            </a:r>
            <a:r>
              <a:rPr lang="en-US" dirty="0"/>
              <a:t>/abstract/document/9043104?casa_token=TzGmEqi4czcAAAAA:FP9-Idn1xMF5z_j2kDuLO-pOOLk1aUnqQG75sw8GjfFpAKonMz5raTOEofeSaK4YYtV8hXbb</a:t>
            </a:r>
          </a:p>
          <a:p>
            <a:endParaRPr lang="en-US" dirty="0"/>
          </a:p>
          <a:p>
            <a:r>
              <a:rPr lang="en-US" dirty="0"/>
              <a:t>server-side authentication</a:t>
            </a:r>
          </a:p>
          <a:p>
            <a:r>
              <a:rPr lang="en-US" dirty="0"/>
              <a:t>client-side authentication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lack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resources.</a:t>
            </a:r>
            <a:endParaRPr lang="en-US" dirty="0"/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ChaCha20-Poly1305 authenticated encryption for high-speed embedded IoT applications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ieeexplore.ieee.org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/document/7927078</a:t>
            </a:r>
          </a:p>
          <a:p>
            <a:br>
              <a:rPr lang="en-GB" dirty="0"/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Authenticated Encryption Schemes: A Systematic Review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ieeexplore.ieee.org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/abstract/document/9695453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A Lightweight Image Encryption Algorithm Based on Secure Key Generation</a:t>
            </a:r>
            <a:r>
              <a:rPr lang="en-GB" dirty="0"/>
              <a:t> </a:t>
            </a:r>
            <a:r>
              <a:rPr lang="zh-CN" altLang="en-US" dirty="0"/>
              <a:t> </a:t>
            </a:r>
            <a:r>
              <a:rPr lang="en-US" altLang="zh-CN" dirty="0"/>
              <a:t>(based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AES)</a:t>
            </a:r>
            <a:endParaRPr lang="en-GB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ieeexplore.ieee.org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/document/10596034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Secure key generation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Dynamic S-box generation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Replace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MixColumns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circular permutation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12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 Model Inversion Attacks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Comprehensive Survey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/html/2501.18934v1</a:t>
            </a:r>
          </a:p>
          <a:p>
            <a:endParaRPr lang="en-US" dirty="0"/>
          </a:p>
          <a:p>
            <a:r>
              <a:rPr lang="en-GB" dirty="0"/>
              <a:t>Exploring Model Inversion Attacks in the Black-box Setting</a:t>
            </a:r>
          </a:p>
          <a:p>
            <a:r>
              <a:rPr lang="en-US" dirty="0"/>
              <a:t>https://</a:t>
            </a:r>
            <a:r>
              <a:rPr lang="en-US" dirty="0" err="1"/>
              <a:t>petsymposium.org</a:t>
            </a:r>
            <a:r>
              <a:rPr lang="en-US" dirty="0"/>
              <a:t>/</a:t>
            </a:r>
            <a:r>
              <a:rPr lang="en-US" dirty="0" err="1"/>
              <a:t>popets</a:t>
            </a:r>
            <a:r>
              <a:rPr lang="en-US" dirty="0"/>
              <a:t>/2023/popets-2023-0012.pdf</a:t>
            </a:r>
          </a:p>
          <a:p>
            <a:endParaRPr lang="en-US" dirty="0"/>
          </a:p>
          <a:p>
            <a:endParaRPr lang="en-US" dirty="0"/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deep image representations by inverting them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ieeexplore.ieee.org</a:t>
            </a:r>
            <a:r>
              <a:rPr lang="en-US" dirty="0"/>
              <a:t>/document/7299155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10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privacy preserving split learning framework with adaptive inference selection for IoT security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/>
              <a:t>Key words:</a:t>
            </a:r>
            <a:endParaRPr lang="en-US" dirty="0"/>
          </a:p>
          <a:p>
            <a:r>
              <a:rPr lang="en-US" dirty="0"/>
              <a:t>Data privacy, cloud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53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6F6D7-A759-5D41-8F8D-5EE238F097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29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A8AB-C737-FD4D-BF9D-17A512F01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9A126-A82D-3C7E-FBDD-B153AA05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80D57-352B-F93D-9ED6-6E1F681F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5AAE3-74B3-0779-58A9-D2324E4C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B5AF1-4C23-12F9-E8CB-4424B420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7D92-8BEA-3136-9575-F25FE2A2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A7FB-F8F6-C5EE-EE40-8EA683CC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C4D90-6A16-B5B0-4C3F-AB6152E7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5BD75-D977-2B7D-6C46-52F03204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A02E-2EA5-F492-E1F9-047D418D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9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6C3D-2368-8484-3C9C-2C8AE374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A1641-A6F1-AFCC-34D6-AF5D272F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6246F-9540-BA90-839A-2A4279BB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D70F-D39C-DCA2-BA1D-2E43EC23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47175-E312-1EA6-A7AE-1FEF3C99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1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22F6-D578-98E7-661B-3F64CDF1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7FC9-9E95-4215-376C-7BCB7A7DB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E2920-70DB-6FB2-31C9-E69FAFD76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DB35F-2272-3B2B-4AB5-A8DC2CC5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36D21-1117-0881-3E61-427138DA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115F-C0E3-54CD-9DD1-2AEF08B0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F38-0A47-A590-5182-FC4ED939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2689E-1D38-0A80-9EFD-426C639F0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25580-ED8F-6001-73E9-177A6E51C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74194-C9A8-56A8-F807-6B3BAC4CA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5CD27-FAD3-83B0-488A-195CFD056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FA877-089A-FF46-7A4B-B9585CED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130F1-91CB-8BC6-FB2A-2B55D275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69AEF-0C50-EC9A-1667-D81E4915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5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1556-93D7-67CA-FAAB-B82FD6A1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3CF1B-D9C9-3C50-F6EE-4583F98D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C13B8-5407-A39A-F46F-F56759D2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E0ED0-AD54-A226-5FE9-105916E5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3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C560C-647E-336A-A8CB-D2FE7C6F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0704D-35ED-ACEB-EFC7-035B6212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2D94A-1CF9-6B56-D7BD-0CA9106E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9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82EC-6EC5-FC90-02D6-1BBD4320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1BA5-D499-2653-3897-C97E0EAAB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A9CF5-05D6-EC9B-8108-414E4C10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C9A90-91DB-3785-9C20-0ECA4987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8617F-6CFD-F48E-6E5A-508E2C34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114BB-01BA-5986-4D69-673CF2CF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2F4A-850C-A865-F4DE-ABB5482D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56FF0-8E16-5A34-8416-94D138DE3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CE77-2615-A67C-155A-27E8362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96C4B-EE11-B1C9-48CD-D799EB17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F074C-82C2-16A5-E682-72B27F51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1E87D-C98F-4845-8F0A-C19F02A9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31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C130-F04A-388A-61CC-69F4CAED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8ED3C-AC86-6957-3DA1-31A86A6A9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318CE-A120-5957-264F-211D79E7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D5272-42B3-2BBD-AFF8-ECAAAD76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15C73-79FD-0822-2932-EBC79DB7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7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C9E91-95A1-205B-3780-08B6B610C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58B37-1769-3FB7-0CAA-5BF89F196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723A9-87D2-27BC-440D-6618AA0D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2E92B-595B-97BA-6B36-F226B999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2D984-72C5-E789-C6E9-F1360F0C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9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9F1EC-30D1-546A-E317-FB84D01C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6A8B3-3ECB-53FD-A522-7DD83FD34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2FB31-AED2-BB56-2AC2-1F48F65FB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3F8E0-39CC-F548-AAA7-4485C47B7E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92861-D4AB-171D-8320-D97E9A6F2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FFC12-2289-BECF-D0C4-A832BDAAE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3C829-1665-534F-9F9E-C599CC249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8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asis-open.org/mqtt/mqtt/v5.0/cos02/mqtt-v5.0-cos0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3B03-03A8-3398-9AA9-79B7C20BA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</a:t>
            </a:r>
            <a:r>
              <a:rPr lang="zh-CN" altLang="en-US" dirty="0"/>
              <a:t> </a:t>
            </a:r>
            <a:r>
              <a:rPr lang="en-US" altLang="zh-CN" dirty="0"/>
              <a:t>Progress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269FB-700A-70E3-4BEA-9AA0FB62F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35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28B6-13C3-8BAE-3D5E-E2EB78C7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B29C1-1D46-FAC8-83E3-EB928A4C4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79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edge.py</a:t>
            </a:r>
            <a:endParaRPr lang="en-US" dirty="0"/>
          </a:p>
          <a:p>
            <a:r>
              <a:rPr lang="en-US" dirty="0"/>
              <a:t>Load</a:t>
            </a:r>
            <a:r>
              <a:rPr lang="zh-CN" altLang="en-US" dirty="0"/>
              <a:t> </a:t>
            </a:r>
            <a:r>
              <a:rPr lang="en-US" dirty="0"/>
              <a:t>image and pre-trained model</a:t>
            </a:r>
          </a:p>
          <a:p>
            <a:r>
              <a:rPr lang="en-US" dirty="0"/>
              <a:t> -&gt; image preprocessing</a:t>
            </a:r>
            <a:r>
              <a:rPr lang="zh-CN" altLang="en-US" dirty="0"/>
              <a:t> </a:t>
            </a:r>
            <a:r>
              <a:rPr lang="en-US" altLang="zh-CN" dirty="0"/>
              <a:t>(resize, split, and tokenizer)</a:t>
            </a:r>
            <a:endParaRPr lang="en-US" dirty="0"/>
          </a:p>
          <a:p>
            <a:r>
              <a:rPr lang="en-US" dirty="0"/>
              <a:t> -&gt; vision encoder</a:t>
            </a:r>
          </a:p>
          <a:p>
            <a:r>
              <a:rPr lang="en-US" dirty="0"/>
              <a:t>-&gt; projected visual embeddings</a:t>
            </a:r>
          </a:p>
          <a:p>
            <a:r>
              <a:rPr lang="en-US" dirty="0"/>
              <a:t> -&gt; send embeddings to cloud</a:t>
            </a:r>
            <a:r>
              <a:rPr lang="zh-CN" altLang="en-US" dirty="0"/>
              <a:t> </a:t>
            </a:r>
            <a:r>
              <a:rPr lang="en-US" altLang="zh-CN" dirty="0"/>
              <a:t>(HTTP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json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A1A7D3-03A9-0367-368E-C80ED7EB2304}"/>
              </a:ext>
            </a:extLst>
          </p:cNvPr>
          <p:cNvSpPr txBox="1">
            <a:spLocks/>
          </p:cNvSpPr>
          <p:nvPr/>
        </p:nvSpPr>
        <p:spPr>
          <a:xfrm>
            <a:off x="6096000" y="1780802"/>
            <a:ext cx="47079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cloud.py</a:t>
            </a:r>
            <a:endParaRPr lang="en-US" dirty="0"/>
          </a:p>
          <a:p>
            <a:r>
              <a:rPr lang="en-US" dirty="0"/>
              <a:t>receive projected visual embeddings</a:t>
            </a:r>
          </a:p>
          <a:p>
            <a:r>
              <a:rPr lang="en-US" dirty="0"/>
              <a:t> -&gt; rebuild tensor</a:t>
            </a:r>
          </a:p>
          <a:p>
            <a:r>
              <a:rPr lang="en-US" dirty="0"/>
              <a:t> -&gt; tokenize text prompt</a:t>
            </a:r>
          </a:p>
          <a:p>
            <a:r>
              <a:rPr lang="en-US" dirty="0"/>
              <a:t> -&gt; convert prompt tokens to text embeddings</a:t>
            </a:r>
          </a:p>
          <a:p>
            <a:r>
              <a:rPr lang="en-US" dirty="0"/>
              <a:t> -&gt; concatenate visual embeddings + text embeddings</a:t>
            </a:r>
          </a:p>
          <a:p>
            <a:r>
              <a:rPr lang="en-US" dirty="0"/>
              <a:t> -&gt; </a:t>
            </a: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ids</a:t>
            </a:r>
            <a:endParaRPr lang="en-US" dirty="0"/>
          </a:p>
          <a:p>
            <a:pPr lvl="1"/>
            <a:r>
              <a:rPr lang="en-US" dirty="0"/>
              <a:t>language decoder</a:t>
            </a:r>
          </a:p>
          <a:p>
            <a:pPr lvl="1"/>
            <a:r>
              <a:rPr lang="en-US" dirty="0"/>
              <a:t> -&gt; </a:t>
            </a:r>
            <a:r>
              <a:rPr lang="en-US" dirty="0" err="1"/>
              <a:t>lm</a:t>
            </a:r>
            <a:r>
              <a:rPr lang="en-US" dirty="0"/>
              <a:t> head</a:t>
            </a:r>
          </a:p>
          <a:p>
            <a:r>
              <a:rPr lang="en-US" dirty="0"/>
              <a:t> -&gt; generated text answer</a:t>
            </a:r>
          </a:p>
        </p:txBody>
      </p:sp>
    </p:spTree>
    <p:extLst>
      <p:ext uri="{BB962C8B-B14F-4D97-AF65-F5344CB8AC3E}">
        <p14:creationId xmlns:p14="http://schemas.microsoft.com/office/powerpoint/2010/main" val="415403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4F2288-D054-E3E0-4447-79AA5EFEECE4}"/>
              </a:ext>
            </a:extLst>
          </p:cNvPr>
          <p:cNvSpPr/>
          <p:nvPr/>
        </p:nvSpPr>
        <p:spPr>
          <a:xfrm>
            <a:off x="7754293" y="305071"/>
            <a:ext cx="3951834" cy="6435686"/>
          </a:xfrm>
          <a:prstGeom prst="roundRect">
            <a:avLst>
              <a:gd name="adj" fmla="val 2369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26142E4-2E29-F6BB-DE21-03E7F29A078B}"/>
              </a:ext>
            </a:extLst>
          </p:cNvPr>
          <p:cNvSpPr/>
          <p:nvPr/>
        </p:nvSpPr>
        <p:spPr>
          <a:xfrm>
            <a:off x="8111030" y="1095675"/>
            <a:ext cx="3238998" cy="5527302"/>
          </a:xfrm>
          <a:prstGeom prst="roundRect">
            <a:avLst>
              <a:gd name="adj" fmla="val 3732"/>
            </a:avLst>
          </a:prstGeom>
          <a:solidFill>
            <a:schemeClr val="accent6">
              <a:lumMod val="40000"/>
              <a:lumOff val="60000"/>
              <a:alpha val="80984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0103CF7-010A-9605-6372-65DD158F593E}"/>
              </a:ext>
            </a:extLst>
          </p:cNvPr>
          <p:cNvSpPr/>
          <p:nvPr/>
        </p:nvSpPr>
        <p:spPr>
          <a:xfrm>
            <a:off x="810286" y="347589"/>
            <a:ext cx="3734553" cy="6393167"/>
          </a:xfrm>
          <a:prstGeom prst="roundRect">
            <a:avLst>
              <a:gd name="adj" fmla="val 3096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F069AE7-6914-091A-5944-3D166CFEAFFB}"/>
              </a:ext>
            </a:extLst>
          </p:cNvPr>
          <p:cNvSpPr/>
          <p:nvPr/>
        </p:nvSpPr>
        <p:spPr>
          <a:xfrm>
            <a:off x="1129419" y="4155553"/>
            <a:ext cx="10006343" cy="2005761"/>
          </a:xfrm>
          <a:prstGeom prst="roundRect">
            <a:avLst>
              <a:gd name="adj" fmla="val 3732"/>
            </a:avLst>
          </a:prstGeom>
          <a:solidFill>
            <a:schemeClr val="accent2">
              <a:lumMod val="20000"/>
              <a:lumOff val="80000"/>
              <a:alpha val="80984"/>
            </a:schemeClr>
          </a:solidFill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508CF-B23C-2320-9B99-6D3530F6925F}"/>
              </a:ext>
            </a:extLst>
          </p:cNvPr>
          <p:cNvSpPr txBox="1"/>
          <p:nvPr/>
        </p:nvSpPr>
        <p:spPr>
          <a:xfrm>
            <a:off x="1874928" y="404639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Device</a:t>
            </a:r>
            <a:endParaRPr lang="en-US" dirty="0"/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800DEC62-E6AC-226B-8EFB-92D86FD1B8EC}"/>
              </a:ext>
            </a:extLst>
          </p:cNvPr>
          <p:cNvSpPr/>
          <p:nvPr/>
        </p:nvSpPr>
        <p:spPr>
          <a:xfrm>
            <a:off x="2029783" y="913703"/>
            <a:ext cx="1185297" cy="969484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2FD65B-2831-5B75-DDE7-E479F70FF615}"/>
              </a:ext>
            </a:extLst>
          </p:cNvPr>
          <p:cNvSpPr/>
          <p:nvPr/>
        </p:nvSpPr>
        <p:spPr>
          <a:xfrm>
            <a:off x="1391537" y="2344849"/>
            <a:ext cx="2461791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Visual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96E635-7892-FD55-7648-999E25750D33}"/>
              </a:ext>
            </a:extLst>
          </p:cNvPr>
          <p:cNvSpPr/>
          <p:nvPr/>
        </p:nvSpPr>
        <p:spPr>
          <a:xfrm>
            <a:off x="1380651" y="3277142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Projection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Module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2F7F78-6017-6895-D183-6098780E4EBE}"/>
              </a:ext>
            </a:extLst>
          </p:cNvPr>
          <p:cNvSpPr/>
          <p:nvPr/>
        </p:nvSpPr>
        <p:spPr>
          <a:xfrm>
            <a:off x="1380651" y="4675798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Intermediate Visual Embeddings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C5301-058C-2D64-8926-4F22C083AC6B}"/>
              </a:ext>
            </a:extLst>
          </p:cNvPr>
          <p:cNvSpPr txBox="1"/>
          <p:nvPr/>
        </p:nvSpPr>
        <p:spPr>
          <a:xfrm>
            <a:off x="9077980" y="367801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Cloud Server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A28A49-F96A-FE70-2BFF-A4ED038F8070}"/>
              </a:ext>
            </a:extLst>
          </p:cNvPr>
          <p:cNvSpPr/>
          <p:nvPr/>
        </p:nvSpPr>
        <p:spPr>
          <a:xfrm>
            <a:off x="1343685" y="5490610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Session Establishment</a:t>
            </a:r>
            <a:br>
              <a:rPr lang="en-GB" sz="1200" dirty="0">
                <a:solidFill>
                  <a:schemeClr val="tx1"/>
                </a:solidFill>
              </a:rPr>
            </a:br>
            <a:r>
              <a:rPr lang="en-GB" sz="1200" dirty="0">
                <a:solidFill>
                  <a:schemeClr val="tx1"/>
                </a:solidFill>
              </a:rPr>
              <a:t>(Key Exchange)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D9F0AE-F923-949B-E2AD-81F0E7C78842}"/>
              </a:ext>
            </a:extLst>
          </p:cNvPr>
          <p:cNvSpPr/>
          <p:nvPr/>
        </p:nvSpPr>
        <p:spPr>
          <a:xfrm>
            <a:off x="8349559" y="5490722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Session Establishment</a:t>
            </a:r>
            <a:br>
              <a:rPr lang="en-GB" sz="1200" dirty="0">
                <a:solidFill>
                  <a:schemeClr val="tx1"/>
                </a:solidFill>
              </a:rPr>
            </a:br>
            <a:r>
              <a:rPr lang="en-GB" sz="1200" dirty="0">
                <a:solidFill>
                  <a:schemeClr val="tx1"/>
                </a:solidFill>
              </a:rPr>
              <a:t>(Key Exchange)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A36B02-156F-0D06-B853-E597C2E11D77}"/>
              </a:ext>
            </a:extLst>
          </p:cNvPr>
          <p:cNvSpPr/>
          <p:nvPr/>
        </p:nvSpPr>
        <p:spPr>
          <a:xfrm>
            <a:off x="8386524" y="4686684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Received Visual Embeddings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BDF42CB-7520-2725-2E9D-0EF75325EBA3}"/>
              </a:ext>
            </a:extLst>
          </p:cNvPr>
          <p:cNvSpPr/>
          <p:nvPr/>
        </p:nvSpPr>
        <p:spPr>
          <a:xfrm>
            <a:off x="8386524" y="3275768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Multimodal Input Construction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(Visual Embeddings + Text Prompt)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4F0FAE-5C0E-351B-9E24-016E839CE96B}"/>
              </a:ext>
            </a:extLst>
          </p:cNvPr>
          <p:cNvSpPr/>
          <p:nvPr/>
        </p:nvSpPr>
        <p:spPr>
          <a:xfrm>
            <a:off x="8386524" y="2392324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LLM Decoder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F77A03-0511-DF02-531E-73DF0C518CAA}"/>
              </a:ext>
            </a:extLst>
          </p:cNvPr>
          <p:cNvSpPr/>
          <p:nvPr/>
        </p:nvSpPr>
        <p:spPr>
          <a:xfrm>
            <a:off x="4538852" y="4693108"/>
            <a:ext cx="3108310" cy="54320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Transport Channel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6AC854-6257-81CA-6F9F-99EE40C4E8C9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2622432" y="1883187"/>
            <a:ext cx="1" cy="461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F68F3E-BC61-00A9-A080-1D757F3BF57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622433" y="2888057"/>
            <a:ext cx="7597" cy="389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798EA7-D61B-DB3E-6DC1-65A9177A72E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630030" y="3820350"/>
            <a:ext cx="0" cy="855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46F46A-45FB-7250-01D3-2E2C16DA8890}"/>
              </a:ext>
            </a:extLst>
          </p:cNvPr>
          <p:cNvCxnSpPr>
            <a:endCxn id="22" idx="1"/>
          </p:cNvCxnSpPr>
          <p:nvPr/>
        </p:nvCxnSpPr>
        <p:spPr>
          <a:xfrm>
            <a:off x="3879408" y="4963886"/>
            <a:ext cx="659444" cy="8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1B349F9-BE9F-C73A-BAE7-F77FF38385C5}"/>
              </a:ext>
            </a:extLst>
          </p:cNvPr>
          <p:cNvCxnSpPr>
            <a:cxnSpLocks/>
            <a:stCxn id="22" idx="3"/>
            <a:endCxn id="13" idx="1"/>
          </p:cNvCxnSpPr>
          <p:nvPr/>
        </p:nvCxnSpPr>
        <p:spPr>
          <a:xfrm flipV="1">
            <a:off x="7647162" y="4958288"/>
            <a:ext cx="739362" cy="642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0833B81-2426-3C5C-DC16-D8888C5A043F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9635903" y="3818976"/>
            <a:ext cx="0" cy="867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E5DC73B-7EB7-5AAB-571C-D1B9FCA3EAEF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635903" y="2935532"/>
            <a:ext cx="0" cy="340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F1C40E7-65AD-3A09-6007-EBFB84481D77}"/>
              </a:ext>
            </a:extLst>
          </p:cNvPr>
          <p:cNvSpPr txBox="1"/>
          <p:nvPr/>
        </p:nvSpPr>
        <p:spPr>
          <a:xfrm>
            <a:off x="8304074" y="6244681"/>
            <a:ext cx="3153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Trusted</a:t>
            </a:r>
            <a:r>
              <a:rPr lang="zh-CN" altLang="en-US" sz="1600" dirty="0"/>
              <a:t> </a:t>
            </a:r>
            <a:r>
              <a:rPr lang="en-US" altLang="zh-CN" sz="1600" dirty="0"/>
              <a:t>Execution</a:t>
            </a:r>
            <a:r>
              <a:rPr lang="zh-CN" altLang="en-US" sz="1600" dirty="0"/>
              <a:t> </a:t>
            </a:r>
            <a:r>
              <a:rPr lang="en-US" altLang="zh-CN" sz="1600" dirty="0"/>
              <a:t>Environment</a:t>
            </a:r>
            <a:endParaRPr lang="en-US" sz="1600" dirty="0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23F2407-5CF2-1429-9018-8E8CC605CD48}"/>
              </a:ext>
            </a:extLst>
          </p:cNvPr>
          <p:cNvSpPr/>
          <p:nvPr/>
        </p:nvSpPr>
        <p:spPr>
          <a:xfrm>
            <a:off x="8386524" y="1470302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Generate Output Text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0F8685-ABD7-12A0-11C0-D20C3237C16B}"/>
              </a:ext>
            </a:extLst>
          </p:cNvPr>
          <p:cNvCxnSpPr>
            <a:stCxn id="15" idx="0"/>
            <a:endCxn id="55" idx="2"/>
          </p:cNvCxnSpPr>
          <p:nvPr/>
        </p:nvCxnSpPr>
        <p:spPr>
          <a:xfrm flipV="1">
            <a:off x="9635903" y="2013510"/>
            <a:ext cx="0" cy="378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eft-right Arrow 62">
            <a:extLst>
              <a:ext uri="{FF2B5EF4-FFF2-40B4-BE49-F238E27FC236}">
                <a16:creationId xmlns:a16="http://schemas.microsoft.com/office/drawing/2014/main" id="{50FF725E-0EE5-FC42-F0FC-B302913FB43F}"/>
              </a:ext>
            </a:extLst>
          </p:cNvPr>
          <p:cNvSpPr/>
          <p:nvPr/>
        </p:nvSpPr>
        <p:spPr>
          <a:xfrm>
            <a:off x="3853328" y="5643197"/>
            <a:ext cx="4450746" cy="242994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0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9E7D-4D8D-6001-F343-CDC0AE7D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7E638E-3310-96A0-F361-9CAD75E65A52}"/>
              </a:ext>
            </a:extLst>
          </p:cNvPr>
          <p:cNvSpPr/>
          <p:nvPr/>
        </p:nvSpPr>
        <p:spPr>
          <a:xfrm>
            <a:off x="7754293" y="305071"/>
            <a:ext cx="3951834" cy="6435686"/>
          </a:xfrm>
          <a:prstGeom prst="roundRect">
            <a:avLst>
              <a:gd name="adj" fmla="val 2369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12D2D82-81CF-6E61-C8C5-BFDD227D880E}"/>
              </a:ext>
            </a:extLst>
          </p:cNvPr>
          <p:cNvSpPr/>
          <p:nvPr/>
        </p:nvSpPr>
        <p:spPr>
          <a:xfrm>
            <a:off x="8111030" y="1095675"/>
            <a:ext cx="3238998" cy="5527302"/>
          </a:xfrm>
          <a:prstGeom prst="roundRect">
            <a:avLst>
              <a:gd name="adj" fmla="val 3732"/>
            </a:avLst>
          </a:prstGeom>
          <a:solidFill>
            <a:schemeClr val="accent6">
              <a:lumMod val="40000"/>
              <a:lumOff val="60000"/>
              <a:alpha val="80984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CDA692-293C-E193-38E2-C0DD7A41F9F1}"/>
              </a:ext>
            </a:extLst>
          </p:cNvPr>
          <p:cNvSpPr/>
          <p:nvPr/>
        </p:nvSpPr>
        <p:spPr>
          <a:xfrm>
            <a:off x="810286" y="347589"/>
            <a:ext cx="3734553" cy="6393167"/>
          </a:xfrm>
          <a:prstGeom prst="roundRect">
            <a:avLst>
              <a:gd name="adj" fmla="val 3096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AA8A9D-60C1-8891-0F01-4C71B8BB0D68}"/>
              </a:ext>
            </a:extLst>
          </p:cNvPr>
          <p:cNvSpPr/>
          <p:nvPr/>
        </p:nvSpPr>
        <p:spPr>
          <a:xfrm>
            <a:off x="1129419" y="4155553"/>
            <a:ext cx="10006343" cy="2005761"/>
          </a:xfrm>
          <a:prstGeom prst="roundRect">
            <a:avLst>
              <a:gd name="adj" fmla="val 3732"/>
            </a:avLst>
          </a:prstGeom>
          <a:solidFill>
            <a:schemeClr val="accent2">
              <a:lumMod val="20000"/>
              <a:lumOff val="80000"/>
              <a:alpha val="80984"/>
            </a:schemeClr>
          </a:solidFill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378D9-A545-031F-BCBD-1F164A2E8881}"/>
              </a:ext>
            </a:extLst>
          </p:cNvPr>
          <p:cNvSpPr txBox="1"/>
          <p:nvPr/>
        </p:nvSpPr>
        <p:spPr>
          <a:xfrm>
            <a:off x="1874928" y="404639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Device</a:t>
            </a:r>
            <a:endParaRPr lang="en-US" dirty="0"/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3650E266-948E-4052-5D07-EB7CD2E4BD4F}"/>
              </a:ext>
            </a:extLst>
          </p:cNvPr>
          <p:cNvSpPr/>
          <p:nvPr/>
        </p:nvSpPr>
        <p:spPr>
          <a:xfrm>
            <a:off x="2029783" y="913703"/>
            <a:ext cx="1185297" cy="969484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A74AC9-9F4C-4E28-B9DB-77BCEA23FA0E}"/>
              </a:ext>
            </a:extLst>
          </p:cNvPr>
          <p:cNvSpPr/>
          <p:nvPr/>
        </p:nvSpPr>
        <p:spPr>
          <a:xfrm>
            <a:off x="1391537" y="2344849"/>
            <a:ext cx="2461791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Visual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D97B55-D6C3-C3C7-400D-140AACA28BBD}"/>
              </a:ext>
            </a:extLst>
          </p:cNvPr>
          <p:cNvSpPr/>
          <p:nvPr/>
        </p:nvSpPr>
        <p:spPr>
          <a:xfrm>
            <a:off x="1380651" y="3277142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Projection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Module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6727B9-B7C2-17E8-6F5F-C63B27E742B4}"/>
              </a:ext>
            </a:extLst>
          </p:cNvPr>
          <p:cNvSpPr/>
          <p:nvPr/>
        </p:nvSpPr>
        <p:spPr>
          <a:xfrm>
            <a:off x="1380651" y="4675798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Intermediate Visual Embeddings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812F9-2928-7E4B-7319-8E2059F23180}"/>
              </a:ext>
            </a:extLst>
          </p:cNvPr>
          <p:cNvSpPr txBox="1"/>
          <p:nvPr/>
        </p:nvSpPr>
        <p:spPr>
          <a:xfrm>
            <a:off x="9077980" y="367801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Cloud Server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E67A37-3798-26BE-2275-94AF59D45D80}"/>
              </a:ext>
            </a:extLst>
          </p:cNvPr>
          <p:cNvSpPr/>
          <p:nvPr/>
        </p:nvSpPr>
        <p:spPr>
          <a:xfrm>
            <a:off x="1343685" y="5490610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Session Establishment</a:t>
            </a:r>
            <a:br>
              <a:rPr lang="en-GB" sz="1200" dirty="0">
                <a:solidFill>
                  <a:schemeClr val="tx1"/>
                </a:solidFill>
              </a:rPr>
            </a:br>
            <a:r>
              <a:rPr lang="en-GB" sz="1200" dirty="0">
                <a:solidFill>
                  <a:schemeClr val="tx1"/>
                </a:solidFill>
              </a:rPr>
              <a:t>(Key Exchange)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E362B3-6E84-159D-E8D5-6829DC37DC96}"/>
              </a:ext>
            </a:extLst>
          </p:cNvPr>
          <p:cNvSpPr/>
          <p:nvPr/>
        </p:nvSpPr>
        <p:spPr>
          <a:xfrm>
            <a:off x="8349559" y="5490722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Session Establishment</a:t>
            </a:r>
            <a:br>
              <a:rPr lang="en-GB" sz="1200" dirty="0">
                <a:solidFill>
                  <a:schemeClr val="tx1"/>
                </a:solidFill>
              </a:rPr>
            </a:br>
            <a:r>
              <a:rPr lang="en-GB" sz="1200" dirty="0">
                <a:solidFill>
                  <a:schemeClr val="tx1"/>
                </a:solidFill>
              </a:rPr>
              <a:t>(Key Exchange)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31FC10B-DBD1-D79D-30F4-32E19887CD79}"/>
              </a:ext>
            </a:extLst>
          </p:cNvPr>
          <p:cNvSpPr/>
          <p:nvPr/>
        </p:nvSpPr>
        <p:spPr>
          <a:xfrm>
            <a:off x="8386524" y="4686684"/>
            <a:ext cx="2498757" cy="5432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Received Visual Embeddings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E3CAA9-914E-8D03-3F90-752725C65863}"/>
              </a:ext>
            </a:extLst>
          </p:cNvPr>
          <p:cNvSpPr/>
          <p:nvPr/>
        </p:nvSpPr>
        <p:spPr>
          <a:xfrm>
            <a:off x="8386524" y="3275768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Multimodal Input Construction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(Visual Embeddings + Text Prompt)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C9E7B5-FA68-5120-6B53-B382E5AA116E}"/>
              </a:ext>
            </a:extLst>
          </p:cNvPr>
          <p:cNvSpPr/>
          <p:nvPr/>
        </p:nvSpPr>
        <p:spPr>
          <a:xfrm>
            <a:off x="8386524" y="2392324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LLM Decoder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1E03C6E-233A-EC24-2FDE-A3A3340D9B69}"/>
              </a:ext>
            </a:extLst>
          </p:cNvPr>
          <p:cNvSpPr/>
          <p:nvPr/>
        </p:nvSpPr>
        <p:spPr>
          <a:xfrm>
            <a:off x="4538852" y="4693108"/>
            <a:ext cx="3108310" cy="54320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Secure Transport Channel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2E94C6-0114-1C16-4041-9B1A6267B76A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2622432" y="1883187"/>
            <a:ext cx="1" cy="461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619402-3BD0-6978-66FD-9F422AF4B6B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622433" y="2888057"/>
            <a:ext cx="7597" cy="389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D3A843-69EF-4333-0CDF-2C7CA0EBBEEE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630030" y="3820350"/>
            <a:ext cx="0" cy="855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5C9964-E948-1680-BA52-374ED486CBB9}"/>
              </a:ext>
            </a:extLst>
          </p:cNvPr>
          <p:cNvCxnSpPr>
            <a:endCxn id="22" idx="1"/>
          </p:cNvCxnSpPr>
          <p:nvPr/>
        </p:nvCxnSpPr>
        <p:spPr>
          <a:xfrm>
            <a:off x="3879408" y="4963886"/>
            <a:ext cx="659444" cy="8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88234E-636E-9898-3B75-F73A9AAD5FDE}"/>
              </a:ext>
            </a:extLst>
          </p:cNvPr>
          <p:cNvCxnSpPr>
            <a:cxnSpLocks/>
            <a:stCxn id="22" idx="3"/>
            <a:endCxn id="13" idx="1"/>
          </p:cNvCxnSpPr>
          <p:nvPr/>
        </p:nvCxnSpPr>
        <p:spPr>
          <a:xfrm flipV="1">
            <a:off x="7647162" y="4958288"/>
            <a:ext cx="739362" cy="642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4C19F52-28CF-16F9-2D38-FBE93A48592C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9635903" y="3818976"/>
            <a:ext cx="0" cy="867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32A0A98-CF21-F524-5C30-B17D7D43CB7F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635903" y="2935532"/>
            <a:ext cx="0" cy="340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F4A5C99-8F39-0E89-C213-74E560FD499F}"/>
              </a:ext>
            </a:extLst>
          </p:cNvPr>
          <p:cNvSpPr txBox="1"/>
          <p:nvPr/>
        </p:nvSpPr>
        <p:spPr>
          <a:xfrm>
            <a:off x="8304074" y="6244681"/>
            <a:ext cx="3153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Trusted</a:t>
            </a:r>
            <a:r>
              <a:rPr lang="zh-CN" altLang="en-US" sz="1600" dirty="0"/>
              <a:t> </a:t>
            </a:r>
            <a:r>
              <a:rPr lang="en-US" altLang="zh-CN" sz="1600" dirty="0"/>
              <a:t>Execution</a:t>
            </a:r>
            <a:r>
              <a:rPr lang="zh-CN" altLang="en-US" sz="1600" dirty="0"/>
              <a:t> </a:t>
            </a:r>
            <a:r>
              <a:rPr lang="en-US" altLang="zh-CN" sz="1600" dirty="0"/>
              <a:t>Environment</a:t>
            </a:r>
            <a:endParaRPr lang="en-US" sz="1600" dirty="0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038F335-DCCE-1404-8DB3-28EB32686F90}"/>
              </a:ext>
            </a:extLst>
          </p:cNvPr>
          <p:cNvSpPr/>
          <p:nvPr/>
        </p:nvSpPr>
        <p:spPr>
          <a:xfrm>
            <a:off x="8386524" y="1470302"/>
            <a:ext cx="2498757" cy="5432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Generate Output Text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C3CCA8-6A01-3947-6761-620B3D84E71C}"/>
              </a:ext>
            </a:extLst>
          </p:cNvPr>
          <p:cNvCxnSpPr>
            <a:stCxn id="15" idx="0"/>
            <a:endCxn id="55" idx="2"/>
          </p:cNvCxnSpPr>
          <p:nvPr/>
        </p:nvCxnSpPr>
        <p:spPr>
          <a:xfrm flipV="1">
            <a:off x="9635903" y="2013510"/>
            <a:ext cx="0" cy="378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eft-right Arrow 62">
            <a:extLst>
              <a:ext uri="{FF2B5EF4-FFF2-40B4-BE49-F238E27FC236}">
                <a16:creationId xmlns:a16="http://schemas.microsoft.com/office/drawing/2014/main" id="{935C8F90-C3E3-56FB-0A12-A7A76AD3AF60}"/>
              </a:ext>
            </a:extLst>
          </p:cNvPr>
          <p:cNvSpPr/>
          <p:nvPr/>
        </p:nvSpPr>
        <p:spPr>
          <a:xfrm>
            <a:off x="3853328" y="5643197"/>
            <a:ext cx="4450746" cy="242994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E1BA-8D38-0297-743D-4240C062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F17DDC97-434A-E7F8-90EE-ED2C8DB3219A}"/>
              </a:ext>
            </a:extLst>
          </p:cNvPr>
          <p:cNvSpPr/>
          <p:nvPr/>
        </p:nvSpPr>
        <p:spPr>
          <a:xfrm>
            <a:off x="4914167" y="333921"/>
            <a:ext cx="6664560" cy="358158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143BB4D-F53B-B5F2-F203-FF5A2B561F06}"/>
              </a:ext>
            </a:extLst>
          </p:cNvPr>
          <p:cNvSpPr/>
          <p:nvPr/>
        </p:nvSpPr>
        <p:spPr>
          <a:xfrm>
            <a:off x="5157471" y="1838071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A2223F5-C8E8-66DF-A74D-6B6591619D23}"/>
              </a:ext>
            </a:extLst>
          </p:cNvPr>
          <p:cNvSpPr/>
          <p:nvPr/>
        </p:nvSpPr>
        <p:spPr>
          <a:xfrm>
            <a:off x="5098855" y="1732563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F53C0EB-8E6D-2D15-AF98-04E0F02FFA9F}"/>
              </a:ext>
            </a:extLst>
          </p:cNvPr>
          <p:cNvSpPr/>
          <p:nvPr/>
        </p:nvSpPr>
        <p:spPr>
          <a:xfrm>
            <a:off x="5191107" y="1193822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6F77FF6-8F36-ED20-28C5-52BBFB15B8AE}"/>
              </a:ext>
            </a:extLst>
          </p:cNvPr>
          <p:cNvSpPr/>
          <p:nvPr/>
        </p:nvSpPr>
        <p:spPr>
          <a:xfrm>
            <a:off x="5131153" y="1123105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7829732-BF7A-A630-56F7-B1134D28A856}"/>
              </a:ext>
            </a:extLst>
          </p:cNvPr>
          <p:cNvSpPr/>
          <p:nvPr/>
        </p:nvSpPr>
        <p:spPr>
          <a:xfrm>
            <a:off x="5062732" y="1040686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90D1AD0-A551-5FDF-6682-B0349118E418}"/>
              </a:ext>
            </a:extLst>
          </p:cNvPr>
          <p:cNvSpPr/>
          <p:nvPr/>
        </p:nvSpPr>
        <p:spPr>
          <a:xfrm>
            <a:off x="457200" y="4570247"/>
            <a:ext cx="11195538" cy="1940163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35B15C2-C095-FF19-2688-3D908BDE5DB7}"/>
              </a:ext>
            </a:extLst>
          </p:cNvPr>
          <p:cNvSpPr txBox="1"/>
          <p:nvPr/>
        </p:nvSpPr>
        <p:spPr>
          <a:xfrm>
            <a:off x="4108496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Split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Position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2B10999A-92C4-646F-0C09-7822049D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960" y="5417848"/>
            <a:ext cx="941817" cy="928458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8DB1714-6FD4-CAF2-9B75-53B8AC24BDC9}"/>
              </a:ext>
            </a:extLst>
          </p:cNvPr>
          <p:cNvSpPr txBox="1"/>
          <p:nvPr/>
        </p:nvSpPr>
        <p:spPr>
          <a:xfrm>
            <a:off x="2217939" y="5121089"/>
            <a:ext cx="138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Resize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Patch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98" name="Can 97">
            <a:extLst>
              <a:ext uri="{FF2B5EF4-FFF2-40B4-BE49-F238E27FC236}">
                <a16:creationId xmlns:a16="http://schemas.microsoft.com/office/drawing/2014/main" id="{97BBDA5F-A31F-6BFC-0A0D-0D0637D2A7BC}"/>
              </a:ext>
            </a:extLst>
          </p:cNvPr>
          <p:cNvSpPr/>
          <p:nvPr/>
        </p:nvSpPr>
        <p:spPr>
          <a:xfrm>
            <a:off x="821443" y="5355120"/>
            <a:ext cx="1008043" cy="969484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7C919DC-A6AB-EE16-42E4-D6D9F6B359A4}"/>
              </a:ext>
            </a:extLst>
          </p:cNvPr>
          <p:cNvSpPr txBox="1"/>
          <p:nvPr/>
        </p:nvSpPr>
        <p:spPr>
          <a:xfrm>
            <a:off x="5724277" y="4563534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endParaRPr lang="en-US" dirty="0"/>
          </a:p>
        </p:txBody>
      </p:sp>
      <p:sp>
        <p:nvSpPr>
          <p:cNvPr id="108" name="Right Arrow 107">
            <a:extLst>
              <a:ext uri="{FF2B5EF4-FFF2-40B4-BE49-F238E27FC236}">
                <a16:creationId xmlns:a16="http://schemas.microsoft.com/office/drawing/2014/main" id="{190A1418-20EB-A8BC-D30B-C31623E17ACF}"/>
              </a:ext>
            </a:extLst>
          </p:cNvPr>
          <p:cNvSpPr/>
          <p:nvPr/>
        </p:nvSpPr>
        <p:spPr>
          <a:xfrm>
            <a:off x="3453281" y="5677552"/>
            <a:ext cx="563430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5CA8F3F5-409D-35AA-18A6-48B804E558AF}"/>
              </a:ext>
            </a:extLst>
          </p:cNvPr>
          <p:cNvSpPr/>
          <p:nvPr/>
        </p:nvSpPr>
        <p:spPr>
          <a:xfrm>
            <a:off x="1947487" y="5699492"/>
            <a:ext cx="433311" cy="301319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0E884F52-E577-2CCA-7E16-813AC79CE8BF}"/>
              </a:ext>
            </a:extLst>
          </p:cNvPr>
          <p:cNvSpPr/>
          <p:nvPr/>
        </p:nvSpPr>
        <p:spPr>
          <a:xfrm>
            <a:off x="457202" y="347590"/>
            <a:ext cx="3827429" cy="3567918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694BC4-B529-131D-0E18-05352AA12162}"/>
              </a:ext>
            </a:extLst>
          </p:cNvPr>
          <p:cNvSpPr txBox="1"/>
          <p:nvPr/>
        </p:nvSpPr>
        <p:spPr>
          <a:xfrm>
            <a:off x="1564039" y="369193"/>
            <a:ext cx="1751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Cloud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endParaRPr lang="en-US" dirty="0"/>
          </a:p>
        </p:txBody>
      </p:sp>
      <p:sp>
        <p:nvSpPr>
          <p:cNvPr id="112" name="Right Arrow 111">
            <a:extLst>
              <a:ext uri="{FF2B5EF4-FFF2-40B4-BE49-F238E27FC236}">
                <a16:creationId xmlns:a16="http://schemas.microsoft.com/office/drawing/2014/main" id="{6105371A-54B1-8CCC-3843-0A092520336B}"/>
              </a:ext>
            </a:extLst>
          </p:cNvPr>
          <p:cNvSpPr/>
          <p:nvPr/>
        </p:nvSpPr>
        <p:spPr>
          <a:xfrm>
            <a:off x="6458462" y="5741400"/>
            <a:ext cx="941817" cy="281354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05F4537E-EA2C-0224-8828-A06FFDC53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48" y="5508639"/>
            <a:ext cx="797508" cy="79750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0E58212F-69CD-6AF9-57AF-388D4736799B}"/>
              </a:ext>
            </a:extLst>
          </p:cNvPr>
          <p:cNvSpPr txBox="1"/>
          <p:nvPr/>
        </p:nvSpPr>
        <p:spPr>
          <a:xfrm>
            <a:off x="7366300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Encypted</a:t>
            </a:r>
            <a:r>
              <a:rPr lang="zh-CN" altLang="en-US" sz="1400" dirty="0"/>
              <a:t> </a:t>
            </a:r>
            <a:r>
              <a:rPr lang="en-US" altLang="zh-CN" sz="1400" dirty="0"/>
              <a:t>data</a:t>
            </a:r>
            <a:endParaRPr lang="en-US" sz="1400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044DFABC-296F-3DD4-1F18-2CF9966D7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696" y="5421917"/>
            <a:ext cx="941817" cy="9418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3DA338F-97DE-2A5B-F85B-43C4F5D89441}"/>
              </a:ext>
            </a:extLst>
          </p:cNvPr>
          <p:cNvSpPr txBox="1"/>
          <p:nvPr/>
        </p:nvSpPr>
        <p:spPr>
          <a:xfrm>
            <a:off x="9362483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Metadata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encoder</a:t>
            </a:r>
            <a:endParaRPr lang="en-US" sz="14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9A10851C-9775-94D7-9F00-C39D2BBE1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48" y="5427727"/>
            <a:ext cx="907873" cy="907873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A6C4ADB2-B563-D0C4-3031-199FD162F90F}"/>
              </a:ext>
            </a:extLst>
          </p:cNvPr>
          <p:cNvSpPr txBox="1"/>
          <p:nvPr/>
        </p:nvSpPr>
        <p:spPr>
          <a:xfrm>
            <a:off x="10186654" y="5514934"/>
            <a:ext cx="844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+</a:t>
            </a:r>
            <a:endParaRPr lang="en-US" sz="4800" dirty="0"/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150A83AC-2EB0-C7F4-1E3F-14273F0A50C6}"/>
              </a:ext>
            </a:extLst>
          </p:cNvPr>
          <p:cNvCxnSpPr>
            <a:cxnSpLocks/>
            <a:stCxn id="110" idx="1"/>
            <a:endCxn id="99" idx="3"/>
          </p:cNvCxnSpPr>
          <p:nvPr/>
        </p:nvCxnSpPr>
        <p:spPr>
          <a:xfrm rot="10800000" flipH="1" flipV="1">
            <a:off x="457202" y="2131549"/>
            <a:ext cx="11195536" cy="3408780"/>
          </a:xfrm>
          <a:prstGeom prst="bentConnector5">
            <a:avLst>
              <a:gd name="adj1" fmla="val -2042"/>
              <a:gd name="adj2" fmla="val 61938"/>
              <a:gd name="adj3" fmla="val 102042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8A27E8AA-18CE-7036-F758-742DDBE112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554" y="1123653"/>
            <a:ext cx="2640860" cy="81660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3284C4E-105C-542E-4FA6-3EADC3C8763D}"/>
              </a:ext>
            </a:extLst>
          </p:cNvPr>
          <p:cNvSpPr txBox="1"/>
          <p:nvPr/>
        </p:nvSpPr>
        <p:spPr>
          <a:xfrm>
            <a:off x="1477863" y="759564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49DB11D-6297-D859-70A6-398FE16899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131" y="2840250"/>
            <a:ext cx="914400" cy="91440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7CE88B56-2715-6994-75D7-3C949ACC897E}"/>
              </a:ext>
            </a:extLst>
          </p:cNvPr>
          <p:cNvSpPr txBox="1"/>
          <p:nvPr/>
        </p:nvSpPr>
        <p:spPr>
          <a:xfrm>
            <a:off x="797363" y="2532473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prompt</a:t>
            </a:r>
            <a:endParaRPr lang="en-US" sz="1400" dirty="0"/>
          </a:p>
        </p:txBody>
      </p:sp>
      <p:sp>
        <p:nvSpPr>
          <p:cNvPr id="142" name="Right Arrow 141">
            <a:extLst>
              <a:ext uri="{FF2B5EF4-FFF2-40B4-BE49-F238E27FC236}">
                <a16:creationId xmlns:a16="http://schemas.microsoft.com/office/drawing/2014/main" id="{1FBAF529-520B-2415-C1E4-1A306DC75076}"/>
              </a:ext>
            </a:extLst>
          </p:cNvPr>
          <p:cNvSpPr/>
          <p:nvPr/>
        </p:nvSpPr>
        <p:spPr>
          <a:xfrm rot="5400000">
            <a:off x="2169890" y="2070614"/>
            <a:ext cx="402051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ight Arrow 142">
            <a:extLst>
              <a:ext uri="{FF2B5EF4-FFF2-40B4-BE49-F238E27FC236}">
                <a16:creationId xmlns:a16="http://schemas.microsoft.com/office/drawing/2014/main" id="{7F173CBF-0E26-F30A-A644-96405C417D95}"/>
              </a:ext>
            </a:extLst>
          </p:cNvPr>
          <p:cNvSpPr/>
          <p:nvPr/>
        </p:nvSpPr>
        <p:spPr>
          <a:xfrm>
            <a:off x="2130869" y="3095148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0722EEF-D349-065B-D1D8-0042BDE9E251}"/>
              </a:ext>
            </a:extLst>
          </p:cNvPr>
          <p:cNvSpPr txBox="1"/>
          <p:nvPr/>
        </p:nvSpPr>
        <p:spPr>
          <a:xfrm>
            <a:off x="7416028" y="391845"/>
            <a:ext cx="217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Evaluation</a:t>
            </a:r>
            <a:r>
              <a:rPr lang="zh-CN" altLang="en-US" dirty="0"/>
              <a:t> </a:t>
            </a:r>
            <a:r>
              <a:rPr lang="en-US" altLang="zh-CN" dirty="0"/>
              <a:t>scripts</a:t>
            </a:r>
            <a:endParaRPr lang="en-US" dirty="0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6ACF8236-DDBB-CB42-94C3-907891EC71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650" y="2808346"/>
            <a:ext cx="826764" cy="82676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A55681AD-A4D0-F53B-4B87-406A0F5D26A7}"/>
              </a:ext>
            </a:extLst>
          </p:cNvPr>
          <p:cNvSpPr txBox="1"/>
          <p:nvPr/>
        </p:nvSpPr>
        <p:spPr>
          <a:xfrm>
            <a:off x="2702141" y="2500568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Generate</a:t>
            </a:r>
            <a:r>
              <a:rPr lang="zh-CN" altLang="en-US" sz="1400" dirty="0"/>
              <a:t> </a:t>
            </a:r>
            <a:r>
              <a:rPr lang="en-US" altLang="zh-CN" sz="1400" dirty="0"/>
              <a:t>text</a:t>
            </a:r>
            <a:endParaRPr lang="en-US" sz="1400" dirty="0"/>
          </a:p>
        </p:txBody>
      </p:sp>
      <p:sp>
        <p:nvSpPr>
          <p:cNvPr id="150" name="Manual Operation 149">
            <a:extLst>
              <a:ext uri="{FF2B5EF4-FFF2-40B4-BE49-F238E27FC236}">
                <a16:creationId xmlns:a16="http://schemas.microsoft.com/office/drawing/2014/main" id="{DFD5FE7B-4EAD-DAE9-BF6E-45A0A6FF172D}"/>
              </a:ext>
            </a:extLst>
          </p:cNvPr>
          <p:cNvSpPr/>
          <p:nvPr/>
        </p:nvSpPr>
        <p:spPr>
          <a:xfrm rot="16200000">
            <a:off x="6273719" y="1168619"/>
            <a:ext cx="1333314" cy="687048"/>
          </a:xfrm>
          <a:prstGeom prst="flowChartManualOperation">
            <a:avLst/>
          </a:prstGeom>
          <a:solidFill>
            <a:srgbClr val="DDD6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Encoder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0E13A934-65BF-ECAB-F39E-89E8D71F940A}"/>
              </a:ext>
            </a:extLst>
          </p:cNvPr>
          <p:cNvGraphicFramePr>
            <a:graphicFrameLocks noGrp="1"/>
          </p:cNvGraphicFramePr>
          <p:nvPr/>
        </p:nvGraphicFramePr>
        <p:xfrm>
          <a:off x="7831596" y="1044435"/>
          <a:ext cx="1446932" cy="304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733">
                  <a:extLst>
                    <a:ext uri="{9D8B030D-6E8A-4147-A177-3AD203B41FA5}">
                      <a16:colId xmlns:a16="http://schemas.microsoft.com/office/drawing/2014/main" val="81957769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7902311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4119586817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047394699"/>
                    </a:ext>
                  </a:extLst>
                </a:gridCol>
              </a:tblGrid>
              <a:tr h="228465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70762"/>
                  </a:ext>
                </a:extLst>
              </a:tr>
            </a:tbl>
          </a:graphicData>
        </a:graphic>
      </p:graphicFrame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EB48AA21-5B4D-9130-8394-69FA5658DA9F}"/>
              </a:ext>
            </a:extLst>
          </p:cNvPr>
          <p:cNvGraphicFramePr>
            <a:graphicFrameLocks noGrp="1"/>
          </p:cNvGraphicFramePr>
          <p:nvPr/>
        </p:nvGraphicFramePr>
        <p:xfrm>
          <a:off x="7831595" y="1675470"/>
          <a:ext cx="1446932" cy="304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733">
                  <a:extLst>
                    <a:ext uri="{9D8B030D-6E8A-4147-A177-3AD203B41FA5}">
                      <a16:colId xmlns:a16="http://schemas.microsoft.com/office/drawing/2014/main" val="81957769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7902311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4119586817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047394699"/>
                    </a:ext>
                  </a:extLst>
                </a:gridCol>
              </a:tblGrid>
              <a:tr h="228465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70762"/>
                  </a:ext>
                </a:extLst>
              </a:tr>
            </a:tbl>
          </a:graphicData>
        </a:graphic>
      </p:graphicFrame>
      <p:sp>
        <p:nvSpPr>
          <p:cNvPr id="158" name="Rectangle 157">
            <a:extLst>
              <a:ext uri="{FF2B5EF4-FFF2-40B4-BE49-F238E27FC236}">
                <a16:creationId xmlns:a16="http://schemas.microsoft.com/office/drawing/2014/main" id="{D77CF3B6-8895-0141-7926-0C1A7965DE09}"/>
              </a:ext>
            </a:extLst>
          </p:cNvPr>
          <p:cNvSpPr/>
          <p:nvPr/>
        </p:nvSpPr>
        <p:spPr>
          <a:xfrm>
            <a:off x="5028516" y="1662224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52180F1-0C08-FAD7-D6F5-9AC879A19C50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6130330" y="1171422"/>
            <a:ext cx="466522" cy="4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B5B7FB9-5B48-2999-0724-5CB6FDA66605}"/>
              </a:ext>
            </a:extLst>
          </p:cNvPr>
          <p:cNvCxnSpPr>
            <a:cxnSpLocks/>
            <a:stCxn id="158" idx="3"/>
          </p:cNvCxnSpPr>
          <p:nvPr/>
        </p:nvCxnSpPr>
        <p:spPr>
          <a:xfrm>
            <a:off x="6162129" y="1805405"/>
            <a:ext cx="4347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954AB57-FA7D-48B9-D48A-765CE8FFF1D7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7283900" y="1827870"/>
            <a:ext cx="547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56FFD5E-7499-F5B3-BB85-C8352CBD256E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7283900" y="1187520"/>
            <a:ext cx="547696" cy="9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3" name="Picture 192" descr="Mastering Cosine Metrics: A Data Scientist's Essential Toolkit | by Shubham  Sangole | Python in Plain English">
            <a:extLst>
              <a:ext uri="{FF2B5EF4-FFF2-40B4-BE49-F238E27FC236}">
                <a16:creationId xmlns:a16="http://schemas.microsoft.com/office/drawing/2014/main" id="{25F2532D-E5F4-7C41-44E5-0A01907470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0681" y="824487"/>
            <a:ext cx="1718236" cy="1365998"/>
          </a:xfrm>
          <a:prstGeom prst="rect">
            <a:avLst/>
          </a:prstGeom>
        </p:spPr>
      </p:pic>
      <p:sp>
        <p:nvSpPr>
          <p:cNvPr id="194" name="Right Arrow 193">
            <a:extLst>
              <a:ext uri="{FF2B5EF4-FFF2-40B4-BE49-F238E27FC236}">
                <a16:creationId xmlns:a16="http://schemas.microsoft.com/office/drawing/2014/main" id="{95ADD515-76A4-F9BE-1AA8-7D36B152EEC0}"/>
              </a:ext>
            </a:extLst>
          </p:cNvPr>
          <p:cNvSpPr/>
          <p:nvPr/>
        </p:nvSpPr>
        <p:spPr>
          <a:xfrm>
            <a:off x="9357415" y="1364550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ight Arrow 195">
            <a:extLst>
              <a:ext uri="{FF2B5EF4-FFF2-40B4-BE49-F238E27FC236}">
                <a16:creationId xmlns:a16="http://schemas.microsoft.com/office/drawing/2014/main" id="{1B3E9CA6-9654-9781-B7CA-EBB81F062B80}"/>
              </a:ext>
            </a:extLst>
          </p:cNvPr>
          <p:cNvSpPr/>
          <p:nvPr/>
        </p:nvSpPr>
        <p:spPr>
          <a:xfrm>
            <a:off x="4324710" y="1982027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1" name="Picture 200">
            <a:extLst>
              <a:ext uri="{FF2B5EF4-FFF2-40B4-BE49-F238E27FC236}">
                <a16:creationId xmlns:a16="http://schemas.microsoft.com/office/drawing/2014/main" id="{373639EF-2120-2001-F202-63D36671CD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6731" y="5399576"/>
            <a:ext cx="2104956" cy="9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1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8062-B3FD-8DCF-6B4E-D71F0BC5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BB9181A3-2285-66D2-AE3E-B55A6B85AECB}"/>
              </a:ext>
            </a:extLst>
          </p:cNvPr>
          <p:cNvSpPr/>
          <p:nvPr/>
        </p:nvSpPr>
        <p:spPr>
          <a:xfrm>
            <a:off x="4914167" y="333921"/>
            <a:ext cx="6664560" cy="358158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DEF033B-2318-1D68-FF75-77BA2F41D2FB}"/>
              </a:ext>
            </a:extLst>
          </p:cNvPr>
          <p:cNvSpPr/>
          <p:nvPr/>
        </p:nvSpPr>
        <p:spPr>
          <a:xfrm>
            <a:off x="5157471" y="1838071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13F65FE-83CC-8BD1-4991-B6508F36848D}"/>
              </a:ext>
            </a:extLst>
          </p:cNvPr>
          <p:cNvSpPr/>
          <p:nvPr/>
        </p:nvSpPr>
        <p:spPr>
          <a:xfrm>
            <a:off x="5098855" y="1732563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27509DB-E3B1-154A-1690-6D5B9BE07E33}"/>
              </a:ext>
            </a:extLst>
          </p:cNvPr>
          <p:cNvSpPr/>
          <p:nvPr/>
        </p:nvSpPr>
        <p:spPr>
          <a:xfrm>
            <a:off x="5191107" y="1193822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B4CCF24-9B90-EE38-1A21-04661C2368C6}"/>
              </a:ext>
            </a:extLst>
          </p:cNvPr>
          <p:cNvSpPr/>
          <p:nvPr/>
        </p:nvSpPr>
        <p:spPr>
          <a:xfrm>
            <a:off x="5131153" y="1123105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0CD6F7-A6A4-1F07-AEF4-CA1F7E1ABAFC}"/>
              </a:ext>
            </a:extLst>
          </p:cNvPr>
          <p:cNvSpPr/>
          <p:nvPr/>
        </p:nvSpPr>
        <p:spPr>
          <a:xfrm>
            <a:off x="5062732" y="1040686"/>
            <a:ext cx="1067598" cy="26147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Output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F4F44A80-BB83-4495-6FED-0F3B2F5DD6C2}"/>
              </a:ext>
            </a:extLst>
          </p:cNvPr>
          <p:cNvSpPr/>
          <p:nvPr/>
        </p:nvSpPr>
        <p:spPr>
          <a:xfrm>
            <a:off x="457200" y="4570247"/>
            <a:ext cx="11195538" cy="1940163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E2BBF5A-25A7-C9DE-9AB6-C51C27953437}"/>
              </a:ext>
            </a:extLst>
          </p:cNvPr>
          <p:cNvSpPr txBox="1"/>
          <p:nvPr/>
        </p:nvSpPr>
        <p:spPr>
          <a:xfrm>
            <a:off x="4108496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Split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Position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4522CAD0-0ED0-54E7-A4E4-5CCD43A1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960" y="5417848"/>
            <a:ext cx="941817" cy="928458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AF9AB89F-3039-930A-B27D-4030C3D4EF2C}"/>
              </a:ext>
            </a:extLst>
          </p:cNvPr>
          <p:cNvSpPr txBox="1"/>
          <p:nvPr/>
        </p:nvSpPr>
        <p:spPr>
          <a:xfrm>
            <a:off x="2217939" y="5121089"/>
            <a:ext cx="138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Resize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Patch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98" name="Can 97">
            <a:extLst>
              <a:ext uri="{FF2B5EF4-FFF2-40B4-BE49-F238E27FC236}">
                <a16:creationId xmlns:a16="http://schemas.microsoft.com/office/drawing/2014/main" id="{4BC7E025-693B-D6F8-C3E5-5B56F91BB5B2}"/>
              </a:ext>
            </a:extLst>
          </p:cNvPr>
          <p:cNvSpPr/>
          <p:nvPr/>
        </p:nvSpPr>
        <p:spPr>
          <a:xfrm>
            <a:off x="821443" y="5355120"/>
            <a:ext cx="1008043" cy="969484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1DE5643-A40F-AF46-155A-7F5C2D90E841}"/>
              </a:ext>
            </a:extLst>
          </p:cNvPr>
          <p:cNvSpPr txBox="1"/>
          <p:nvPr/>
        </p:nvSpPr>
        <p:spPr>
          <a:xfrm>
            <a:off x="5851345" y="4792985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endParaRPr lang="en-US" dirty="0"/>
          </a:p>
        </p:txBody>
      </p:sp>
      <p:sp>
        <p:nvSpPr>
          <p:cNvPr id="108" name="Right Arrow 107">
            <a:extLst>
              <a:ext uri="{FF2B5EF4-FFF2-40B4-BE49-F238E27FC236}">
                <a16:creationId xmlns:a16="http://schemas.microsoft.com/office/drawing/2014/main" id="{57694A12-15E7-7602-A67E-6EE0A468890F}"/>
              </a:ext>
            </a:extLst>
          </p:cNvPr>
          <p:cNvSpPr/>
          <p:nvPr/>
        </p:nvSpPr>
        <p:spPr>
          <a:xfrm>
            <a:off x="3453281" y="5677552"/>
            <a:ext cx="563430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F988F9D7-56D1-98CD-42F4-AE9CAD66A568}"/>
              </a:ext>
            </a:extLst>
          </p:cNvPr>
          <p:cNvSpPr/>
          <p:nvPr/>
        </p:nvSpPr>
        <p:spPr>
          <a:xfrm>
            <a:off x="1947487" y="5699492"/>
            <a:ext cx="433311" cy="301319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046B8ED-01EF-DBFD-7933-24618A5AAF82}"/>
              </a:ext>
            </a:extLst>
          </p:cNvPr>
          <p:cNvSpPr/>
          <p:nvPr/>
        </p:nvSpPr>
        <p:spPr>
          <a:xfrm>
            <a:off x="457202" y="347590"/>
            <a:ext cx="3827429" cy="3567918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04EC815-AEE4-7E88-02AA-86D4D7061E0D}"/>
              </a:ext>
            </a:extLst>
          </p:cNvPr>
          <p:cNvSpPr txBox="1"/>
          <p:nvPr/>
        </p:nvSpPr>
        <p:spPr>
          <a:xfrm>
            <a:off x="1564039" y="369193"/>
            <a:ext cx="1751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Cloud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endParaRPr lang="en-US" dirty="0"/>
          </a:p>
        </p:txBody>
      </p:sp>
      <p:sp>
        <p:nvSpPr>
          <p:cNvPr id="112" name="Right Arrow 111">
            <a:extLst>
              <a:ext uri="{FF2B5EF4-FFF2-40B4-BE49-F238E27FC236}">
                <a16:creationId xmlns:a16="http://schemas.microsoft.com/office/drawing/2014/main" id="{9F5BFC8F-87C5-E2DF-B71B-CE90C89C8E5E}"/>
              </a:ext>
            </a:extLst>
          </p:cNvPr>
          <p:cNvSpPr/>
          <p:nvPr/>
        </p:nvSpPr>
        <p:spPr>
          <a:xfrm>
            <a:off x="6458462" y="5741400"/>
            <a:ext cx="941817" cy="281354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940677B5-FAD2-65C5-014E-9941DCDF2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48" y="5508639"/>
            <a:ext cx="797508" cy="79750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494DFDA5-9AFA-0A05-9D9B-0FD682A8C034}"/>
              </a:ext>
            </a:extLst>
          </p:cNvPr>
          <p:cNvSpPr txBox="1"/>
          <p:nvPr/>
        </p:nvSpPr>
        <p:spPr>
          <a:xfrm>
            <a:off x="7366300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Encypted</a:t>
            </a:r>
            <a:r>
              <a:rPr lang="zh-CN" altLang="en-US" sz="1400" dirty="0"/>
              <a:t> </a:t>
            </a:r>
            <a:r>
              <a:rPr lang="en-US" altLang="zh-CN" sz="1400" dirty="0"/>
              <a:t>data</a:t>
            </a:r>
            <a:endParaRPr lang="en-US" sz="1400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A4C1EF44-9C1B-FE7F-0800-88EBE1D74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696" y="5421917"/>
            <a:ext cx="941817" cy="9418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79BE993F-55F5-D22A-E58A-3CD788BAC0D6}"/>
              </a:ext>
            </a:extLst>
          </p:cNvPr>
          <p:cNvSpPr txBox="1"/>
          <p:nvPr/>
        </p:nvSpPr>
        <p:spPr>
          <a:xfrm>
            <a:off x="9362483" y="5121089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Metadata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encoder</a:t>
            </a:r>
            <a:endParaRPr lang="en-US" sz="14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B1B1A11-95D6-E5DC-399D-B6770DEB4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48" y="5427727"/>
            <a:ext cx="907873" cy="907873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0966A4FB-4953-F703-3C93-2EEF3C824015}"/>
              </a:ext>
            </a:extLst>
          </p:cNvPr>
          <p:cNvSpPr txBox="1"/>
          <p:nvPr/>
        </p:nvSpPr>
        <p:spPr>
          <a:xfrm>
            <a:off x="10186654" y="5514934"/>
            <a:ext cx="844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+</a:t>
            </a:r>
            <a:endParaRPr lang="en-US" sz="4800" dirty="0"/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200F7085-B63F-AE8C-A548-906C3F842C2F}"/>
              </a:ext>
            </a:extLst>
          </p:cNvPr>
          <p:cNvCxnSpPr>
            <a:cxnSpLocks/>
            <a:stCxn id="110" idx="1"/>
            <a:endCxn id="99" idx="3"/>
          </p:cNvCxnSpPr>
          <p:nvPr/>
        </p:nvCxnSpPr>
        <p:spPr>
          <a:xfrm rot="10800000" flipH="1" flipV="1">
            <a:off x="457202" y="2131549"/>
            <a:ext cx="11195536" cy="3408780"/>
          </a:xfrm>
          <a:prstGeom prst="bentConnector5">
            <a:avLst>
              <a:gd name="adj1" fmla="val -2042"/>
              <a:gd name="adj2" fmla="val 61938"/>
              <a:gd name="adj3" fmla="val 102042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03A0736B-0C01-473A-5074-7DCCBFC1D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554" y="1123653"/>
            <a:ext cx="2640860" cy="81660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908966DD-1E04-DE44-1309-155D14742C8E}"/>
              </a:ext>
            </a:extLst>
          </p:cNvPr>
          <p:cNvSpPr txBox="1"/>
          <p:nvPr/>
        </p:nvSpPr>
        <p:spPr>
          <a:xfrm>
            <a:off x="1477863" y="759564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02EEB125-66A3-8D09-5C09-6DDFE7EFA8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131" y="2840250"/>
            <a:ext cx="914400" cy="91440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EA87526C-FDED-4905-6E28-F4B6807C4AB7}"/>
              </a:ext>
            </a:extLst>
          </p:cNvPr>
          <p:cNvSpPr txBox="1"/>
          <p:nvPr/>
        </p:nvSpPr>
        <p:spPr>
          <a:xfrm>
            <a:off x="797363" y="2532473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prompt</a:t>
            </a:r>
            <a:endParaRPr lang="en-US" sz="1400" dirty="0"/>
          </a:p>
        </p:txBody>
      </p:sp>
      <p:sp>
        <p:nvSpPr>
          <p:cNvPr id="142" name="Right Arrow 141">
            <a:extLst>
              <a:ext uri="{FF2B5EF4-FFF2-40B4-BE49-F238E27FC236}">
                <a16:creationId xmlns:a16="http://schemas.microsoft.com/office/drawing/2014/main" id="{F2CE4F94-81FF-E17B-EB94-B325FAF293EC}"/>
              </a:ext>
            </a:extLst>
          </p:cNvPr>
          <p:cNvSpPr/>
          <p:nvPr/>
        </p:nvSpPr>
        <p:spPr>
          <a:xfrm rot="5400000">
            <a:off x="2169890" y="2070614"/>
            <a:ext cx="402051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ight Arrow 142">
            <a:extLst>
              <a:ext uri="{FF2B5EF4-FFF2-40B4-BE49-F238E27FC236}">
                <a16:creationId xmlns:a16="http://schemas.microsoft.com/office/drawing/2014/main" id="{8AF5B9DC-0447-8629-911B-2A29AC3589E1}"/>
              </a:ext>
            </a:extLst>
          </p:cNvPr>
          <p:cNvSpPr/>
          <p:nvPr/>
        </p:nvSpPr>
        <p:spPr>
          <a:xfrm>
            <a:off x="2130869" y="3095148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10F83EE-B7B9-181A-DDD4-C23120A379B7}"/>
              </a:ext>
            </a:extLst>
          </p:cNvPr>
          <p:cNvSpPr txBox="1"/>
          <p:nvPr/>
        </p:nvSpPr>
        <p:spPr>
          <a:xfrm>
            <a:off x="7416028" y="391845"/>
            <a:ext cx="217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Evaluation</a:t>
            </a:r>
            <a:r>
              <a:rPr lang="zh-CN" altLang="en-US" dirty="0"/>
              <a:t> </a:t>
            </a:r>
            <a:r>
              <a:rPr lang="en-US" altLang="zh-CN" dirty="0"/>
              <a:t>scripts</a:t>
            </a:r>
            <a:endParaRPr lang="en-US" dirty="0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0E2B8A57-AA5D-3EC6-7268-2336F4CB4B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650" y="2808346"/>
            <a:ext cx="826764" cy="82676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7D1A409-2829-BB51-0928-CB7BE863BF29}"/>
              </a:ext>
            </a:extLst>
          </p:cNvPr>
          <p:cNvSpPr txBox="1"/>
          <p:nvPr/>
        </p:nvSpPr>
        <p:spPr>
          <a:xfrm>
            <a:off x="2702141" y="2500568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Generate</a:t>
            </a:r>
            <a:r>
              <a:rPr lang="zh-CN" altLang="en-US" sz="1400" dirty="0"/>
              <a:t> </a:t>
            </a:r>
            <a:r>
              <a:rPr lang="en-US" altLang="zh-CN" sz="1400" dirty="0"/>
              <a:t>text</a:t>
            </a:r>
            <a:endParaRPr lang="en-US" sz="1400" dirty="0"/>
          </a:p>
        </p:txBody>
      </p:sp>
      <p:sp>
        <p:nvSpPr>
          <p:cNvPr id="150" name="Manual Operation 149">
            <a:extLst>
              <a:ext uri="{FF2B5EF4-FFF2-40B4-BE49-F238E27FC236}">
                <a16:creationId xmlns:a16="http://schemas.microsoft.com/office/drawing/2014/main" id="{07D89C72-A7A4-133E-334A-0997BB03B165}"/>
              </a:ext>
            </a:extLst>
          </p:cNvPr>
          <p:cNvSpPr/>
          <p:nvPr/>
        </p:nvSpPr>
        <p:spPr>
          <a:xfrm rot="16200000">
            <a:off x="6273719" y="1168619"/>
            <a:ext cx="1333314" cy="687048"/>
          </a:xfrm>
          <a:prstGeom prst="flowChartManualOperation">
            <a:avLst/>
          </a:prstGeom>
          <a:solidFill>
            <a:srgbClr val="DDD6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Encoder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89110164-BEC5-8ADD-BF59-239AB6C7C8BD}"/>
              </a:ext>
            </a:extLst>
          </p:cNvPr>
          <p:cNvGraphicFramePr>
            <a:graphicFrameLocks noGrp="1"/>
          </p:cNvGraphicFramePr>
          <p:nvPr/>
        </p:nvGraphicFramePr>
        <p:xfrm>
          <a:off x="7831596" y="1044435"/>
          <a:ext cx="1446932" cy="304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733">
                  <a:extLst>
                    <a:ext uri="{9D8B030D-6E8A-4147-A177-3AD203B41FA5}">
                      <a16:colId xmlns:a16="http://schemas.microsoft.com/office/drawing/2014/main" val="81957769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7902311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4119586817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047394699"/>
                    </a:ext>
                  </a:extLst>
                </a:gridCol>
              </a:tblGrid>
              <a:tr h="228465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70762"/>
                  </a:ext>
                </a:extLst>
              </a:tr>
            </a:tbl>
          </a:graphicData>
        </a:graphic>
      </p:graphicFrame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02146CD7-A5FC-D042-F739-3A60FB784385}"/>
              </a:ext>
            </a:extLst>
          </p:cNvPr>
          <p:cNvGraphicFramePr>
            <a:graphicFrameLocks noGrp="1"/>
          </p:cNvGraphicFramePr>
          <p:nvPr/>
        </p:nvGraphicFramePr>
        <p:xfrm>
          <a:off x="7831595" y="1675470"/>
          <a:ext cx="1446932" cy="304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733">
                  <a:extLst>
                    <a:ext uri="{9D8B030D-6E8A-4147-A177-3AD203B41FA5}">
                      <a16:colId xmlns:a16="http://schemas.microsoft.com/office/drawing/2014/main" val="81957769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79023113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4119586817"/>
                    </a:ext>
                  </a:extLst>
                </a:gridCol>
                <a:gridCol w="361733">
                  <a:extLst>
                    <a:ext uri="{9D8B030D-6E8A-4147-A177-3AD203B41FA5}">
                      <a16:colId xmlns:a16="http://schemas.microsoft.com/office/drawing/2014/main" val="2047394699"/>
                    </a:ext>
                  </a:extLst>
                </a:gridCol>
              </a:tblGrid>
              <a:tr h="228465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70762"/>
                  </a:ext>
                </a:extLst>
              </a:tr>
            </a:tbl>
          </a:graphicData>
        </a:graphic>
      </p:graphicFrame>
      <p:sp>
        <p:nvSpPr>
          <p:cNvPr id="158" name="Rectangle 157">
            <a:extLst>
              <a:ext uri="{FF2B5EF4-FFF2-40B4-BE49-F238E27FC236}">
                <a16:creationId xmlns:a16="http://schemas.microsoft.com/office/drawing/2014/main" id="{E3D33C38-9449-B229-FD43-3D89E66DC0C9}"/>
              </a:ext>
            </a:extLst>
          </p:cNvPr>
          <p:cNvSpPr/>
          <p:nvPr/>
        </p:nvSpPr>
        <p:spPr>
          <a:xfrm>
            <a:off x="5028516" y="1662224"/>
            <a:ext cx="1133613" cy="286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err="1">
                <a:solidFill>
                  <a:schemeClr val="tx1"/>
                </a:solidFill>
              </a:rPr>
              <a:t>NanoVLM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text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B625BB5-040F-FBD1-8E02-B88229A6C921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6130330" y="1171422"/>
            <a:ext cx="466522" cy="4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7A56A78-7378-F6C9-EE45-C3D09C5765DA}"/>
              </a:ext>
            </a:extLst>
          </p:cNvPr>
          <p:cNvCxnSpPr>
            <a:cxnSpLocks/>
            <a:stCxn id="158" idx="3"/>
          </p:cNvCxnSpPr>
          <p:nvPr/>
        </p:nvCxnSpPr>
        <p:spPr>
          <a:xfrm>
            <a:off x="6162129" y="1805405"/>
            <a:ext cx="4347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B119B8E5-8201-A391-2C04-3852645A20D0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7283900" y="1827870"/>
            <a:ext cx="547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47B7491-6539-0125-1209-F1747FBA8A6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7283900" y="1187520"/>
            <a:ext cx="547696" cy="9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3" name="Picture 192" descr="Mastering Cosine Metrics: A Data Scientist's Essential Toolkit | by Shubham  Sangole | Python in Plain English">
            <a:extLst>
              <a:ext uri="{FF2B5EF4-FFF2-40B4-BE49-F238E27FC236}">
                <a16:creationId xmlns:a16="http://schemas.microsoft.com/office/drawing/2014/main" id="{3B41412B-81E5-568B-26A6-2A8A66260B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0681" y="824487"/>
            <a:ext cx="1718236" cy="1365998"/>
          </a:xfrm>
          <a:prstGeom prst="rect">
            <a:avLst/>
          </a:prstGeom>
        </p:spPr>
      </p:pic>
      <p:sp>
        <p:nvSpPr>
          <p:cNvPr id="194" name="Right Arrow 193">
            <a:extLst>
              <a:ext uri="{FF2B5EF4-FFF2-40B4-BE49-F238E27FC236}">
                <a16:creationId xmlns:a16="http://schemas.microsoft.com/office/drawing/2014/main" id="{3AF289E4-8453-AFE1-E571-DF9984E39E6C}"/>
              </a:ext>
            </a:extLst>
          </p:cNvPr>
          <p:cNvSpPr/>
          <p:nvPr/>
        </p:nvSpPr>
        <p:spPr>
          <a:xfrm>
            <a:off x="9357415" y="1364550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ight Arrow 195">
            <a:extLst>
              <a:ext uri="{FF2B5EF4-FFF2-40B4-BE49-F238E27FC236}">
                <a16:creationId xmlns:a16="http://schemas.microsoft.com/office/drawing/2014/main" id="{F9510979-1E05-30C7-A534-446EB1EDF9F5}"/>
              </a:ext>
            </a:extLst>
          </p:cNvPr>
          <p:cNvSpPr/>
          <p:nvPr/>
        </p:nvSpPr>
        <p:spPr>
          <a:xfrm>
            <a:off x="4324710" y="1982027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1" name="Picture 200">
            <a:extLst>
              <a:ext uri="{FF2B5EF4-FFF2-40B4-BE49-F238E27FC236}">
                <a16:creationId xmlns:a16="http://schemas.microsoft.com/office/drawing/2014/main" id="{C6693EAA-757C-E381-7EE4-5F5E11B280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6731" y="5399576"/>
            <a:ext cx="2104956" cy="9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8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4422-EA7F-8458-5EEC-50C84CD2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90347F0A-ECAF-A7B1-63CD-3E3550DBF8AF}"/>
              </a:ext>
            </a:extLst>
          </p:cNvPr>
          <p:cNvSpPr/>
          <p:nvPr/>
        </p:nvSpPr>
        <p:spPr>
          <a:xfrm>
            <a:off x="457201" y="248200"/>
            <a:ext cx="6236144" cy="6381986"/>
          </a:xfrm>
          <a:prstGeom prst="roundRect">
            <a:avLst>
              <a:gd name="adj" fmla="val 7036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DB89B6A-CF76-088C-B370-4E503C8C0A02}"/>
              </a:ext>
            </a:extLst>
          </p:cNvPr>
          <p:cNvSpPr/>
          <p:nvPr/>
        </p:nvSpPr>
        <p:spPr>
          <a:xfrm>
            <a:off x="457201" y="113728"/>
            <a:ext cx="11734799" cy="2711291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AACC1F9-DB66-952B-7DD9-6ABBF3374BD0}"/>
              </a:ext>
            </a:extLst>
          </p:cNvPr>
          <p:cNvSpPr/>
          <p:nvPr/>
        </p:nvSpPr>
        <p:spPr>
          <a:xfrm>
            <a:off x="7385249" y="712856"/>
            <a:ext cx="3193103" cy="190661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CE88015-D4D0-DE32-5512-844195C34250}"/>
              </a:ext>
            </a:extLst>
          </p:cNvPr>
          <p:cNvSpPr/>
          <p:nvPr/>
        </p:nvSpPr>
        <p:spPr>
          <a:xfrm>
            <a:off x="815788" y="753034"/>
            <a:ext cx="5639866" cy="190661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AC2480-FA96-AE76-D468-0BF9136146D2}"/>
              </a:ext>
            </a:extLst>
          </p:cNvPr>
          <p:cNvSpPr txBox="1"/>
          <p:nvPr/>
        </p:nvSpPr>
        <p:spPr>
          <a:xfrm>
            <a:off x="4226738" y="1237928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Split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Position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67ED3F8A-8B8F-4625-C555-0B42A938D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02" y="1534687"/>
            <a:ext cx="941817" cy="928458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14C6D9A8-E3BE-A3BF-EAE4-DCCD20CB3674}"/>
              </a:ext>
            </a:extLst>
          </p:cNvPr>
          <p:cNvSpPr txBox="1"/>
          <p:nvPr/>
        </p:nvSpPr>
        <p:spPr>
          <a:xfrm>
            <a:off x="2336181" y="1237928"/>
            <a:ext cx="138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Resize</a:t>
            </a:r>
            <a:r>
              <a:rPr lang="zh-CN" altLang="en-US" sz="1400" dirty="0"/>
              <a:t> </a:t>
            </a:r>
            <a:r>
              <a:rPr lang="en-US" altLang="zh-CN" sz="1400" dirty="0"/>
              <a:t>+</a:t>
            </a:r>
            <a:r>
              <a:rPr lang="zh-CN" altLang="en-US" sz="1400" dirty="0"/>
              <a:t> </a:t>
            </a:r>
            <a:r>
              <a:rPr lang="en-US" altLang="zh-CN" sz="1400" dirty="0"/>
              <a:t>Patch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98" name="Can 97">
            <a:extLst>
              <a:ext uri="{FF2B5EF4-FFF2-40B4-BE49-F238E27FC236}">
                <a16:creationId xmlns:a16="http://schemas.microsoft.com/office/drawing/2014/main" id="{07773818-3AC1-FA4C-E295-DF1844D6CFEF}"/>
              </a:ext>
            </a:extLst>
          </p:cNvPr>
          <p:cNvSpPr/>
          <p:nvPr/>
        </p:nvSpPr>
        <p:spPr>
          <a:xfrm>
            <a:off x="940840" y="1499396"/>
            <a:ext cx="1008043" cy="969484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8C51C22-74EC-BC2F-AB73-4AAE4EAE3B39}"/>
              </a:ext>
            </a:extLst>
          </p:cNvPr>
          <p:cNvSpPr txBox="1"/>
          <p:nvPr/>
        </p:nvSpPr>
        <p:spPr>
          <a:xfrm>
            <a:off x="5890709" y="161993"/>
            <a:ext cx="160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Edge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endParaRPr lang="en-US" dirty="0"/>
          </a:p>
        </p:txBody>
      </p:sp>
      <p:sp>
        <p:nvSpPr>
          <p:cNvPr id="108" name="Right Arrow 107">
            <a:extLst>
              <a:ext uri="{FF2B5EF4-FFF2-40B4-BE49-F238E27FC236}">
                <a16:creationId xmlns:a16="http://schemas.microsoft.com/office/drawing/2014/main" id="{0F97739D-F72F-CF7B-548C-7A50FAD71CF3}"/>
              </a:ext>
            </a:extLst>
          </p:cNvPr>
          <p:cNvSpPr/>
          <p:nvPr/>
        </p:nvSpPr>
        <p:spPr>
          <a:xfrm>
            <a:off x="3628040" y="1800120"/>
            <a:ext cx="563430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Arrow 108">
            <a:extLst>
              <a:ext uri="{FF2B5EF4-FFF2-40B4-BE49-F238E27FC236}">
                <a16:creationId xmlns:a16="http://schemas.microsoft.com/office/drawing/2014/main" id="{0BF51883-933A-C1EB-C2F6-78ABDEAC4C09}"/>
              </a:ext>
            </a:extLst>
          </p:cNvPr>
          <p:cNvSpPr/>
          <p:nvPr/>
        </p:nvSpPr>
        <p:spPr>
          <a:xfrm>
            <a:off x="2042336" y="1813073"/>
            <a:ext cx="433311" cy="301319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345AF8C-7FC7-04F9-C4BF-EBFF1FF52189}"/>
              </a:ext>
            </a:extLst>
          </p:cNvPr>
          <p:cNvSpPr/>
          <p:nvPr/>
        </p:nvSpPr>
        <p:spPr>
          <a:xfrm>
            <a:off x="7418057" y="3087731"/>
            <a:ext cx="3339587" cy="3542455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497F59A-E9C7-8904-EC3E-B1F725E7BDC2}"/>
              </a:ext>
            </a:extLst>
          </p:cNvPr>
          <p:cNvSpPr txBox="1"/>
          <p:nvPr/>
        </p:nvSpPr>
        <p:spPr>
          <a:xfrm>
            <a:off x="8390481" y="3088752"/>
            <a:ext cx="1751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Cloud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DC745EEF-5712-EDC5-4655-A507855F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470" y="4397836"/>
            <a:ext cx="941817" cy="9418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675D2EFF-A2F5-4279-BCF9-0ACEB30AB000}"/>
              </a:ext>
            </a:extLst>
          </p:cNvPr>
          <p:cNvSpPr txBox="1"/>
          <p:nvPr/>
        </p:nvSpPr>
        <p:spPr>
          <a:xfrm>
            <a:off x="3994147" y="4064078"/>
            <a:ext cx="264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Serialized Embeddings + Metadata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0E50EEC2-F282-83FB-B042-D41BC1ECC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622" y="4403646"/>
            <a:ext cx="907873" cy="907873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66331CAF-B02E-915B-AA87-EA61C9C6C789}"/>
              </a:ext>
            </a:extLst>
          </p:cNvPr>
          <p:cNvSpPr txBox="1"/>
          <p:nvPr/>
        </p:nvSpPr>
        <p:spPr>
          <a:xfrm>
            <a:off x="5075428" y="4490853"/>
            <a:ext cx="844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+</a:t>
            </a:r>
            <a:endParaRPr lang="en-US" sz="4800" dirty="0"/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B475213A-4FA8-0889-07CA-E7D0B82C2E2F}"/>
              </a:ext>
            </a:extLst>
          </p:cNvPr>
          <p:cNvCxnSpPr>
            <a:cxnSpLocks/>
            <a:stCxn id="110" idx="1"/>
            <a:endCxn id="117" idx="3"/>
          </p:cNvCxnSpPr>
          <p:nvPr/>
        </p:nvCxnSpPr>
        <p:spPr>
          <a:xfrm rot="10800000">
            <a:off x="6330495" y="4857583"/>
            <a:ext cx="1087562" cy="1376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B252CFF6-BC08-C166-6D2D-843DF72ED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2576" y="3810998"/>
            <a:ext cx="2640860" cy="81660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9F9DB95E-5AEB-EAD3-79F1-C02B7C9F1351}"/>
              </a:ext>
            </a:extLst>
          </p:cNvPr>
          <p:cNvSpPr txBox="1"/>
          <p:nvPr/>
        </p:nvSpPr>
        <p:spPr>
          <a:xfrm>
            <a:off x="7906185" y="3459104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embedding</a:t>
            </a:r>
            <a:endParaRPr lang="en-US" sz="1400" dirty="0"/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522A108-E33D-FA0D-F897-F14AA2DB8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477" y="5495691"/>
            <a:ext cx="914400" cy="91440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FDC7B862-5B46-EBA3-2BF8-D040624A6821}"/>
              </a:ext>
            </a:extLst>
          </p:cNvPr>
          <p:cNvSpPr txBox="1"/>
          <p:nvPr/>
        </p:nvSpPr>
        <p:spPr>
          <a:xfrm>
            <a:off x="7534483" y="5212004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prompt</a:t>
            </a:r>
            <a:endParaRPr lang="en-US" sz="1400" dirty="0"/>
          </a:p>
        </p:txBody>
      </p:sp>
      <p:sp>
        <p:nvSpPr>
          <p:cNvPr id="142" name="Right Arrow 141">
            <a:extLst>
              <a:ext uri="{FF2B5EF4-FFF2-40B4-BE49-F238E27FC236}">
                <a16:creationId xmlns:a16="http://schemas.microsoft.com/office/drawing/2014/main" id="{9D1B76DF-D298-C5AC-6DF6-924DB114C514}"/>
              </a:ext>
            </a:extLst>
          </p:cNvPr>
          <p:cNvSpPr/>
          <p:nvPr/>
        </p:nvSpPr>
        <p:spPr>
          <a:xfrm rot="5400000">
            <a:off x="8768912" y="4757959"/>
            <a:ext cx="402051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ight Arrow 142">
            <a:extLst>
              <a:ext uri="{FF2B5EF4-FFF2-40B4-BE49-F238E27FC236}">
                <a16:creationId xmlns:a16="http://schemas.microsoft.com/office/drawing/2014/main" id="{24BD3EAE-6128-768D-4162-96DC06C8FAAA}"/>
              </a:ext>
            </a:extLst>
          </p:cNvPr>
          <p:cNvSpPr/>
          <p:nvPr/>
        </p:nvSpPr>
        <p:spPr>
          <a:xfrm>
            <a:off x="8649207" y="5782493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7659E529-7FF8-4458-7E9E-2EEB3D58FC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5988" y="5495691"/>
            <a:ext cx="826764" cy="82676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396A62E6-6DDD-391F-6E89-480383C9336A}"/>
              </a:ext>
            </a:extLst>
          </p:cNvPr>
          <p:cNvSpPr txBox="1"/>
          <p:nvPr/>
        </p:nvSpPr>
        <p:spPr>
          <a:xfrm>
            <a:off x="9212266" y="5214354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Generate</a:t>
            </a:r>
            <a:r>
              <a:rPr lang="zh-CN" altLang="en-US" sz="1400" dirty="0"/>
              <a:t> </a:t>
            </a:r>
            <a:r>
              <a:rPr lang="en-US" altLang="zh-CN" sz="1400" dirty="0"/>
              <a:t>text</a:t>
            </a:r>
            <a:endParaRPr lang="en-US" sz="1400" dirty="0"/>
          </a:p>
        </p:txBody>
      </p:sp>
      <p:pic>
        <p:nvPicPr>
          <p:cNvPr id="201" name="Picture 200">
            <a:extLst>
              <a:ext uri="{FF2B5EF4-FFF2-40B4-BE49-F238E27FC236}">
                <a16:creationId xmlns:a16="http://schemas.microsoft.com/office/drawing/2014/main" id="{9237C914-A3C1-BBE5-D3FF-68F44FA5F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4973" y="1516415"/>
            <a:ext cx="2104956" cy="936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F9D36E-E157-F30A-CCD4-18FDDC734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2576" y="172652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7A21F0-EE18-28CA-8BD1-B8DE0D5E7447}"/>
              </a:ext>
            </a:extLst>
          </p:cNvPr>
          <p:cNvSpPr txBox="1"/>
          <p:nvPr/>
        </p:nvSpPr>
        <p:spPr>
          <a:xfrm>
            <a:off x="7322720" y="1426676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Construct</a:t>
            </a:r>
            <a:r>
              <a:rPr lang="zh-CN" altLang="en-US" sz="1400" dirty="0"/>
              <a:t> </a:t>
            </a:r>
            <a:r>
              <a:rPr lang="en-US" altLang="zh-CN" sz="1400" dirty="0"/>
              <a:t>prompt</a:t>
            </a:r>
            <a:endParaRPr lang="en-US" sz="14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777DE5AC-CEB6-DFB9-C82B-31FFBD25B66B}"/>
              </a:ext>
            </a:extLst>
          </p:cNvPr>
          <p:cNvSpPr/>
          <p:nvPr/>
        </p:nvSpPr>
        <p:spPr>
          <a:xfrm>
            <a:off x="8607314" y="1981420"/>
            <a:ext cx="563430" cy="285873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8A624BE-CEF4-851B-2C0C-142BBD04EF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4095" y="1694618"/>
            <a:ext cx="826764" cy="82676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A858E0E-CDC7-61E8-D134-9A02AEC223FD}"/>
              </a:ext>
            </a:extLst>
          </p:cNvPr>
          <p:cNvSpPr txBox="1"/>
          <p:nvPr/>
        </p:nvSpPr>
        <p:spPr>
          <a:xfrm>
            <a:off x="9170744" y="1425137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Generate</a:t>
            </a:r>
            <a:r>
              <a:rPr lang="zh-CN" altLang="en-US" sz="1400" dirty="0"/>
              <a:t> </a:t>
            </a:r>
            <a:r>
              <a:rPr lang="en-US" altLang="zh-CN" sz="1400" dirty="0"/>
              <a:t>text</a:t>
            </a:r>
            <a:endParaRPr lang="en-US" sz="1400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F9AADA9F-A5EA-8327-3871-106777A8D743}"/>
              </a:ext>
            </a:extLst>
          </p:cNvPr>
          <p:cNvSpPr/>
          <p:nvPr/>
        </p:nvSpPr>
        <p:spPr>
          <a:xfrm rot="5400000">
            <a:off x="4527337" y="3184400"/>
            <a:ext cx="1282515" cy="345201"/>
          </a:xfrm>
          <a:prstGeom prst="rightArrow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0BB1A85-1098-ADD2-7F1E-FEEB7471E0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62243" y="1947643"/>
            <a:ext cx="937884" cy="1"/>
          </a:xfrm>
          <a:prstGeom prst="bentConnector3">
            <a:avLst>
              <a:gd name="adj1" fmla="val 50000"/>
            </a:avLst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CC746AE-51D8-DFFE-E159-802819D4F0D2}"/>
              </a:ext>
            </a:extLst>
          </p:cNvPr>
          <p:cNvSpPr txBox="1"/>
          <p:nvPr/>
        </p:nvSpPr>
        <p:spPr>
          <a:xfrm>
            <a:off x="2042337" y="769054"/>
            <a:ext cx="323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Visual Embedding</a:t>
            </a:r>
            <a:r>
              <a:rPr lang="zh-CN" altLang="en-US" dirty="0"/>
              <a:t> </a:t>
            </a:r>
            <a:r>
              <a:rPr lang="en-GB" dirty="0"/>
              <a:t>Extraction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80C993-E7F4-FCA0-1CBF-B3668C7B935C}"/>
              </a:ext>
            </a:extLst>
          </p:cNvPr>
          <p:cNvSpPr txBox="1"/>
          <p:nvPr/>
        </p:nvSpPr>
        <p:spPr>
          <a:xfrm>
            <a:off x="7495981" y="751123"/>
            <a:ext cx="324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 </a:t>
            </a:r>
            <a:r>
              <a:rPr lang="en-GB" dirty="0" err="1"/>
              <a:t>nanoVLM</a:t>
            </a:r>
            <a:r>
              <a:rPr lang="en-GB" dirty="0"/>
              <a:t> Inference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43C31D-A821-FA32-8140-81B4BE0A6B6B}"/>
              </a:ext>
            </a:extLst>
          </p:cNvPr>
          <p:cNvSpPr txBox="1"/>
          <p:nvPr/>
        </p:nvSpPr>
        <p:spPr>
          <a:xfrm>
            <a:off x="6501826" y="1609301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F04FD8-ADA6-8518-CAF7-84F9B0303799}"/>
              </a:ext>
            </a:extLst>
          </p:cNvPr>
          <p:cNvSpPr txBox="1"/>
          <p:nvPr/>
        </p:nvSpPr>
        <p:spPr>
          <a:xfrm>
            <a:off x="6306119" y="4512575"/>
            <a:ext cx="222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Network</a:t>
            </a:r>
            <a:r>
              <a:rPr lang="en-US" altLang="zh-CN" sz="1400" dirty="0"/>
              <a:t>(Lo)</a:t>
            </a:r>
            <a:endParaRPr lang="en-US" sz="1400" dirty="0"/>
          </a:p>
        </p:txBody>
      </p:sp>
      <p:sp>
        <p:nvSpPr>
          <p:cNvPr id="36" name="Bent Up Arrow 35">
            <a:extLst>
              <a:ext uri="{FF2B5EF4-FFF2-40B4-BE49-F238E27FC236}">
                <a16:creationId xmlns:a16="http://schemas.microsoft.com/office/drawing/2014/main" id="{642D2ECC-A90F-81A7-39F1-AA86F68C473E}"/>
              </a:ext>
            </a:extLst>
          </p:cNvPr>
          <p:cNvSpPr/>
          <p:nvPr/>
        </p:nvSpPr>
        <p:spPr>
          <a:xfrm>
            <a:off x="10641106" y="2267294"/>
            <a:ext cx="1254923" cy="3474716"/>
          </a:xfrm>
          <a:prstGeom prst="bentUpArrow">
            <a:avLst>
              <a:gd name="adj1" fmla="val 18023"/>
              <a:gd name="adj2" fmla="val 2568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69436A4E-805D-A244-5928-B1F6F400E6D2}"/>
              </a:ext>
            </a:extLst>
          </p:cNvPr>
          <p:cNvSpPr/>
          <p:nvPr/>
        </p:nvSpPr>
        <p:spPr>
          <a:xfrm>
            <a:off x="10255624" y="1947646"/>
            <a:ext cx="744070" cy="3196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0F0F3B-AAA5-E3A3-5ABE-F0C994E00ACA}"/>
              </a:ext>
            </a:extLst>
          </p:cNvPr>
          <p:cNvSpPr/>
          <p:nvPr/>
        </p:nvSpPr>
        <p:spPr>
          <a:xfrm>
            <a:off x="11026587" y="1831003"/>
            <a:ext cx="1057837" cy="431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Output Comparison</a:t>
            </a:r>
          </a:p>
        </p:txBody>
      </p:sp>
    </p:spTree>
    <p:extLst>
      <p:ext uri="{BB962C8B-B14F-4D97-AF65-F5344CB8AC3E}">
        <p14:creationId xmlns:p14="http://schemas.microsoft.com/office/powerpoint/2010/main" val="381893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6D9C-F7FF-AE3E-645D-471C1C9E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73BD-704C-815A-3932-EA5429BDE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constrain</a:t>
            </a:r>
            <a:r>
              <a:rPr lang="zh-CN" altLang="en-US" dirty="0"/>
              <a:t> </a:t>
            </a:r>
            <a:r>
              <a:rPr lang="en-US" altLang="zh-CN" dirty="0"/>
              <a:t>--</a:t>
            </a:r>
            <a:r>
              <a:rPr lang="zh-CN" altLang="en-US" dirty="0"/>
              <a:t>  </a:t>
            </a:r>
            <a:r>
              <a:rPr lang="en-US" altLang="zh-CN" dirty="0"/>
              <a:t>Survey</a:t>
            </a:r>
          </a:p>
          <a:p>
            <a:r>
              <a:rPr lang="en-US" dirty="0"/>
              <a:t>Privacy</a:t>
            </a:r>
            <a:r>
              <a:rPr lang="zh-CN" altLang="en-US" dirty="0"/>
              <a:t> </a:t>
            </a:r>
            <a:r>
              <a:rPr lang="en-US" altLang="zh-CN" dirty="0"/>
              <a:t>Preserving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Security</a:t>
            </a:r>
          </a:p>
          <a:p>
            <a:pPr lvl="1"/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Fine-tuning</a:t>
            </a:r>
            <a:r>
              <a:rPr lang="zh-CN" altLang="en-US" dirty="0"/>
              <a:t> 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Encryption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FHE</a:t>
            </a:r>
          </a:p>
          <a:p>
            <a:pPr lvl="1"/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Inference</a:t>
            </a:r>
            <a:r>
              <a:rPr lang="zh-CN" altLang="en-US" dirty="0"/>
              <a:t> 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split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Encryption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MAC</a:t>
            </a:r>
            <a:endParaRPr lang="en-GB" altLang="zh-CN" dirty="0"/>
          </a:p>
          <a:p>
            <a:pPr lvl="1"/>
            <a:r>
              <a:rPr lang="en-US" altLang="zh-CN" dirty="0"/>
              <a:t>Authentication: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Security</a:t>
            </a:r>
            <a:r>
              <a:rPr lang="zh-CN" altLang="en-US" dirty="0"/>
              <a:t> </a:t>
            </a:r>
            <a:r>
              <a:rPr lang="en-GB" dirty="0" err="1"/>
              <a:t>Machanism</a:t>
            </a:r>
            <a:r>
              <a:rPr lang="zh-CN" altLang="en-US" dirty="0"/>
              <a:t>：</a:t>
            </a:r>
            <a:endParaRPr lang="en-GB" altLang="zh-CN" dirty="0"/>
          </a:p>
          <a:p>
            <a:pPr lvl="1"/>
            <a:r>
              <a:rPr lang="en-US" altLang="zh-CN" dirty="0"/>
              <a:t>Encryption: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Authentication:</a:t>
            </a:r>
            <a:r>
              <a:rPr lang="zh-CN" altLang="en-US" dirty="0"/>
              <a:t> </a:t>
            </a:r>
            <a:endParaRPr lang="en-GB" altLang="zh-CN" dirty="0"/>
          </a:p>
          <a:p>
            <a:pPr lvl="1"/>
            <a:r>
              <a:rPr lang="en-US" altLang="zh-CN" dirty="0"/>
              <a:t>Protocol:</a:t>
            </a:r>
            <a:r>
              <a:rPr lang="zh-CN" altLang="en-US" dirty="0"/>
              <a:t> </a:t>
            </a:r>
            <a:endParaRPr lang="en-GB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211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3DB8-82F7-0B81-C61D-FA7DDD94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08B2-5870-4D2D-7A48-0DA509FC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Current Industry Practice</a:t>
            </a:r>
            <a:r>
              <a:rPr lang="zh-CN" altLang="en-US" b="1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8A744-ED02-6C5A-FD54-B4E59730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Direct raw image transmission via REST</a:t>
            </a:r>
            <a:r>
              <a:rPr lang="en-US" altLang="zh-CN" b="1" dirty="0"/>
              <a:t>/RPC</a:t>
            </a:r>
            <a:r>
              <a:rPr lang="en-GB" b="1" dirty="0"/>
              <a:t> API</a:t>
            </a:r>
          </a:p>
          <a:p>
            <a:pPr marL="0" indent="0">
              <a:buNone/>
            </a:pPr>
            <a:r>
              <a:rPr lang="en-GB" dirty="0"/>
              <a:t>Client / camera / in-vehicle system → JPEG/PNG image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GB" dirty="0"/>
              <a:t>Base64 JSON or binary HTTPS POST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GB" dirty="0"/>
              <a:t>cloud inference service → text output</a:t>
            </a:r>
          </a:p>
          <a:p>
            <a:pPr marL="0" indent="0">
              <a:buNone/>
            </a:pPr>
            <a:r>
              <a:rPr lang="en-GB" dirty="0"/>
              <a:t>Main idea:</a:t>
            </a:r>
          </a:p>
          <a:p>
            <a:r>
              <a:rPr lang="en-GB" dirty="0"/>
              <a:t>The original image is directly uploaded to the cloud service.</a:t>
            </a:r>
          </a:p>
          <a:p>
            <a:r>
              <a:rPr lang="en-GB" dirty="0"/>
              <a:t>This is the common design used by many cloud vision APIs.</a:t>
            </a:r>
          </a:p>
          <a:p>
            <a:r>
              <a:rPr lang="en-GB" dirty="0"/>
              <a:t>The cloud performs image understanding, OCR, object detection, or captioning.</a:t>
            </a:r>
          </a:p>
          <a:p>
            <a:pPr marL="0" indent="0">
              <a:buNone/>
            </a:pPr>
            <a:r>
              <a:rPr lang="en-GB" dirty="0"/>
              <a:t>Payload format:</a:t>
            </a:r>
          </a:p>
          <a:p>
            <a:pPr marL="457200" lvl="1" indent="0">
              <a:buNone/>
            </a:pPr>
            <a:r>
              <a:rPr lang="en-GB" dirty="0"/>
              <a:t>Base64 image inside JSON request</a:t>
            </a:r>
            <a:r>
              <a:rPr lang="zh-CN" altLang="en-US" dirty="0"/>
              <a:t>，</a:t>
            </a:r>
            <a:r>
              <a:rPr lang="en-GB" dirty="0"/>
              <a:t>Multipart/form-data binary upload</a:t>
            </a:r>
            <a:r>
              <a:rPr lang="zh-CN" altLang="en-US" dirty="0"/>
              <a:t>，</a:t>
            </a:r>
            <a:r>
              <a:rPr lang="en-GB" dirty="0"/>
              <a:t>application/octet-stream binary upload</a:t>
            </a:r>
          </a:p>
          <a:p>
            <a:pPr marL="457200" lvl="1" indent="0">
              <a:buNone/>
            </a:pPr>
            <a:r>
              <a:rPr lang="en-GB" dirty="0"/>
              <a:t>Encryption:</a:t>
            </a:r>
            <a:r>
              <a:rPr lang="zh-CN" altLang="en-US" dirty="0"/>
              <a:t> </a:t>
            </a:r>
            <a:r>
              <a:rPr lang="en-GB" dirty="0"/>
              <a:t>HTTPS / TLS protects data in transit</a:t>
            </a:r>
          </a:p>
          <a:p>
            <a:pPr marL="457200" lvl="1" indent="0">
              <a:buNone/>
            </a:pPr>
            <a:r>
              <a:rPr lang="en-GB" dirty="0"/>
              <a:t>Authentication:</a:t>
            </a:r>
            <a:r>
              <a:rPr lang="zh-CN" altLang="en-US" dirty="0"/>
              <a:t> </a:t>
            </a:r>
            <a:r>
              <a:rPr lang="en-GB" dirty="0"/>
              <a:t>API key</a:t>
            </a:r>
            <a:r>
              <a:rPr lang="zh-CN" altLang="en-US" dirty="0"/>
              <a:t>，</a:t>
            </a:r>
            <a:r>
              <a:rPr lang="en-GB" dirty="0"/>
              <a:t>Bearer token / OAuth token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Service account / IAM credentials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Google Cloud Vision API</a:t>
            </a:r>
          </a:p>
          <a:p>
            <a:pPr marL="0" indent="0">
              <a:buNone/>
            </a:pPr>
            <a:r>
              <a:rPr lang="en-GB" dirty="0"/>
              <a:t>Azure Computer Vision</a:t>
            </a:r>
          </a:p>
          <a:p>
            <a:pPr marL="0" indent="0">
              <a:buNone/>
            </a:pPr>
            <a:r>
              <a:rPr lang="en-GB" dirty="0"/>
              <a:t>AWS Rekognition</a:t>
            </a:r>
          </a:p>
        </p:txBody>
      </p:sp>
    </p:spTree>
    <p:extLst>
      <p:ext uri="{BB962C8B-B14F-4D97-AF65-F5344CB8AC3E}">
        <p14:creationId xmlns:p14="http://schemas.microsoft.com/office/powerpoint/2010/main" val="309116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86E9-03F1-372E-5882-3268FCB7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0D2D-1BA7-4635-B1C3-B7F0282D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Current Industry Practice</a:t>
            </a:r>
            <a:r>
              <a:rPr lang="zh-CN" altLang="en-US" b="1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907C-E9ED-6460-EF2F-8B79EB99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Indirect cloud-storage transmission (offline / asynchronous)</a:t>
            </a:r>
          </a:p>
          <a:p>
            <a:r>
              <a:rPr lang="en-GB" dirty="0"/>
              <a:t> Client / edge device </a:t>
            </a:r>
            <a:r>
              <a:rPr lang="en-US" altLang="zh-CN" dirty="0"/>
              <a:t>-&gt;</a:t>
            </a:r>
            <a:r>
              <a:rPr lang="en-GB" dirty="0"/>
              <a:t> JPEG/PNG image </a:t>
            </a:r>
            <a:r>
              <a:rPr lang="en-US" altLang="zh-CN" dirty="0"/>
              <a:t>-&gt;</a:t>
            </a:r>
            <a:r>
              <a:rPr lang="en-GB" dirty="0"/>
              <a:t> HTTPS upload </a:t>
            </a:r>
            <a:r>
              <a:rPr lang="en-US" altLang="zh-CN" dirty="0"/>
              <a:t>-&gt;</a:t>
            </a:r>
            <a:r>
              <a:rPr lang="en-GB" dirty="0"/>
              <a:t> cloud storage bucket </a:t>
            </a:r>
            <a:r>
              <a:rPr lang="en-US" altLang="zh-CN" dirty="0"/>
              <a:t>-&gt;</a:t>
            </a:r>
            <a:r>
              <a:rPr lang="en-GB" dirty="0"/>
              <a:t> cloud function / inference service reads image </a:t>
            </a:r>
            <a:r>
              <a:rPr lang="en-US" altLang="zh-CN" dirty="0"/>
              <a:t>-&gt;</a:t>
            </a:r>
            <a:r>
              <a:rPr lang="en-GB" dirty="0"/>
              <a:t> model inference → text</a:t>
            </a:r>
          </a:p>
          <a:p>
            <a:r>
              <a:rPr lang="en-GB" dirty="0"/>
              <a:t>Main idea:</a:t>
            </a:r>
          </a:p>
          <a:p>
            <a:pPr lvl="1"/>
            <a:r>
              <a:rPr lang="en-GB" dirty="0"/>
              <a:t>The original image is uploaded to object storage first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Then,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GB" dirty="0"/>
              <a:t>he inference service later reads the image from storage.</a:t>
            </a:r>
            <a:r>
              <a:rPr lang="zh-CN" altLang="en-US" dirty="0"/>
              <a:t> </a:t>
            </a:r>
            <a:r>
              <a:rPr lang="en-GB" dirty="0"/>
              <a:t>This is useful for batch processing, asynchronous inference, and large image files.</a:t>
            </a:r>
          </a:p>
          <a:p>
            <a:pPr lvl="1"/>
            <a:r>
              <a:rPr lang="en-GB" dirty="0"/>
              <a:t>Encryption:</a:t>
            </a:r>
            <a:r>
              <a:rPr lang="zh-CN" altLang="en-US" dirty="0"/>
              <a:t> </a:t>
            </a:r>
            <a:r>
              <a:rPr lang="en-GB" dirty="0"/>
              <a:t>In transit: HTTPS / TLS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At rest: server-side encryption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GB" dirty="0"/>
              <a:t>SSE-S3, SSE-KMS, or Azure/GCP managed encryption</a:t>
            </a:r>
            <a:r>
              <a:rPr lang="en-US" altLang="zh-CN" dirty="0"/>
              <a:t>)</a:t>
            </a:r>
            <a:endParaRPr lang="en-GB" dirty="0"/>
          </a:p>
          <a:p>
            <a:pPr lvl="1"/>
            <a:r>
              <a:rPr lang="en-GB" dirty="0"/>
              <a:t>Authentication:</a:t>
            </a:r>
            <a:r>
              <a:rPr lang="zh-CN" altLang="en-US" dirty="0"/>
              <a:t> </a:t>
            </a:r>
            <a:r>
              <a:rPr lang="en-GB" dirty="0"/>
              <a:t>Pre-signed URL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GB" dirty="0"/>
              <a:t>IAM role / service account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GB" dirty="0"/>
              <a:t>OAuth token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Access key / SAS token, depending on the cloud provider</a:t>
            </a:r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instance:</a:t>
            </a:r>
            <a:r>
              <a:rPr lang="zh-CN" altLang="en-US" dirty="0"/>
              <a:t> </a:t>
            </a:r>
            <a:endParaRPr lang="en-GB" altLang="zh-CN" dirty="0"/>
          </a:p>
          <a:p>
            <a:pPr lvl="1"/>
            <a:r>
              <a:rPr lang="en-GB" dirty="0"/>
              <a:t>AWS S3 + Lambda + Rekognition / custom model</a:t>
            </a:r>
          </a:p>
          <a:p>
            <a:pPr lvl="1"/>
            <a:r>
              <a:rPr lang="en-GB" dirty="0"/>
              <a:t>Google Cloud Storage + Cloud Functions + Vision API</a:t>
            </a:r>
          </a:p>
          <a:p>
            <a:pPr lvl="1"/>
            <a:r>
              <a:rPr lang="en-GB" dirty="0"/>
              <a:t>Azure Blob Storage + Azure Functions +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72682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33CD-B190-EEAC-84D1-A6647B4F5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038F-DC02-DEAF-1895-112EEC05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Current Industry Practice</a:t>
            </a:r>
            <a:r>
              <a:rPr lang="zh-CN" altLang="en-US" b="1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26767-4FCA-A0F3-A57E-D3FE9D5F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MQTT / IoT message broker transmission</a:t>
            </a:r>
          </a:p>
          <a:p>
            <a:r>
              <a:rPr lang="en-GB" dirty="0"/>
              <a:t>Camera / IoT device → JPEG frame → MQTT binary payload or Base64 payload → broker → cloud function / inference service → text</a:t>
            </a:r>
          </a:p>
          <a:p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idea:</a:t>
            </a:r>
            <a:r>
              <a:rPr lang="zh-CN" altLang="en-US" dirty="0"/>
              <a:t> </a:t>
            </a:r>
            <a:endParaRPr lang="en-GB" altLang="zh-CN" dirty="0"/>
          </a:p>
          <a:p>
            <a:pPr lvl="1"/>
            <a:r>
              <a:rPr lang="en-GB" dirty="0"/>
              <a:t>Encryption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GB" dirty="0"/>
              <a:t>MQTT does </a:t>
            </a:r>
            <a:r>
              <a:rPr lang="en-GB" b="1" dirty="0"/>
              <a:t>not normally encrypt messages by itself</a:t>
            </a:r>
            <a:r>
              <a:rPr lang="en-GB" dirty="0"/>
              <a:t>. In real systems, MQTT is secured by running it over </a:t>
            </a:r>
            <a:r>
              <a:rPr lang="en-GB" b="1" dirty="0"/>
              <a:t>TLS/SSL</a:t>
            </a:r>
            <a:r>
              <a:rPr lang="zh-CN" altLang="en-US" b="1" dirty="0"/>
              <a:t> </a:t>
            </a:r>
            <a:r>
              <a:rPr lang="en-US" altLang="zh-CN" b="1" dirty="0"/>
              <a:t>(</a:t>
            </a:r>
            <a:r>
              <a:rPr lang="en-GB" dirty="0"/>
              <a:t>hardware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AES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commonly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embedded,</a:t>
            </a:r>
            <a:r>
              <a:rPr lang="zh-CN" altLang="en-US" dirty="0"/>
              <a:t> </a:t>
            </a:r>
            <a:r>
              <a:rPr lang="en-GB" dirty="0"/>
              <a:t>ChaCha20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faster</a:t>
            </a:r>
            <a:r>
              <a:rPr lang="zh-CN" altLang="en-US" dirty="0"/>
              <a:t> </a:t>
            </a:r>
            <a:r>
              <a:rPr lang="en-US" altLang="zh-CN" dirty="0"/>
              <a:t>option</a:t>
            </a:r>
            <a:r>
              <a:rPr lang="en-US" altLang="zh-CN" b="1" dirty="0"/>
              <a:t>)</a:t>
            </a:r>
          </a:p>
          <a:p>
            <a:pPr lvl="1"/>
            <a:r>
              <a:rPr lang="en-GB" dirty="0"/>
              <a:t>Authentication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GB" dirty="0"/>
              <a:t>MQTT CONNECT packets can include </a:t>
            </a:r>
            <a:r>
              <a:rPr lang="en-GB" b="1" dirty="0"/>
              <a:t>User Name</a:t>
            </a:r>
            <a:r>
              <a:rPr lang="en-GB" dirty="0"/>
              <a:t> and </a:t>
            </a:r>
            <a:r>
              <a:rPr lang="en-GB" b="1" dirty="0"/>
              <a:t>Password</a:t>
            </a:r>
            <a:r>
              <a:rPr lang="en-GB" dirty="0"/>
              <a:t> fields. The broker can use these fields to authenticate the client.</a:t>
            </a:r>
            <a:r>
              <a:rPr lang="zh-CN" altLang="en-US" dirty="0"/>
              <a:t> </a:t>
            </a:r>
            <a:r>
              <a:rPr lang="en-GB" dirty="0"/>
              <a:t>The MQTT 5.0 specification says implementations can use these fields directly, connect them to external authentication systems such as LDAP or OAuth, or use operating-system authentication. </a:t>
            </a:r>
            <a:endParaRPr lang="en-GB" altLang="zh-CN" dirty="0"/>
          </a:p>
          <a:p>
            <a:pPr lvl="1"/>
            <a:endParaRPr lang="en-US" dirty="0"/>
          </a:p>
          <a:p>
            <a:pPr lvl="1"/>
            <a:r>
              <a:rPr lang="en-US" dirty="0"/>
              <a:t>Source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GB" altLang="zh-CN" dirty="0">
                <a:hlinkClick r:id="rId2"/>
              </a:rPr>
              <a:t>https://docs.oasis-open.org/mqtt/mqtt/v5.0/cos02/mqtt-v5.0-cos02</a:t>
            </a:r>
            <a:endParaRPr lang="en-GB" altLang="zh-CN" dirty="0"/>
          </a:p>
          <a:p>
            <a:pPr lvl="1"/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in-vehicle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endParaRPr lang="en-US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146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C24C-AEA6-BE17-5DB3-E933CD76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r>
              <a:rPr lang="zh-CN" altLang="en-US" dirty="0"/>
              <a:t> </a:t>
            </a:r>
            <a:r>
              <a:rPr lang="en-US" altLang="zh-CN" dirty="0"/>
              <a:t> (basic idea)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BA2B-3401-4993-B104-0C4DD9C52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Image transmission protection methods are relevant background.</a:t>
            </a:r>
          </a:p>
          <a:p>
            <a:endParaRPr lang="en-GB" dirty="0"/>
          </a:p>
          <a:p>
            <a:r>
              <a:rPr lang="en-GB" dirty="0"/>
              <a:t>Embedding transmission reduces raw-image exposure, but embeddings are still sensitive.</a:t>
            </a:r>
            <a:r>
              <a:rPr lang="zh-CN" altLang="en-US" dirty="0"/>
              <a:t> </a:t>
            </a:r>
            <a:r>
              <a:rPr lang="en-US" altLang="zh-CN" dirty="0"/>
              <a:t>(background)</a:t>
            </a:r>
            <a:br>
              <a:rPr lang="en-GB" dirty="0"/>
            </a:br>
            <a:endParaRPr lang="en-GB" dirty="0"/>
          </a:p>
          <a:p>
            <a:r>
              <a:rPr lang="en-GB" dirty="0"/>
              <a:t>Narrow down to embedding encryption and authentication combinations (find research gap)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8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4B27-50C9-B3F7-8E23-F04F6994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transmission protection methods are relevant 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66402-3AB0-7EEA-2FFB-34664A8B0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IOT Device </a:t>
            </a:r>
            <a:r>
              <a:rPr lang="en-GB" b="1" dirty="0" err="1"/>
              <a:t>Encyption</a:t>
            </a:r>
            <a:r>
              <a:rPr lang="en-GB" b="1" dirty="0"/>
              <a:t> and Authentication: </a:t>
            </a:r>
          </a:p>
          <a:p>
            <a:pPr lvl="1"/>
            <a:r>
              <a:rPr lang="en-GB" dirty="0"/>
              <a:t>Embedded Systems Authentication and Encryption Using Strong PUF </a:t>
            </a:r>
            <a:r>
              <a:rPr lang="en-GB" dirty="0" err="1"/>
              <a:t>Modeling</a:t>
            </a:r>
            <a:r>
              <a:rPr lang="en-GB" dirty="0"/>
              <a:t> - </a:t>
            </a:r>
            <a:r>
              <a:rPr lang="en-US" altLang="zh-CN" dirty="0"/>
              <a:t>Introducing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GB" dirty="0" err="1"/>
              <a:t>mbedded</a:t>
            </a:r>
            <a:r>
              <a:rPr lang="en-GB" dirty="0"/>
              <a:t> devices face several security and performance limitations</a:t>
            </a:r>
            <a:r>
              <a:rPr lang="en-US" altLang="zh-CN" dirty="0"/>
              <a:t>.</a:t>
            </a:r>
            <a:r>
              <a:rPr lang="zh-CN" altLang="en-US" dirty="0"/>
              <a:t>  </a:t>
            </a:r>
            <a:r>
              <a:rPr lang="en-US" altLang="zh-CN" dirty="0"/>
              <a:t>(embedded</a:t>
            </a:r>
            <a:r>
              <a:rPr lang="zh-CN" altLang="en-US" dirty="0"/>
              <a:t> </a:t>
            </a:r>
            <a:r>
              <a:rPr lang="en-US" altLang="zh-CN" dirty="0"/>
              <a:t>encryption)</a:t>
            </a:r>
          </a:p>
          <a:p>
            <a:pPr lvl="1"/>
            <a:r>
              <a:rPr lang="en-GB" dirty="0"/>
              <a:t>ChaCha20-Poly1305 authenticated encryption for high-speed embedded IoT applications (related to MQTT protocol)</a:t>
            </a:r>
          </a:p>
          <a:p>
            <a:pPr lvl="1"/>
            <a:r>
              <a:rPr lang="en-GB" dirty="0"/>
              <a:t>Lightweight Internet of Things Device Authentication, Encryption, and Key Distribution Using End-to-End Neural Cryptosystems</a:t>
            </a:r>
          </a:p>
          <a:p>
            <a:pPr lvl="1"/>
            <a:endParaRPr lang="en-GB" dirty="0"/>
          </a:p>
          <a:p>
            <a:r>
              <a:rPr lang="en-GB" b="1" dirty="0"/>
              <a:t>Image Encryption: </a:t>
            </a:r>
          </a:p>
          <a:p>
            <a:pPr lvl="1"/>
            <a:r>
              <a:rPr lang="en-GB" dirty="0"/>
              <a:t>A Lightweight Image Encryption Algorithm Based on Secure Key Generation </a:t>
            </a:r>
            <a:r>
              <a:rPr lang="zh-CN" altLang="en-US" dirty="0"/>
              <a:t> </a:t>
            </a:r>
            <a:r>
              <a:rPr lang="en-US" altLang="zh-CN" dirty="0"/>
              <a:t>(based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AES)</a:t>
            </a:r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Transmission protocol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GB" dirty="0"/>
              <a:t>MQTT</a:t>
            </a:r>
            <a:r>
              <a:rPr lang="zh-CN" altLang="en-US" dirty="0"/>
              <a:t> </a:t>
            </a:r>
            <a:r>
              <a:rPr lang="en-US" altLang="zh-CN" dirty="0"/>
              <a:t>(classic protocol), what else?</a:t>
            </a:r>
            <a:endParaRPr lang="en-GB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1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E6BD-FF49-36B7-3121-DB46BCCF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Embedding transmission reduces raw-image exposure, but embeddings are still sensitive.</a:t>
            </a:r>
            <a:r>
              <a:rPr lang="zh-CN" altLang="en-US" dirty="0"/>
              <a:t> </a:t>
            </a:r>
            <a:r>
              <a:rPr lang="en-US" altLang="zh-CN" dirty="0"/>
              <a:t>(background)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3752-85EC-FA56-49C2-25FBBD51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Understanding deep image representations by inverting them</a:t>
            </a:r>
            <a:r>
              <a:rPr lang="zh-CN" altLang="en-US" b="1" dirty="0"/>
              <a:t> </a:t>
            </a:r>
            <a:r>
              <a:rPr lang="en-US" altLang="zh-CN" dirty="0"/>
              <a:t>--</a:t>
            </a:r>
            <a:r>
              <a:rPr lang="zh-CN" altLang="en-US" dirty="0"/>
              <a:t> </a:t>
            </a:r>
            <a:r>
              <a:rPr lang="en-GB" dirty="0"/>
              <a:t>Inverts image representations to reconstruct visual content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GB" dirty="0"/>
              <a:t>shown that, under white-box or partially known model settings, visual representations can be inverted to recover information about the original image.</a:t>
            </a:r>
          </a:p>
          <a:p>
            <a:endParaRPr lang="en-GB" dirty="0"/>
          </a:p>
          <a:p>
            <a:r>
              <a:rPr lang="en-GB" b="1" dirty="0"/>
              <a:t>Deep-BMI: Exploring Model Inversion Attacks in the Black-box Setting</a:t>
            </a:r>
            <a:r>
              <a:rPr lang="zh-CN" altLang="en-US" b="1" dirty="0"/>
              <a:t> </a:t>
            </a:r>
            <a:r>
              <a:rPr lang="en-US" altLang="zh-CN" dirty="0"/>
              <a:t>--</a:t>
            </a:r>
            <a:r>
              <a:rPr lang="zh-CN" altLang="en-US" dirty="0"/>
              <a:t> </a:t>
            </a:r>
            <a:r>
              <a:rPr lang="en-GB" dirty="0"/>
              <a:t>Black-box model inversion can reconstruct semantically meaningful images without accessing target model parameters, although it usually requires repeated queries to the target model.</a:t>
            </a:r>
          </a:p>
          <a:p>
            <a:endParaRPr lang="en-GB" dirty="0"/>
          </a:p>
          <a:p>
            <a:r>
              <a:rPr lang="en-GB" b="1" dirty="0"/>
              <a:t>Deep Learning Model Inversion Attacks and </a:t>
            </a:r>
            <a:r>
              <a:rPr lang="en-GB" b="1" dirty="0" err="1"/>
              <a:t>Defenses</a:t>
            </a:r>
            <a:r>
              <a:rPr lang="en-GB" b="1" dirty="0"/>
              <a:t>: A Comprehensive Survey</a:t>
            </a:r>
            <a:r>
              <a:rPr lang="zh-CN" altLang="en-US" b="1" dirty="0"/>
              <a:t> </a:t>
            </a:r>
            <a:r>
              <a:rPr lang="en-US" altLang="zh-CN" dirty="0"/>
              <a:t>--</a:t>
            </a:r>
            <a:r>
              <a:rPr lang="zh-CN" altLang="en-US" dirty="0"/>
              <a:t> </a:t>
            </a:r>
            <a:r>
              <a:rPr lang="en-GB" dirty="0"/>
              <a:t>how attackers can reconstruct private training data or sensitive information from deep learning models, and summarises existing </a:t>
            </a:r>
            <a:r>
              <a:rPr lang="en-GB" dirty="0" err="1"/>
              <a:t>defense</a:t>
            </a:r>
            <a:r>
              <a:rPr lang="en-GB" dirty="0"/>
              <a:t> methods.</a:t>
            </a:r>
            <a:br>
              <a:rPr lang="en-GB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24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8B61-A1B0-A574-297A-A4D57627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r>
              <a:rPr lang="en-GB" dirty="0" err="1"/>
              <a:t>mbedding</a:t>
            </a:r>
            <a:r>
              <a:rPr lang="en-GB" dirty="0"/>
              <a:t> encryption and authentication combinations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649C6-2E5F-3C42-FBEB-C028BFCC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 privacy preserving split learning framework with adaptive inference selection for IoT security</a:t>
            </a:r>
            <a:r>
              <a:rPr lang="zh-CN" altLang="en-US" b="1" dirty="0"/>
              <a:t>  </a:t>
            </a:r>
            <a:r>
              <a:rPr lang="en-US" altLang="zh-CN" dirty="0"/>
              <a:t>--</a:t>
            </a:r>
            <a:r>
              <a:rPr lang="zh-CN" altLang="en-US" dirty="0"/>
              <a:t> </a:t>
            </a:r>
            <a:r>
              <a:rPr lang="en-GB" dirty="0"/>
              <a:t>Split Learning, Gaussian noise-based DP, pruning, quantization, TensorFlow Lite, and adaptive model selection.</a:t>
            </a:r>
          </a:p>
          <a:p>
            <a:r>
              <a:rPr lang="en-GB" b="1" dirty="0"/>
              <a:t>A privacy-preserving multi-user retrieval system for multimodal artificial intelligence</a:t>
            </a:r>
          </a:p>
          <a:p>
            <a:pPr lvl="1"/>
            <a:r>
              <a:rPr lang="en-GB" dirty="0"/>
              <a:t>This paper shows that embedding transmission alone is not enough for privacy protection, so the authors combine embedding obfuscation, encryption, and secure key management for multimodal retrieval.</a:t>
            </a:r>
          </a:p>
          <a:p>
            <a:pPr marL="0" indent="0">
              <a:buNone/>
            </a:pP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72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A0D3-0E46-EDD0-E7F8-496FC8B2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Gap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GB" dirty="0"/>
              <a:t>basic idea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C8C4F-ADC7-91B2-BB5E-40885088B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Evaluation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GB" dirty="0"/>
              <a:t>Existing secure transmission schemes may provide confidentiality and authentication, but their runtime overhead on edge devices remains an important factor for real-time image or embedding transmission.</a:t>
            </a:r>
          </a:p>
          <a:p>
            <a:r>
              <a:rPr lang="en-US" altLang="zh-CN" dirty="0"/>
              <a:t>Metrics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GB" dirty="0"/>
              <a:t>PU usage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memory usage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end-to-end latency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payload size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dirty="0"/>
              <a:t>throughput.</a:t>
            </a:r>
          </a:p>
          <a:p>
            <a:r>
              <a:rPr lang="en-GB" dirty="0"/>
              <a:t>Other Metrics: encryption time, decryption time, key setup/exchange time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0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12331</TotalTime>
  <Words>1470</Words>
  <Application>Microsoft Macintosh PowerPoint</Application>
  <PresentationFormat>Widescreen</PresentationFormat>
  <Paragraphs>244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Capstone Progress</vt:lpstr>
      <vt:lpstr>Simulation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Review</vt:lpstr>
      <vt:lpstr>Current Industry Practice 1</vt:lpstr>
      <vt:lpstr>Current Industry Practice 2</vt:lpstr>
      <vt:lpstr>Current Industry Practice 3</vt:lpstr>
      <vt:lpstr>Literature review  (basic idea)</vt:lpstr>
      <vt:lpstr>Image transmission protection methods are relevant background</vt:lpstr>
      <vt:lpstr>Embedding transmission reduces raw-image exposure, but embeddings are still sensitive. (background)</vt:lpstr>
      <vt:lpstr>Embedding encryption and authentication combinations</vt:lpstr>
      <vt:lpstr>Research Gap (basic idea)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耀泉 马</dc:creator>
  <cp:lastModifiedBy>耀泉 马</cp:lastModifiedBy>
  <cp:revision>2</cp:revision>
  <dcterms:created xsi:type="dcterms:W3CDTF">2026-05-18T11:21:01Z</dcterms:created>
  <dcterms:modified xsi:type="dcterms:W3CDTF">2026-08-29T15:05:59Z</dcterms:modified>
</cp:coreProperties>
</file>