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61" r:id="rId5"/>
    <p:sldId id="262" r:id="rId6"/>
    <p:sldId id="258" r:id="rId7"/>
    <p:sldId id="266" r:id="rId8"/>
    <p:sldId id="265" r:id="rId9"/>
    <p:sldId id="268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7364D2-7B48-1D4A-8AEF-744EC3E9C1FF}">
          <p14:sldIdLst>
            <p14:sldId id="256"/>
          </p14:sldIdLst>
        </p14:section>
        <p14:section name="Week 1" id="{7A9EE9F0-9EA2-FD4F-95A0-5FB502EDB152}">
          <p14:sldIdLst>
            <p14:sldId id="257"/>
            <p14:sldId id="264"/>
            <p14:sldId id="261"/>
            <p14:sldId id="262"/>
            <p14:sldId id="258"/>
            <p14:sldId id="266"/>
            <p14:sldId id="265"/>
            <p14:sldId id="26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2CF162-E4EB-A648-BB70-BCFC2B7265E3}" v="35" dt="2026-05-22T13:40:37.2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49"/>
    <p:restoredTop sz="74589"/>
  </p:normalViewPr>
  <p:slideViewPr>
    <p:cSldViewPr snapToGrid="0">
      <p:cViewPr varScale="1">
        <p:scale>
          <a:sx n="118" d="100"/>
          <a:sy n="118" d="100"/>
        </p:scale>
        <p:origin x="130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耀泉 马" userId="19e30af8d5659de2" providerId="LiveId" clId="{C3594856-CEDA-5129-B2AF-7962E3CA4CA3}"/>
    <pc:docChg chg="custSel modSld">
      <pc:chgData name="耀泉 马" userId="19e30af8d5659de2" providerId="LiveId" clId="{C3594856-CEDA-5129-B2AF-7962E3CA4CA3}" dt="2026-05-22T13:40:39.181" v="17" actId="27636"/>
      <pc:docMkLst>
        <pc:docMk/>
      </pc:docMkLst>
      <pc:sldChg chg="modSp mod">
        <pc:chgData name="耀泉 马" userId="19e30af8d5659de2" providerId="LiveId" clId="{C3594856-CEDA-5129-B2AF-7962E3CA4CA3}" dt="2026-05-22T13:40:39.181" v="17" actId="27636"/>
        <pc:sldMkLst>
          <pc:docMk/>
          <pc:sldMk cId="1853872987" sldId="268"/>
        </pc:sldMkLst>
        <pc:spChg chg="mod">
          <ac:chgData name="耀泉 马" userId="19e30af8d5659de2" providerId="LiveId" clId="{C3594856-CEDA-5129-B2AF-7962E3CA4CA3}" dt="2026-05-22T13:40:39.181" v="17" actId="27636"/>
          <ac:spMkLst>
            <pc:docMk/>
            <pc:sldMk cId="1853872987" sldId="268"/>
            <ac:spMk id="3" creationId="{CF3649C6-2E5F-3C42-FBEB-C028BFCC91C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F708F-C5DA-2442-B459-317C43B6759F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56F6D7-A759-5D41-8F8D-5EE238F097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87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108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Embedded Systems Authentication and Encryption Using Strong PUF </a:t>
            </a:r>
            <a:r>
              <a:rPr lang="en-GB" dirty="0" err="1"/>
              <a:t>Modeling</a:t>
            </a:r>
            <a:r>
              <a:rPr lang="en-GB" dirty="0"/>
              <a:t> 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ieeexplore.ieee.org</a:t>
            </a:r>
            <a:r>
              <a:rPr lang="en-US" dirty="0"/>
              <a:t>/abstract/document/9043104?casa_token=TzGmEqi4czcAAAAA:FP9-Idn1xMF5z_j2kDuLO-pOOLk1aUnqQG75sw8GjfFpAKonMz5raTOEofeSaK4YYtV8hXbb</a:t>
            </a:r>
          </a:p>
          <a:p>
            <a:endParaRPr lang="en-US" dirty="0"/>
          </a:p>
          <a:p>
            <a:r>
              <a:rPr lang="en-US" dirty="0"/>
              <a:t>server-side authentication</a:t>
            </a:r>
          </a:p>
          <a:p>
            <a:r>
              <a:rPr lang="en-US" dirty="0"/>
              <a:t>client-side authentication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lack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computational</a:t>
            </a:r>
            <a:r>
              <a:rPr lang="zh-CN" altLang="en-US" dirty="0"/>
              <a:t> </a:t>
            </a:r>
            <a:r>
              <a:rPr lang="en-US" altLang="zh-CN" dirty="0"/>
              <a:t>resources.</a:t>
            </a:r>
            <a:endParaRPr lang="en-US" dirty="0"/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ChaCha20-Poly1305 authenticated encryption for high-speed embedded IoT applications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/document/7927078</a:t>
            </a:r>
          </a:p>
          <a:p>
            <a:br>
              <a:rPr lang="en-GB" dirty="0"/>
            </a:b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Authenticated Encryption Schemes: A Systematic Review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/abstract/document/9695453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A Lightweight Image Encryption Algorithm Based on Secure Key Generation</a:t>
            </a:r>
            <a:r>
              <a:rPr lang="en-GB" dirty="0"/>
              <a:t> </a:t>
            </a:r>
            <a:r>
              <a:rPr lang="zh-CN" altLang="en-US" dirty="0"/>
              <a:t> </a:t>
            </a:r>
            <a:r>
              <a:rPr lang="en-US" altLang="zh-CN" dirty="0"/>
              <a:t>(based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AES)</a:t>
            </a:r>
            <a:endParaRPr lang="en-GB" dirty="0"/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/document/10596034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Secure key generation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Dynamic S-box generation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Replace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MixColumns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circular permutation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12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dirty="0"/>
            </a:b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 Learning Model Inversion Attacks and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Defenses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Comprehensive Survey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arxiv.org</a:t>
            </a:r>
            <a:r>
              <a:rPr lang="en-US" dirty="0"/>
              <a:t>/html/2501.18934v1</a:t>
            </a:r>
          </a:p>
          <a:p>
            <a:endParaRPr lang="en-US" dirty="0"/>
          </a:p>
          <a:p>
            <a:r>
              <a:rPr lang="en-GB" dirty="0"/>
              <a:t>Exploring Model Inversion Attacks in the Black-box Setting</a:t>
            </a:r>
          </a:p>
          <a:p>
            <a:r>
              <a:rPr lang="en-US" dirty="0"/>
              <a:t>https://</a:t>
            </a:r>
            <a:r>
              <a:rPr lang="en-US" dirty="0" err="1"/>
              <a:t>petsymposium.org</a:t>
            </a:r>
            <a:r>
              <a:rPr lang="en-US" dirty="0"/>
              <a:t>/</a:t>
            </a:r>
            <a:r>
              <a:rPr lang="en-US" dirty="0" err="1"/>
              <a:t>popets</a:t>
            </a:r>
            <a:r>
              <a:rPr lang="en-US" dirty="0"/>
              <a:t>/2023/popets-2023-0012.pdf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Understanding deep image representations by inverting them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ieeexplore.ieee.org</a:t>
            </a:r>
            <a:r>
              <a:rPr lang="en-US" dirty="0"/>
              <a:t>/document/7299155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4109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privacy preserving split learning framework with adaptive inference selection for IoT security</a:t>
            </a:r>
            <a:r>
              <a:rPr lang="zh-CN" altLang="en-US" dirty="0"/>
              <a:t> </a:t>
            </a:r>
            <a:endParaRPr lang="en-US" altLang="zh-CN" dirty="0"/>
          </a:p>
          <a:p>
            <a:endParaRPr lang="en-US" dirty="0"/>
          </a:p>
          <a:p>
            <a:r>
              <a:rPr lang="en-US"/>
              <a:t>Key words:</a:t>
            </a:r>
            <a:endParaRPr lang="en-US" dirty="0"/>
          </a:p>
          <a:p>
            <a:r>
              <a:rPr lang="en-US" dirty="0"/>
              <a:t>Data privacy, cloud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853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729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CA8AB-C737-FD4D-BF9D-17A512F01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19A126-A82D-3C7E-FBDD-B153AA05C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80D57-352B-F93D-9ED6-6E1F681F8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5AAE3-74B3-0779-58A9-D2324E4C5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B5AF1-4C23-12F9-E8CB-4424B420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480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67D92-8BEA-3136-9575-F25FE2A23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0A7FB-F8F6-C5EE-EE40-8EA683CC0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C4D90-6A16-B5B0-4C3F-AB6152E7B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5BD75-D977-2B7D-6C46-52F03204A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CA02E-2EA5-F492-E1F9-047D418DD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395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F6C3D-2368-8484-3C9C-2C8AE374F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FA1641-A6F1-AFCC-34D6-AF5D272F3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6246F-9540-BA90-839A-2A4279BB0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8D70F-D39C-DCA2-BA1D-2E43EC23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7175-E312-1EA6-A7AE-1FEF3C992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718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C22F6-D578-98E7-661B-3F64CDF14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F7FC9-9E95-4215-376C-7BCB7A7DB0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E2920-70DB-6FB2-31C9-E69FAFD76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DB35F-2272-3B2B-4AB5-A8DC2CC5E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36D21-1117-0881-3E61-427138DA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22115F-C0E3-54CD-9DD1-2AEF08B06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4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B1F38-0A47-A590-5182-FC4ED939C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92689E-1D38-0A80-9EFD-426C639F0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25580-ED8F-6001-73E9-177A6E51C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D74194-C9A8-56A8-F807-6B3BAC4CA4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C5CD27-FAD3-83B0-488A-195CFD056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8FA877-089A-FF46-7A4B-B9585CED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E130F1-91CB-8BC6-FB2A-2B55D275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B69AEF-0C50-EC9A-1667-D81E4915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553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41556-93D7-67CA-FAAB-B82FD6A1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13CF1B-D9C9-3C50-F6EE-4583F98DD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7C13B8-5407-A39A-F46F-F56759D2E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E0ED0-AD54-A226-5FE9-105916E52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32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6C560C-647E-336A-A8CB-D2FE7C6F2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A0704D-35ED-ACEB-EFC7-035B6212D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2D94A-1CF9-6B56-D7BD-0CA9106E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790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82EC-6EC5-FC90-02D6-1BBD43203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1BA5-D499-2653-3897-C97E0EAAB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A9CF5-05D6-EC9B-8108-414E4C105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C9A90-91DB-3785-9C20-0ECA49871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B8617F-6CFD-F48E-6E5A-508E2C34D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114BB-01BA-5986-4D69-673CF2CF0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196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82F4A-850C-A865-F4DE-ABB5482D6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F56FF0-8E16-5A34-8416-94D138DE3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7CCE77-2615-A67C-155A-27E836223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96C4B-EE11-B1C9-48CD-D799EB17B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0F074C-82C2-16A5-E682-72B27F51E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01E87D-C98F-4845-8F0A-C19F02A9B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131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0C130-F04A-388A-61CC-69F4CAED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38ED3C-AC86-6957-3DA1-31A86A6A9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318CE-A120-5957-264F-211D79E7D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D5272-42B3-2BBD-AFF8-ECAAAD76B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15C73-79FD-0822-2932-EBC79DB7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79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AC9E91-95A1-205B-3780-08B6B610C5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A58B37-1769-3FB7-0CAA-5BF89F196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723A9-87D2-27BC-440D-6618AA0D8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B2E92B-595B-97BA-6B36-F226B9993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2D984-72C5-E789-C6E9-F1360F0CD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696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F9F1EC-30D1-546A-E317-FB84D01C7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6A8B3-3ECB-53FD-A522-7DD83FD346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2FB31-AED2-BB56-2AC2-1F48F65FB6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A3F8E0-39CC-F548-AAA7-4485C47B7E6B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092861-D4AB-171D-8320-D97E9A6F2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4FFC12-2289-BECF-D0C4-A832BDAAE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587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asis-open.org/mqtt/mqtt/v5.0/cos02/mqtt-v5.0-cos02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C3B03-03A8-3398-9AA9-79B7C20BA9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Capstone</a:t>
            </a:r>
            <a:r>
              <a:rPr lang="zh-CN" altLang="en-US" dirty="0"/>
              <a:t> </a:t>
            </a:r>
            <a:r>
              <a:rPr lang="en-US" altLang="zh-CN" dirty="0"/>
              <a:t>Progress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269FB-700A-70E3-4BEA-9AA0FB62F5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435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228B6-13C3-8BAE-3D5E-E2EB78C76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B29C1-1D46-FAC8-83E3-EB928A4C4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79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edge.py</a:t>
            </a:r>
            <a:endParaRPr lang="en-US" dirty="0"/>
          </a:p>
          <a:p>
            <a:r>
              <a:rPr lang="en-US" dirty="0"/>
              <a:t>Load</a:t>
            </a:r>
            <a:r>
              <a:rPr lang="zh-CN" altLang="en-US" dirty="0"/>
              <a:t> </a:t>
            </a:r>
            <a:r>
              <a:rPr lang="en-US" dirty="0"/>
              <a:t>image and pre-trained model</a:t>
            </a:r>
          </a:p>
          <a:p>
            <a:r>
              <a:rPr lang="en-US" dirty="0"/>
              <a:t> -&gt; image preprocessing</a:t>
            </a:r>
            <a:r>
              <a:rPr lang="zh-CN" altLang="en-US" dirty="0"/>
              <a:t> </a:t>
            </a:r>
            <a:r>
              <a:rPr lang="en-US" altLang="zh-CN" dirty="0"/>
              <a:t>(resize, split, and tokenizer)</a:t>
            </a:r>
            <a:endParaRPr lang="en-US" dirty="0"/>
          </a:p>
          <a:p>
            <a:r>
              <a:rPr lang="en-US" dirty="0"/>
              <a:t> -&gt; vision encoder</a:t>
            </a:r>
          </a:p>
          <a:p>
            <a:r>
              <a:rPr lang="en-US" dirty="0"/>
              <a:t>-&gt; projected visual embeddings</a:t>
            </a:r>
          </a:p>
          <a:p>
            <a:r>
              <a:rPr lang="en-US" dirty="0"/>
              <a:t> -&gt; send embeddings to cloud</a:t>
            </a:r>
            <a:r>
              <a:rPr lang="zh-CN" altLang="en-US" dirty="0"/>
              <a:t> </a:t>
            </a:r>
            <a:r>
              <a:rPr lang="en-US" altLang="zh-CN" dirty="0"/>
              <a:t>(HTTP</a:t>
            </a:r>
            <a:r>
              <a:rPr lang="zh-CN" altLang="en-US" dirty="0"/>
              <a:t> </a:t>
            </a:r>
            <a:r>
              <a:rPr lang="en-US" altLang="zh-CN" dirty="0"/>
              <a:t>API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 err="1"/>
              <a:t>json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4A1A7D3-03A9-0367-368E-C80ED7EB2304}"/>
              </a:ext>
            </a:extLst>
          </p:cNvPr>
          <p:cNvSpPr txBox="1">
            <a:spLocks/>
          </p:cNvSpPr>
          <p:nvPr/>
        </p:nvSpPr>
        <p:spPr>
          <a:xfrm>
            <a:off x="6096000" y="1780802"/>
            <a:ext cx="47079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cloud.py</a:t>
            </a:r>
            <a:endParaRPr lang="en-US" dirty="0"/>
          </a:p>
          <a:p>
            <a:r>
              <a:rPr lang="en-US" dirty="0"/>
              <a:t>receive projected visual embeddings</a:t>
            </a:r>
          </a:p>
          <a:p>
            <a:r>
              <a:rPr lang="en-US" dirty="0"/>
              <a:t> -&gt; rebuild tensor</a:t>
            </a:r>
          </a:p>
          <a:p>
            <a:r>
              <a:rPr lang="en-US" dirty="0"/>
              <a:t> -&gt; tokenize text prompt</a:t>
            </a:r>
          </a:p>
          <a:p>
            <a:r>
              <a:rPr lang="en-US" dirty="0"/>
              <a:t> -&gt; convert prompt tokens to text embeddings</a:t>
            </a:r>
          </a:p>
          <a:p>
            <a:r>
              <a:rPr lang="en-US" dirty="0"/>
              <a:t> -&gt; concatenate visual embeddings + text embeddings</a:t>
            </a:r>
          </a:p>
          <a:p>
            <a:r>
              <a:rPr lang="en-US" dirty="0"/>
              <a:t> -&gt; </a:t>
            </a:r>
            <a:r>
              <a:rPr lang="en-US" altLang="zh-CN" dirty="0"/>
              <a:t>Generate</a:t>
            </a:r>
            <a:r>
              <a:rPr lang="zh-CN" altLang="en-US" dirty="0"/>
              <a:t> </a:t>
            </a:r>
            <a:r>
              <a:rPr lang="en-US" altLang="zh-CN" dirty="0"/>
              <a:t>ids</a:t>
            </a:r>
            <a:endParaRPr lang="en-US" dirty="0"/>
          </a:p>
          <a:p>
            <a:pPr lvl="1"/>
            <a:r>
              <a:rPr lang="en-US" dirty="0"/>
              <a:t>language decoder</a:t>
            </a:r>
          </a:p>
          <a:p>
            <a:pPr lvl="1"/>
            <a:r>
              <a:rPr lang="en-US" dirty="0"/>
              <a:t> -&gt; </a:t>
            </a:r>
            <a:r>
              <a:rPr lang="en-US" dirty="0" err="1"/>
              <a:t>lm</a:t>
            </a:r>
            <a:r>
              <a:rPr lang="en-US" dirty="0"/>
              <a:t> head</a:t>
            </a:r>
          </a:p>
          <a:p>
            <a:r>
              <a:rPr lang="en-US" dirty="0"/>
              <a:t> -&gt; generated text answer</a:t>
            </a:r>
          </a:p>
        </p:txBody>
      </p:sp>
    </p:spTree>
    <p:extLst>
      <p:ext uri="{BB962C8B-B14F-4D97-AF65-F5344CB8AC3E}">
        <p14:creationId xmlns:p14="http://schemas.microsoft.com/office/powerpoint/2010/main" val="415403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53DB8-82F7-0B81-C61D-FA7DDD94C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B08B2-5870-4D2D-7A48-0DA509FCC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8A744-ED02-6C5A-FD54-B4E597303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dirty="0"/>
              <a:t>Direct raw image transmission via REST</a:t>
            </a:r>
            <a:r>
              <a:rPr lang="en-US" altLang="zh-CN" b="1" dirty="0"/>
              <a:t>/RPC</a:t>
            </a:r>
            <a:r>
              <a:rPr lang="en-GB" b="1" dirty="0"/>
              <a:t> API</a:t>
            </a:r>
          </a:p>
          <a:p>
            <a:pPr marL="0" indent="0">
              <a:buNone/>
            </a:pPr>
            <a:r>
              <a:rPr lang="en-GB" dirty="0"/>
              <a:t>Client / camera / in-vehicle system → JPEG/PNG image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GB" dirty="0"/>
              <a:t>Base64 JSON or binary HTTPS POST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GB" dirty="0"/>
              <a:t>cloud inference service → text output</a:t>
            </a:r>
          </a:p>
          <a:p>
            <a:pPr marL="0" indent="0">
              <a:buNone/>
            </a:pPr>
            <a:r>
              <a:rPr lang="en-GB" dirty="0"/>
              <a:t>Main idea:</a:t>
            </a:r>
          </a:p>
          <a:p>
            <a:r>
              <a:rPr lang="en-GB" dirty="0"/>
              <a:t>The original image is directly uploaded to the cloud service.</a:t>
            </a:r>
          </a:p>
          <a:p>
            <a:r>
              <a:rPr lang="en-GB" dirty="0"/>
              <a:t>This is the common design used by many cloud vision APIs.</a:t>
            </a:r>
          </a:p>
          <a:p>
            <a:r>
              <a:rPr lang="en-GB" dirty="0"/>
              <a:t>The cloud performs image understanding, OCR, object detection, or captioning.</a:t>
            </a:r>
          </a:p>
          <a:p>
            <a:pPr marL="0" indent="0">
              <a:buNone/>
            </a:pPr>
            <a:r>
              <a:rPr lang="en-GB" dirty="0"/>
              <a:t>Payload format:</a:t>
            </a:r>
          </a:p>
          <a:p>
            <a:pPr marL="457200" lvl="1" indent="0">
              <a:buNone/>
            </a:pPr>
            <a:r>
              <a:rPr lang="en-GB" dirty="0"/>
              <a:t>Base64 image inside JSON request</a:t>
            </a:r>
            <a:r>
              <a:rPr lang="zh-CN" altLang="en-US" dirty="0"/>
              <a:t>，</a:t>
            </a:r>
            <a:r>
              <a:rPr lang="en-GB" dirty="0"/>
              <a:t>Multipart/form-data binary upload</a:t>
            </a:r>
            <a:r>
              <a:rPr lang="zh-CN" altLang="en-US" dirty="0"/>
              <a:t>，</a:t>
            </a:r>
            <a:r>
              <a:rPr lang="en-GB" dirty="0"/>
              <a:t>application/octet-stream binary upload</a:t>
            </a:r>
          </a:p>
          <a:p>
            <a:pPr marL="457200" lvl="1" indent="0">
              <a:buNone/>
            </a:pPr>
            <a:r>
              <a:rPr lang="en-GB" dirty="0"/>
              <a:t>Encryption:</a:t>
            </a:r>
            <a:r>
              <a:rPr lang="zh-CN" altLang="en-US" dirty="0"/>
              <a:t> </a:t>
            </a:r>
            <a:r>
              <a:rPr lang="en-GB" dirty="0"/>
              <a:t>HTTPS / TLS protects data in transit</a:t>
            </a:r>
          </a:p>
          <a:p>
            <a:pPr marL="457200" lvl="1" indent="0">
              <a:buNone/>
            </a:pPr>
            <a:r>
              <a:rPr lang="en-GB" dirty="0"/>
              <a:t>Authentication:</a:t>
            </a:r>
            <a:r>
              <a:rPr lang="zh-CN" altLang="en-US" dirty="0"/>
              <a:t> </a:t>
            </a:r>
            <a:r>
              <a:rPr lang="en-GB" dirty="0"/>
              <a:t>API key</a:t>
            </a:r>
            <a:r>
              <a:rPr lang="zh-CN" altLang="en-US" dirty="0"/>
              <a:t>，</a:t>
            </a:r>
            <a:r>
              <a:rPr lang="en-GB" dirty="0"/>
              <a:t>Bearer token / OAuth token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Service account / IAM credentials</a:t>
            </a:r>
          </a:p>
          <a:p>
            <a:pPr marL="0" indent="0">
              <a:buNone/>
            </a:pPr>
            <a:r>
              <a:rPr lang="en-GB" dirty="0"/>
              <a:t>Example:</a:t>
            </a:r>
          </a:p>
          <a:p>
            <a:pPr marL="0" indent="0">
              <a:buNone/>
            </a:pPr>
            <a:r>
              <a:rPr lang="en-GB" dirty="0"/>
              <a:t>Google Cloud Vision API</a:t>
            </a:r>
          </a:p>
          <a:p>
            <a:pPr marL="0" indent="0">
              <a:buNone/>
            </a:pPr>
            <a:r>
              <a:rPr lang="en-GB" dirty="0"/>
              <a:t>Azure Computer Vision</a:t>
            </a:r>
          </a:p>
          <a:p>
            <a:pPr marL="0" indent="0">
              <a:buNone/>
            </a:pPr>
            <a:r>
              <a:rPr lang="en-GB" dirty="0"/>
              <a:t>AWS Rekognition</a:t>
            </a:r>
          </a:p>
        </p:txBody>
      </p:sp>
    </p:spTree>
    <p:extLst>
      <p:ext uri="{BB962C8B-B14F-4D97-AF65-F5344CB8AC3E}">
        <p14:creationId xmlns:p14="http://schemas.microsoft.com/office/powerpoint/2010/main" val="3091168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86E9-03F1-372E-5882-3268FCB79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A0D2D-1BA7-4635-B1C3-B7F0282DC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C907C-E9ED-6460-EF2F-8B79EB99F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Indirect cloud-storage transmission (offline / asynchronous)</a:t>
            </a:r>
          </a:p>
          <a:p>
            <a:r>
              <a:rPr lang="en-GB" dirty="0"/>
              <a:t> Client / edge device </a:t>
            </a:r>
            <a:r>
              <a:rPr lang="en-US" altLang="zh-CN" dirty="0"/>
              <a:t>-&gt;</a:t>
            </a:r>
            <a:r>
              <a:rPr lang="en-GB" dirty="0"/>
              <a:t> JPEG/PNG image </a:t>
            </a:r>
            <a:r>
              <a:rPr lang="en-US" altLang="zh-CN" dirty="0"/>
              <a:t>-&gt;</a:t>
            </a:r>
            <a:r>
              <a:rPr lang="en-GB" dirty="0"/>
              <a:t> HTTPS upload </a:t>
            </a:r>
            <a:r>
              <a:rPr lang="en-US" altLang="zh-CN" dirty="0"/>
              <a:t>-&gt;</a:t>
            </a:r>
            <a:r>
              <a:rPr lang="en-GB" dirty="0"/>
              <a:t> cloud storage bucket </a:t>
            </a:r>
            <a:r>
              <a:rPr lang="en-US" altLang="zh-CN" dirty="0"/>
              <a:t>-&gt;</a:t>
            </a:r>
            <a:r>
              <a:rPr lang="en-GB" dirty="0"/>
              <a:t> cloud function / inference service reads image </a:t>
            </a:r>
            <a:r>
              <a:rPr lang="en-US" altLang="zh-CN" dirty="0"/>
              <a:t>-&gt;</a:t>
            </a:r>
            <a:r>
              <a:rPr lang="en-GB" dirty="0"/>
              <a:t> model inference → text</a:t>
            </a:r>
          </a:p>
          <a:p>
            <a:r>
              <a:rPr lang="en-GB" dirty="0"/>
              <a:t>Main idea:</a:t>
            </a:r>
          </a:p>
          <a:p>
            <a:pPr lvl="1"/>
            <a:r>
              <a:rPr lang="en-GB" dirty="0"/>
              <a:t>The original image is uploaded to object storage first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Then,</a:t>
            </a:r>
            <a:r>
              <a:rPr lang="zh-CN" altLang="en-US" dirty="0"/>
              <a:t> </a:t>
            </a:r>
            <a:r>
              <a:rPr lang="en-US" altLang="zh-CN" dirty="0"/>
              <a:t>t</a:t>
            </a:r>
            <a:r>
              <a:rPr lang="en-GB" dirty="0"/>
              <a:t>he inference service later reads the image from storage.</a:t>
            </a:r>
            <a:r>
              <a:rPr lang="zh-CN" altLang="en-US" dirty="0"/>
              <a:t> </a:t>
            </a:r>
            <a:r>
              <a:rPr lang="en-GB" dirty="0"/>
              <a:t>This is useful for batch processing, asynchronous inference, and large image files.</a:t>
            </a:r>
          </a:p>
          <a:p>
            <a:pPr lvl="1"/>
            <a:r>
              <a:rPr lang="en-GB" dirty="0"/>
              <a:t>Encryption:</a:t>
            </a:r>
            <a:r>
              <a:rPr lang="zh-CN" altLang="en-US" dirty="0"/>
              <a:t> </a:t>
            </a:r>
            <a:r>
              <a:rPr lang="en-GB" dirty="0"/>
              <a:t>In transit: HTTPS / TLS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At rest: server-side encryption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SSE-S3, SSE-KMS, or Azure/GCP managed encryption</a:t>
            </a:r>
            <a:r>
              <a:rPr lang="en-US" altLang="zh-CN" dirty="0"/>
              <a:t>)</a:t>
            </a:r>
            <a:endParaRPr lang="en-GB" dirty="0"/>
          </a:p>
          <a:p>
            <a:pPr lvl="1"/>
            <a:r>
              <a:rPr lang="en-GB" dirty="0"/>
              <a:t>Authentication:</a:t>
            </a:r>
            <a:r>
              <a:rPr lang="zh-CN" altLang="en-US" dirty="0"/>
              <a:t> </a:t>
            </a:r>
            <a:r>
              <a:rPr lang="en-GB" dirty="0"/>
              <a:t>Pre-signed URL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IAM role / service account</a:t>
            </a:r>
            <a:r>
              <a:rPr lang="en-US" altLang="zh-CN" dirty="0"/>
              <a:t>),</a:t>
            </a:r>
            <a:r>
              <a:rPr lang="zh-CN" altLang="en-US" dirty="0"/>
              <a:t> </a:t>
            </a:r>
            <a:r>
              <a:rPr lang="en-GB" dirty="0"/>
              <a:t>OAuth token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Access key / SAS token, depending on the cloud provider</a:t>
            </a:r>
          </a:p>
          <a:p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instance: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r>
              <a:rPr lang="en-GB" dirty="0"/>
              <a:t>AWS S3 + Lambda + Rekognition / custom model</a:t>
            </a:r>
          </a:p>
          <a:p>
            <a:pPr lvl="1"/>
            <a:r>
              <a:rPr lang="en-GB" dirty="0"/>
              <a:t>Google Cloud Storage + Cloud Functions + Vision API</a:t>
            </a:r>
          </a:p>
          <a:p>
            <a:pPr lvl="1"/>
            <a:r>
              <a:rPr lang="en-GB" dirty="0"/>
              <a:t>Azure Blob Storage + Azure Functions + 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7268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833CD-B190-EEAC-84D1-A6647B4F5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C038F-DC02-DEAF-1895-112EEC059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26767-4FCA-A0F3-A57E-D3FE9D5F8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MQTT / IoT message broker transmission</a:t>
            </a:r>
          </a:p>
          <a:p>
            <a:r>
              <a:rPr lang="en-GB" dirty="0"/>
              <a:t>Camera / IoT device → JPEG frame → MQTT binary payload or Base64 payload → broker → cloud function / inference service → text</a:t>
            </a:r>
          </a:p>
          <a:p>
            <a:r>
              <a:rPr lang="en-US" altLang="zh-CN" dirty="0"/>
              <a:t>Main</a:t>
            </a:r>
            <a:r>
              <a:rPr lang="zh-CN" altLang="en-US" dirty="0"/>
              <a:t> </a:t>
            </a:r>
            <a:r>
              <a:rPr lang="en-US" altLang="zh-CN" dirty="0"/>
              <a:t>idea: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r>
              <a:rPr lang="en-GB" dirty="0"/>
              <a:t>Encryption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MQTT does </a:t>
            </a:r>
            <a:r>
              <a:rPr lang="en-GB" b="1" dirty="0"/>
              <a:t>not normally encrypt messages by itself</a:t>
            </a:r>
            <a:r>
              <a:rPr lang="en-GB" dirty="0"/>
              <a:t>. In real systems, MQTT is secured by running it over </a:t>
            </a:r>
            <a:r>
              <a:rPr lang="en-GB" b="1" dirty="0"/>
              <a:t>TLS/SSL</a:t>
            </a:r>
            <a:r>
              <a:rPr lang="zh-CN" altLang="en-US" b="1" dirty="0"/>
              <a:t> </a:t>
            </a:r>
            <a:r>
              <a:rPr lang="en-US" altLang="zh-CN" b="1" dirty="0"/>
              <a:t>(</a:t>
            </a:r>
            <a:r>
              <a:rPr lang="en-GB" dirty="0"/>
              <a:t>hardware </a:t>
            </a:r>
            <a:r>
              <a:rPr lang="en-US" altLang="zh-CN" dirty="0"/>
              <a:t>support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AES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commonly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embedded,</a:t>
            </a:r>
            <a:r>
              <a:rPr lang="zh-CN" altLang="en-US" dirty="0"/>
              <a:t> </a:t>
            </a:r>
            <a:r>
              <a:rPr lang="en-GB" dirty="0"/>
              <a:t>ChaCha20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faster</a:t>
            </a:r>
            <a:r>
              <a:rPr lang="zh-CN" altLang="en-US" dirty="0"/>
              <a:t> </a:t>
            </a:r>
            <a:r>
              <a:rPr lang="en-US" altLang="zh-CN" dirty="0"/>
              <a:t>option</a:t>
            </a:r>
            <a:r>
              <a:rPr lang="en-US" altLang="zh-CN" b="1" dirty="0"/>
              <a:t>)</a:t>
            </a:r>
          </a:p>
          <a:p>
            <a:pPr lvl="1"/>
            <a:r>
              <a:rPr lang="en-GB" dirty="0"/>
              <a:t>Authentication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MQTT CONNECT packets can include </a:t>
            </a:r>
            <a:r>
              <a:rPr lang="en-GB" b="1" dirty="0"/>
              <a:t>User Name</a:t>
            </a:r>
            <a:r>
              <a:rPr lang="en-GB" dirty="0"/>
              <a:t> and </a:t>
            </a:r>
            <a:r>
              <a:rPr lang="en-GB" b="1" dirty="0"/>
              <a:t>Password</a:t>
            </a:r>
            <a:r>
              <a:rPr lang="en-GB" dirty="0"/>
              <a:t> fields. The broker can use these fields to authenticate the client.</a:t>
            </a:r>
            <a:r>
              <a:rPr lang="zh-CN" altLang="en-US" dirty="0"/>
              <a:t> </a:t>
            </a:r>
            <a:r>
              <a:rPr lang="en-GB" dirty="0"/>
              <a:t>The MQTT 5.0 specification says implementations can use these fields directly, connect them to external authentication systems such as LDAP or OAuth, or use operating-system authentication. </a:t>
            </a:r>
            <a:endParaRPr lang="en-GB" altLang="zh-CN" dirty="0"/>
          </a:p>
          <a:p>
            <a:pPr lvl="1"/>
            <a:endParaRPr lang="en-US" dirty="0"/>
          </a:p>
          <a:p>
            <a:pPr lvl="1"/>
            <a:r>
              <a:rPr lang="en-US" dirty="0"/>
              <a:t>Source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altLang="zh-CN" dirty="0">
                <a:hlinkClick r:id="rId2"/>
              </a:rPr>
              <a:t>https://docs.oasis-open.org/mqtt/mqtt/v5.0/cos02/mqtt-v5.0-cos02</a:t>
            </a:r>
            <a:endParaRPr lang="en-GB" altLang="zh-CN" dirty="0"/>
          </a:p>
          <a:p>
            <a:pPr lvl="1"/>
            <a:r>
              <a:rPr lang="en-US" altLang="zh-CN" dirty="0"/>
              <a:t>Used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in-vehicle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endParaRPr lang="en-US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146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2C24C-AEA6-BE17-5DB3-E933CD76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</a:t>
            </a:r>
            <a:r>
              <a:rPr lang="zh-CN" altLang="en-US" dirty="0"/>
              <a:t> </a:t>
            </a:r>
            <a:r>
              <a:rPr lang="en-US" altLang="zh-CN" dirty="0"/>
              <a:t>review</a:t>
            </a:r>
            <a:r>
              <a:rPr lang="zh-CN" altLang="en-US" dirty="0"/>
              <a:t> </a:t>
            </a:r>
            <a:r>
              <a:rPr lang="en-US" altLang="zh-CN" dirty="0"/>
              <a:t> (basic idea)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6BA2B-3401-4993-B104-0C4DD9C52C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Image transmission protection methods are relevant background.</a:t>
            </a:r>
          </a:p>
          <a:p>
            <a:endParaRPr lang="en-GB" dirty="0"/>
          </a:p>
          <a:p>
            <a:r>
              <a:rPr lang="en-GB" dirty="0"/>
              <a:t>Embedding transmission reduces raw-image exposure, but embeddings are still sensitive.</a:t>
            </a:r>
            <a:r>
              <a:rPr lang="zh-CN" altLang="en-US" dirty="0"/>
              <a:t> </a:t>
            </a:r>
            <a:r>
              <a:rPr lang="en-US" altLang="zh-CN" dirty="0"/>
              <a:t>(background)</a:t>
            </a:r>
            <a:br>
              <a:rPr lang="en-GB" dirty="0"/>
            </a:br>
            <a:endParaRPr lang="en-GB" dirty="0"/>
          </a:p>
          <a:p>
            <a:r>
              <a:rPr lang="en-GB" dirty="0"/>
              <a:t>Narrow down to embedding encryption and authentication combinations (find research gap)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481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34B27-50C9-B3F7-8E23-F04F6994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transmission protection methods are relevant background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66402-3AB0-7EEA-2FFB-34664A8B0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IOT Device </a:t>
            </a:r>
            <a:r>
              <a:rPr lang="en-GB" b="1" dirty="0" err="1"/>
              <a:t>Encyption</a:t>
            </a:r>
            <a:r>
              <a:rPr lang="en-GB" b="1" dirty="0"/>
              <a:t> and Authentication: </a:t>
            </a:r>
          </a:p>
          <a:p>
            <a:pPr lvl="1"/>
            <a:r>
              <a:rPr lang="en-GB" dirty="0"/>
              <a:t>Embedded Systems Authentication and Encryption Using Strong PUF </a:t>
            </a:r>
            <a:r>
              <a:rPr lang="en-GB" dirty="0" err="1"/>
              <a:t>Modeling</a:t>
            </a:r>
            <a:r>
              <a:rPr lang="en-GB" dirty="0"/>
              <a:t> - </a:t>
            </a:r>
            <a:r>
              <a:rPr lang="en-US" altLang="zh-CN" dirty="0"/>
              <a:t>Introducing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e</a:t>
            </a:r>
            <a:r>
              <a:rPr lang="en-GB" dirty="0" err="1"/>
              <a:t>mbedded</a:t>
            </a:r>
            <a:r>
              <a:rPr lang="en-GB" dirty="0"/>
              <a:t> devices face several security and performance limitations</a:t>
            </a:r>
            <a:r>
              <a:rPr lang="en-US" altLang="zh-CN" dirty="0"/>
              <a:t>.</a:t>
            </a:r>
            <a:r>
              <a:rPr lang="zh-CN" altLang="en-US" dirty="0"/>
              <a:t>  </a:t>
            </a:r>
            <a:r>
              <a:rPr lang="en-US" altLang="zh-CN" dirty="0"/>
              <a:t>(embedded</a:t>
            </a:r>
            <a:r>
              <a:rPr lang="zh-CN" altLang="en-US" dirty="0"/>
              <a:t> </a:t>
            </a:r>
            <a:r>
              <a:rPr lang="en-US" altLang="zh-CN" dirty="0"/>
              <a:t>encryption)</a:t>
            </a:r>
          </a:p>
          <a:p>
            <a:pPr lvl="1"/>
            <a:r>
              <a:rPr lang="en-GB" dirty="0"/>
              <a:t>ChaCha20-Poly1305 authenticated encryption for high-speed embedded IoT applications (related to MQTT protocol)</a:t>
            </a:r>
          </a:p>
          <a:p>
            <a:pPr lvl="1"/>
            <a:r>
              <a:rPr lang="en-GB" dirty="0"/>
              <a:t>Lightweight Internet of Things Device Authentication, Encryption, and Key Distribution Using End-to-End Neural Cryptosystems</a:t>
            </a:r>
          </a:p>
          <a:p>
            <a:pPr lvl="1"/>
            <a:endParaRPr lang="en-GB" dirty="0"/>
          </a:p>
          <a:p>
            <a:r>
              <a:rPr lang="en-GB" b="1" dirty="0"/>
              <a:t>Image Encryption: </a:t>
            </a:r>
          </a:p>
          <a:p>
            <a:pPr lvl="1"/>
            <a:r>
              <a:rPr lang="en-GB" dirty="0"/>
              <a:t>A Lightweight Image Encryption Algorithm Based on Secure Key Generation </a:t>
            </a:r>
            <a:r>
              <a:rPr lang="zh-CN" altLang="en-US" dirty="0"/>
              <a:t> </a:t>
            </a:r>
            <a:r>
              <a:rPr lang="en-US" altLang="zh-CN" dirty="0"/>
              <a:t>(based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AES)</a:t>
            </a:r>
            <a:endParaRPr lang="en-GB" dirty="0"/>
          </a:p>
          <a:p>
            <a:pPr lvl="1"/>
            <a:endParaRPr lang="en-GB" dirty="0"/>
          </a:p>
          <a:p>
            <a:r>
              <a:rPr lang="en-GB" b="1" dirty="0"/>
              <a:t>Transmission protocol</a:t>
            </a:r>
            <a:r>
              <a:rPr lang="en-US" altLang="zh-CN" b="1" dirty="0"/>
              <a:t>:</a:t>
            </a:r>
            <a:r>
              <a:rPr lang="zh-CN" altLang="en-US" b="1" dirty="0"/>
              <a:t> </a:t>
            </a:r>
            <a:r>
              <a:rPr lang="en-GB" dirty="0"/>
              <a:t>MQTT</a:t>
            </a:r>
            <a:r>
              <a:rPr lang="zh-CN" altLang="en-US" dirty="0"/>
              <a:t> </a:t>
            </a:r>
            <a:r>
              <a:rPr lang="en-US" altLang="zh-CN" dirty="0"/>
              <a:t>(classic protocol), what else?</a:t>
            </a:r>
            <a:endParaRPr lang="en-GB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619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7E6BD-FF49-36B7-3121-DB46BCCFF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Embedding transmission reduces raw-image exposure, but embeddings are still sensitive.</a:t>
            </a:r>
            <a:r>
              <a:rPr lang="zh-CN" altLang="en-US" dirty="0"/>
              <a:t> </a:t>
            </a:r>
            <a:r>
              <a:rPr lang="en-US" altLang="zh-CN" dirty="0"/>
              <a:t>(background)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F3752-85EC-FA56-49C2-25FBBD516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Understanding deep image representations by inverting them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Inverts image representations to reconstruct visual content</a:t>
            </a:r>
            <a:r>
              <a:rPr lang="en-US" altLang="zh-CN" dirty="0"/>
              <a:t>.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GB" dirty="0"/>
              <a:t>shown that, under white-box or partially known model settings, visual representations can be inverted to recover information about the original image.</a:t>
            </a:r>
          </a:p>
          <a:p>
            <a:endParaRPr lang="en-GB" dirty="0"/>
          </a:p>
          <a:p>
            <a:r>
              <a:rPr lang="en-GB" b="1" dirty="0"/>
              <a:t>Deep-BMI: Exploring Model Inversion Attacks in the Black-box Setting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Black-box model inversion can reconstruct semantically meaningful images without accessing target model parameters, although it usually requires repeated queries to the target model.</a:t>
            </a:r>
          </a:p>
          <a:p>
            <a:endParaRPr lang="en-GB" dirty="0"/>
          </a:p>
          <a:p>
            <a:r>
              <a:rPr lang="en-GB" b="1" dirty="0"/>
              <a:t>Deep Learning Model Inversion Attacks and </a:t>
            </a:r>
            <a:r>
              <a:rPr lang="en-GB" b="1" dirty="0" err="1"/>
              <a:t>Defenses</a:t>
            </a:r>
            <a:r>
              <a:rPr lang="en-GB" b="1" dirty="0"/>
              <a:t>: A Comprehensive Survey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how attackers can reconstruct private training data or sensitive information from deep learning models, and summarises existing </a:t>
            </a:r>
            <a:r>
              <a:rPr lang="en-GB" dirty="0" err="1"/>
              <a:t>defense</a:t>
            </a:r>
            <a:r>
              <a:rPr lang="en-GB" dirty="0"/>
              <a:t> methods.</a:t>
            </a:r>
            <a:br>
              <a:rPr lang="en-GB" dirty="0"/>
            </a:b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224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E8B61-A1B0-A574-297A-A4D576271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</a:t>
            </a:r>
            <a:r>
              <a:rPr lang="en-GB" dirty="0" err="1"/>
              <a:t>mbedding</a:t>
            </a:r>
            <a:r>
              <a:rPr lang="en-GB" dirty="0"/>
              <a:t> encryption and authentication combinations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649C6-2E5F-3C42-FBEB-C028BFCC9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A privacy preserving split learning framework with adaptive inference selection for IoT security</a:t>
            </a:r>
            <a:r>
              <a:rPr lang="zh-CN" altLang="en-US" b="1" dirty="0"/>
              <a:t> 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Split Learning, Gaussian noise-based DP, pruning, quantization, TensorFlow Lite, and adaptive model selection.</a:t>
            </a:r>
          </a:p>
          <a:p>
            <a:r>
              <a:rPr lang="en-GB" b="1" dirty="0"/>
              <a:t>A privacy-preserving multi-user retrieval system for multimodal artificial intelligence</a:t>
            </a:r>
          </a:p>
          <a:p>
            <a:pPr lvl="1"/>
            <a:r>
              <a:rPr lang="en-GB" dirty="0"/>
              <a:t>This paper shows that embedding transmission alone is not enough for privacy protection, so the authors combine embedding obfuscation, encryption, and secure key management for multimodal retrieval.</a:t>
            </a:r>
          </a:p>
          <a:p>
            <a:endParaRPr lang="en-GB" dirty="0"/>
          </a:p>
          <a:p>
            <a:br>
              <a:rPr lang="en-GB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872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DA0D3-0E46-EDD0-E7F8-496FC8B2B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Research</a:t>
            </a:r>
            <a:r>
              <a:rPr lang="zh-CN" altLang="en-US" dirty="0"/>
              <a:t> </a:t>
            </a:r>
            <a:r>
              <a:rPr lang="en-US" altLang="zh-CN" dirty="0"/>
              <a:t>Gap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basic idea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C8C4F-ADC7-91B2-BB5E-40885088B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b="1" dirty="0"/>
              <a:t>Evaluation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Existing secure transmission schemes may provide confidentiality and authentication, but their runtime overhead on edge devices remains an important factor for real-time image or embedding transmission.</a:t>
            </a:r>
          </a:p>
          <a:p>
            <a:r>
              <a:rPr lang="en-US" altLang="zh-CN" dirty="0"/>
              <a:t>Metrics</a:t>
            </a:r>
            <a:r>
              <a:rPr lang="zh-CN" altLang="en-US" dirty="0"/>
              <a:t>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r>
              <a:rPr lang="en-GB" dirty="0"/>
              <a:t>PU usage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memory usage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end-to-end latency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payload size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throughput.</a:t>
            </a:r>
          </a:p>
          <a:p>
            <a:r>
              <a:rPr lang="en-GB" dirty="0"/>
              <a:t>Other Metrics: encryption time, decryption time, key setup/exchange time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0400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3005</TotalTime>
  <Words>1170</Words>
  <Application>Microsoft Macintosh PowerPoint</Application>
  <PresentationFormat>Widescreen</PresentationFormat>
  <Paragraphs>123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Capstone Progress</vt:lpstr>
      <vt:lpstr>Simulation system</vt:lpstr>
      <vt:lpstr>Current Industry Practice 1</vt:lpstr>
      <vt:lpstr>Current Industry Practice 2</vt:lpstr>
      <vt:lpstr>Current Industry Practice 3</vt:lpstr>
      <vt:lpstr>Literature review  (basic idea)</vt:lpstr>
      <vt:lpstr>Image transmission protection methods are relevant background</vt:lpstr>
      <vt:lpstr>Embedding transmission reduces raw-image exposure, but embeddings are still sensitive. (background)</vt:lpstr>
      <vt:lpstr>Embedding encryption and authentication combinations</vt:lpstr>
      <vt:lpstr>Research Gap (basic idea)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耀泉 马</dc:creator>
  <cp:lastModifiedBy>耀泉 马</cp:lastModifiedBy>
  <cp:revision>2</cp:revision>
  <dcterms:created xsi:type="dcterms:W3CDTF">2026-05-18T11:21:01Z</dcterms:created>
  <dcterms:modified xsi:type="dcterms:W3CDTF">2026-05-22T13:40:47Z</dcterms:modified>
</cp:coreProperties>
</file>