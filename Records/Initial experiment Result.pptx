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64" r:id="rId3"/>
    <p:sldId id="257" r:id="rId4"/>
    <p:sldId id="258" r:id="rId5"/>
    <p:sldId id="265" r:id="rId6"/>
    <p:sldId id="268" r:id="rId7"/>
    <p:sldId id="266" r:id="rId8"/>
    <p:sldId id="269" r:id="rId9"/>
    <p:sldId id="267" r:id="rId10"/>
    <p:sldId id="270" r:id="rId11"/>
    <p:sldId id="271" r:id="rId12"/>
    <p:sldId id="272" r:id="rId13"/>
    <p:sldId id="273" r:id="rId14"/>
    <p:sldId id="261" r:id="rId15"/>
    <p:sldId id="274" r:id="rId16"/>
    <p:sldId id="275" r:id="rId17"/>
    <p:sldId id="276" r:id="rId18"/>
    <p:sldId id="277" r:id="rId19"/>
    <p:sldId id="278" r:id="rId20"/>
    <p:sldId id="280" r:id="rId21"/>
    <p:sldId id="286" r:id="rId22"/>
    <p:sldId id="282" r:id="rId23"/>
    <p:sldId id="284" r:id="rId24"/>
    <p:sldId id="285" r:id="rId25"/>
    <p:sldId id="28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A52113-AD75-A44D-9117-A960C4FB776B}" v="241" dt="2026-07-21T14:58:28.9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84"/>
    <p:restoredTop sz="74945"/>
  </p:normalViewPr>
  <p:slideViewPr>
    <p:cSldViewPr snapToGrid="0">
      <p:cViewPr varScale="1">
        <p:scale>
          <a:sx n="119" d="100"/>
          <a:sy n="119" d="100"/>
        </p:scale>
        <p:origin x="13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耀泉 马" userId="19e30af8d5659de2" providerId="LiveId" clId="{C3594856-CEDA-5129-B2AF-7962E3CA4CA3}"/>
    <pc:docChg chg="undo custSel addSld delSld modSld sldOrd">
      <pc:chgData name="耀泉 马" userId="19e30af8d5659de2" providerId="LiveId" clId="{C3594856-CEDA-5129-B2AF-7962E3CA4CA3}" dt="2026-07-21T15:53:10.576" v="7005" actId="20577"/>
      <pc:docMkLst>
        <pc:docMk/>
      </pc:docMkLst>
      <pc:sldChg chg="modSp mod">
        <pc:chgData name="耀泉 马" userId="19e30af8d5659de2" providerId="LiveId" clId="{C3594856-CEDA-5129-B2AF-7962E3CA4CA3}" dt="2026-07-14T15:02:28.400" v="6346" actId="113"/>
        <pc:sldMkLst>
          <pc:docMk/>
          <pc:sldMk cId="46466474" sldId="256"/>
        </pc:sldMkLst>
        <pc:spChg chg="mod">
          <ac:chgData name="耀泉 马" userId="19e30af8d5659de2" providerId="LiveId" clId="{C3594856-CEDA-5129-B2AF-7962E3CA4CA3}" dt="2026-07-06T12:36:34.999" v="549" actId="27636"/>
          <ac:spMkLst>
            <pc:docMk/>
            <pc:sldMk cId="46466474" sldId="256"/>
            <ac:spMk id="2" creationId="{7C242083-3667-FCF0-CDA8-01809AE9F55A}"/>
          </ac:spMkLst>
        </pc:spChg>
        <pc:spChg chg="mod">
          <ac:chgData name="耀泉 马" userId="19e30af8d5659de2" providerId="LiveId" clId="{C3594856-CEDA-5129-B2AF-7962E3CA4CA3}" dt="2026-07-14T15:02:28.400" v="6346" actId="113"/>
          <ac:spMkLst>
            <pc:docMk/>
            <pc:sldMk cId="46466474" sldId="256"/>
            <ac:spMk id="3" creationId="{B9D89D5C-9A33-CDDA-A70A-790326EB583B}"/>
          </ac:spMkLst>
        </pc:spChg>
      </pc:sldChg>
      <pc:sldChg chg="modSp mod ord">
        <pc:chgData name="耀泉 马" userId="19e30af8d5659de2" providerId="LiveId" clId="{C3594856-CEDA-5129-B2AF-7962E3CA4CA3}" dt="2026-07-07T06:03:45.496" v="2842"/>
        <pc:sldMkLst>
          <pc:docMk/>
          <pc:sldMk cId="4075704444" sldId="257"/>
        </pc:sldMkLst>
        <pc:graphicFrameChg chg="mod modGraphic">
          <ac:chgData name="耀泉 马" userId="19e30af8d5659de2" providerId="LiveId" clId="{C3594856-CEDA-5129-B2AF-7962E3CA4CA3}" dt="2026-07-07T06:03:45.496" v="2842"/>
          <ac:graphicFrameMkLst>
            <pc:docMk/>
            <pc:sldMk cId="4075704444" sldId="257"/>
            <ac:graphicFrameMk id="4" creationId="{C02EC1EC-9FF0-E0B7-692C-574FC8CEA821}"/>
          </ac:graphicFrameMkLst>
        </pc:graphicFrameChg>
      </pc:sldChg>
      <pc:sldChg chg="addSp delSp modSp mod ord">
        <pc:chgData name="耀泉 马" userId="19e30af8d5659de2" providerId="LiveId" clId="{C3594856-CEDA-5129-B2AF-7962E3CA4CA3}" dt="2026-07-07T06:04:15.654" v="2879" actId="20577"/>
        <pc:sldMkLst>
          <pc:docMk/>
          <pc:sldMk cId="35631109" sldId="258"/>
        </pc:sldMkLst>
        <pc:spChg chg="mod">
          <ac:chgData name="耀泉 马" userId="19e30af8d5659de2" providerId="LiveId" clId="{C3594856-CEDA-5129-B2AF-7962E3CA4CA3}" dt="2026-07-04T14:19:44.832" v="7" actId="20577"/>
          <ac:spMkLst>
            <pc:docMk/>
            <pc:sldMk cId="35631109" sldId="258"/>
            <ac:spMk id="2" creationId="{DE1BEF8D-5B9A-A461-B4B9-BE6B52756531}"/>
          </ac:spMkLst>
        </pc:spChg>
        <pc:spChg chg="mod">
          <ac:chgData name="耀泉 马" userId="19e30af8d5659de2" providerId="LiveId" clId="{C3594856-CEDA-5129-B2AF-7962E3CA4CA3}" dt="2026-07-07T06:04:15.654" v="2879" actId="20577"/>
          <ac:spMkLst>
            <pc:docMk/>
            <pc:sldMk cId="35631109" sldId="258"/>
            <ac:spMk id="3" creationId="{7308112B-78EA-B635-2E18-42DE708C5642}"/>
          </ac:spMkLst>
        </pc:spChg>
        <pc:spChg chg="add mod">
          <ac:chgData name="耀泉 马" userId="19e30af8d5659de2" providerId="LiveId" clId="{C3594856-CEDA-5129-B2AF-7962E3CA4CA3}" dt="2026-07-06T14:14:44.068" v="934" actId="1076"/>
          <ac:spMkLst>
            <pc:docMk/>
            <pc:sldMk cId="35631109" sldId="258"/>
            <ac:spMk id="4" creationId="{12239E8C-D8EE-2B21-9CB2-FB1E597D8FB7}"/>
          </ac:spMkLst>
        </pc:spChg>
        <pc:spChg chg="add mod">
          <ac:chgData name="耀泉 马" userId="19e30af8d5659de2" providerId="LiveId" clId="{C3594856-CEDA-5129-B2AF-7962E3CA4CA3}" dt="2026-07-06T14:15:02.780" v="966" actId="1038"/>
          <ac:spMkLst>
            <pc:docMk/>
            <pc:sldMk cId="35631109" sldId="258"/>
            <ac:spMk id="5" creationId="{D0E85236-7C36-AF79-4F95-200D02A74E16}"/>
          </ac:spMkLst>
        </pc:spChg>
        <pc:spChg chg="add mod">
          <ac:chgData name="耀泉 马" userId="19e30af8d5659de2" providerId="LiveId" clId="{C3594856-CEDA-5129-B2AF-7962E3CA4CA3}" dt="2026-07-06T14:20:34.760" v="1066" actId="1035"/>
          <ac:spMkLst>
            <pc:docMk/>
            <pc:sldMk cId="35631109" sldId="258"/>
            <ac:spMk id="7" creationId="{569B8972-F4B3-9E1C-4430-981EA905D146}"/>
          </ac:spMkLst>
        </pc:spChg>
        <pc:spChg chg="add mod">
          <ac:chgData name="耀泉 马" userId="19e30af8d5659de2" providerId="LiveId" clId="{C3594856-CEDA-5129-B2AF-7962E3CA4CA3}" dt="2026-07-06T15:49:13.824" v="2125" actId="1038"/>
          <ac:spMkLst>
            <pc:docMk/>
            <pc:sldMk cId="35631109" sldId="258"/>
            <ac:spMk id="8" creationId="{AF556C30-8722-4273-C5C6-F61CDC835ABC}"/>
          </ac:spMkLst>
        </pc:spChg>
        <pc:spChg chg="add mod">
          <ac:chgData name="耀泉 马" userId="19e30af8d5659de2" providerId="LiveId" clId="{C3594856-CEDA-5129-B2AF-7962E3CA4CA3}" dt="2026-07-06T14:15:28.150" v="971" actId="1076"/>
          <ac:spMkLst>
            <pc:docMk/>
            <pc:sldMk cId="35631109" sldId="258"/>
            <ac:spMk id="9" creationId="{78A8CBE9-8B46-90A3-6BA9-91A9B5BFD674}"/>
          </ac:spMkLst>
        </pc:spChg>
        <pc:spChg chg="add mod">
          <ac:chgData name="耀泉 马" userId="19e30af8d5659de2" providerId="LiveId" clId="{C3594856-CEDA-5129-B2AF-7962E3CA4CA3}" dt="2026-07-06T14:22:44.368" v="1082" actId="20577"/>
          <ac:spMkLst>
            <pc:docMk/>
            <pc:sldMk cId="35631109" sldId="258"/>
            <ac:spMk id="10" creationId="{6FC709C1-D3E0-3425-8645-D5811D63DA71}"/>
          </ac:spMkLst>
        </pc:spChg>
        <pc:spChg chg="add mod">
          <ac:chgData name="耀泉 马" userId="19e30af8d5659de2" providerId="LiveId" clId="{C3594856-CEDA-5129-B2AF-7962E3CA4CA3}" dt="2026-07-06T15:48:57.262" v="2120" actId="1035"/>
          <ac:spMkLst>
            <pc:docMk/>
            <pc:sldMk cId="35631109" sldId="258"/>
            <ac:spMk id="11" creationId="{8C0981B3-04A1-09DA-BAB5-4C1D711F7E34}"/>
          </ac:spMkLst>
        </pc:spChg>
        <pc:spChg chg="add mod">
          <ac:chgData name="耀泉 马" userId="19e30af8d5659de2" providerId="LiveId" clId="{C3594856-CEDA-5129-B2AF-7962E3CA4CA3}" dt="2026-07-06T15:49:02.992" v="2121" actId="1076"/>
          <ac:spMkLst>
            <pc:docMk/>
            <pc:sldMk cId="35631109" sldId="258"/>
            <ac:spMk id="12" creationId="{AF15392F-D543-55F4-1311-F5D1DF641C04}"/>
          </ac:spMkLst>
        </pc:spChg>
        <pc:spChg chg="add mod">
          <ac:chgData name="耀泉 马" userId="19e30af8d5659de2" providerId="LiveId" clId="{C3594856-CEDA-5129-B2AF-7962E3CA4CA3}" dt="2026-07-06T14:21:39.843" v="1073" actId="21"/>
          <ac:spMkLst>
            <pc:docMk/>
            <pc:sldMk cId="35631109" sldId="258"/>
            <ac:spMk id="13" creationId="{90ABF085-94B6-006B-E77C-025FE4DA7610}"/>
          </ac:spMkLst>
        </pc:spChg>
        <pc:spChg chg="add mod">
          <ac:chgData name="耀泉 马" userId="19e30af8d5659de2" providerId="LiveId" clId="{C3594856-CEDA-5129-B2AF-7962E3CA4CA3}" dt="2026-07-06T14:33:35.629" v="1257" actId="20577"/>
          <ac:spMkLst>
            <pc:docMk/>
            <pc:sldMk cId="35631109" sldId="258"/>
            <ac:spMk id="14" creationId="{6A681C7B-24C2-3FAC-53A3-1970569B4FBE}"/>
          </ac:spMkLst>
        </pc:spChg>
        <pc:spChg chg="add mod">
          <ac:chgData name="耀泉 马" userId="19e30af8d5659de2" providerId="LiveId" clId="{C3594856-CEDA-5129-B2AF-7962E3CA4CA3}" dt="2026-07-06T14:31:47.127" v="1252" actId="207"/>
          <ac:spMkLst>
            <pc:docMk/>
            <pc:sldMk cId="35631109" sldId="258"/>
            <ac:spMk id="16" creationId="{13F391ED-FA9A-15C2-E972-D961EDB46546}"/>
          </ac:spMkLst>
        </pc:spChg>
        <pc:spChg chg="add mod">
          <ac:chgData name="耀泉 马" userId="19e30af8d5659de2" providerId="LiveId" clId="{C3594856-CEDA-5129-B2AF-7962E3CA4CA3}" dt="2026-07-06T14:47:00.990" v="1515" actId="1036"/>
          <ac:spMkLst>
            <pc:docMk/>
            <pc:sldMk cId="35631109" sldId="258"/>
            <ac:spMk id="26" creationId="{583CDFCC-2E3C-6890-3666-71CB9CF639B9}"/>
          </ac:spMkLst>
        </pc:spChg>
        <pc:spChg chg="add mod">
          <ac:chgData name="耀泉 马" userId="19e30af8d5659de2" providerId="LiveId" clId="{C3594856-CEDA-5129-B2AF-7962E3CA4CA3}" dt="2026-07-06T14:47:00.990" v="1515" actId="1036"/>
          <ac:spMkLst>
            <pc:docMk/>
            <pc:sldMk cId="35631109" sldId="258"/>
            <ac:spMk id="27" creationId="{D1E9DF30-6B9C-E037-0CE0-4DB953788253}"/>
          </ac:spMkLst>
        </pc:spChg>
        <pc:spChg chg="add mod">
          <ac:chgData name="耀泉 马" userId="19e30af8d5659de2" providerId="LiveId" clId="{C3594856-CEDA-5129-B2AF-7962E3CA4CA3}" dt="2026-07-06T14:47:00.990" v="1515" actId="1036"/>
          <ac:spMkLst>
            <pc:docMk/>
            <pc:sldMk cId="35631109" sldId="258"/>
            <ac:spMk id="28" creationId="{A4591EA8-8662-0AAE-E784-A640267FA77D}"/>
          </ac:spMkLst>
        </pc:spChg>
        <pc:spChg chg="add mod">
          <ac:chgData name="耀泉 马" userId="19e30af8d5659de2" providerId="LiveId" clId="{C3594856-CEDA-5129-B2AF-7962E3CA4CA3}" dt="2026-07-06T14:47:00.990" v="1515" actId="1036"/>
          <ac:spMkLst>
            <pc:docMk/>
            <pc:sldMk cId="35631109" sldId="258"/>
            <ac:spMk id="29" creationId="{5B05EF8C-FCC8-62DB-C1EE-DA432BE13104}"/>
          </ac:spMkLst>
        </pc:spChg>
        <pc:spChg chg="add mod">
          <ac:chgData name="耀泉 马" userId="19e30af8d5659de2" providerId="LiveId" clId="{C3594856-CEDA-5129-B2AF-7962E3CA4CA3}" dt="2026-07-06T14:47:00.990" v="1515" actId="1036"/>
          <ac:spMkLst>
            <pc:docMk/>
            <pc:sldMk cId="35631109" sldId="258"/>
            <ac:spMk id="31" creationId="{B269ECA1-3868-F3A9-DE85-DD51A2962B9A}"/>
          </ac:spMkLst>
        </pc:spChg>
      </pc:sldChg>
      <pc:sldChg chg="addSp modSp new mod">
        <pc:chgData name="耀泉 马" userId="19e30af8d5659de2" providerId="LiveId" clId="{C3594856-CEDA-5129-B2AF-7962E3CA4CA3}" dt="2026-07-07T08:52:02.854" v="3213" actId="20577"/>
        <pc:sldMkLst>
          <pc:docMk/>
          <pc:sldMk cId="995147252" sldId="261"/>
        </pc:sldMkLst>
        <pc:spChg chg="mod">
          <ac:chgData name="耀泉 马" userId="19e30af8d5659de2" providerId="LiveId" clId="{C3594856-CEDA-5129-B2AF-7962E3CA4CA3}" dt="2026-07-07T08:52:02.854" v="3213" actId="20577"/>
          <ac:spMkLst>
            <pc:docMk/>
            <pc:sldMk cId="995147252" sldId="261"/>
            <ac:spMk id="2" creationId="{55C1FA44-6518-D491-231E-5C210026D9DD}"/>
          </ac:spMkLst>
        </pc:spChg>
        <pc:spChg chg="mod">
          <ac:chgData name="耀泉 马" userId="19e30af8d5659de2" providerId="LiveId" clId="{C3594856-CEDA-5129-B2AF-7962E3CA4CA3}" dt="2026-07-07T05:15:54.836" v="2659" actId="20577"/>
          <ac:spMkLst>
            <pc:docMk/>
            <pc:sldMk cId="995147252" sldId="261"/>
            <ac:spMk id="3" creationId="{D9C9F56C-6339-EAB7-E2B2-93D86532DF89}"/>
          </ac:spMkLst>
        </pc:spChg>
        <pc:spChg chg="add mod">
          <ac:chgData name="耀泉 马" userId="19e30af8d5659de2" providerId="LiveId" clId="{C3594856-CEDA-5129-B2AF-7962E3CA4CA3}" dt="2026-07-06T13:00:30.311" v="594" actId="14100"/>
          <ac:spMkLst>
            <pc:docMk/>
            <pc:sldMk cId="995147252" sldId="261"/>
            <ac:spMk id="4" creationId="{658CD96B-3D57-C90F-0289-2787945FF76C}"/>
          </ac:spMkLst>
        </pc:spChg>
        <pc:spChg chg="add mod">
          <ac:chgData name="耀泉 马" userId="19e30af8d5659de2" providerId="LiveId" clId="{C3594856-CEDA-5129-B2AF-7962E3CA4CA3}" dt="2026-07-06T13:00:32.879" v="595" actId="1076"/>
          <ac:spMkLst>
            <pc:docMk/>
            <pc:sldMk cId="995147252" sldId="261"/>
            <ac:spMk id="5" creationId="{F9EA4119-B15C-9896-4B50-A9E39BA50D81}"/>
          </ac:spMkLst>
        </pc:spChg>
      </pc:sldChg>
      <pc:sldChg chg="addSp delSp modSp new mod">
        <pc:chgData name="耀泉 马" userId="19e30af8d5659de2" providerId="LiveId" clId="{C3594856-CEDA-5129-B2AF-7962E3CA4CA3}" dt="2026-07-07T08:23:46.651" v="3131" actId="20577"/>
        <pc:sldMkLst>
          <pc:docMk/>
          <pc:sldMk cId="4098136001" sldId="264"/>
        </pc:sldMkLst>
        <pc:spChg chg="mod">
          <ac:chgData name="耀泉 马" userId="19e30af8d5659de2" providerId="LiveId" clId="{C3594856-CEDA-5129-B2AF-7962E3CA4CA3}" dt="2026-07-06T13:19:34.220" v="873" actId="27636"/>
          <ac:spMkLst>
            <pc:docMk/>
            <pc:sldMk cId="4098136001" sldId="264"/>
            <ac:spMk id="2" creationId="{6D056841-C9EB-B1C5-E51E-01418EEB1C48}"/>
          </ac:spMkLst>
        </pc:spChg>
        <pc:spChg chg="add mod">
          <ac:chgData name="耀泉 马" userId="19e30af8d5659de2" providerId="LiveId" clId="{C3594856-CEDA-5129-B2AF-7962E3CA4CA3}" dt="2026-07-07T05:20:34.158" v="2663"/>
          <ac:spMkLst>
            <pc:docMk/>
            <pc:sldMk cId="4098136001" sldId="264"/>
            <ac:spMk id="9" creationId="{65B5DB0D-49F0-8D60-F6D9-04E68885F5FF}"/>
          </ac:spMkLst>
        </pc:spChg>
        <pc:graphicFrameChg chg="add mod ord modGraphic">
          <ac:chgData name="耀泉 马" userId="19e30af8d5659de2" providerId="LiveId" clId="{C3594856-CEDA-5129-B2AF-7962E3CA4CA3}" dt="2026-07-07T08:23:46.651" v="3131" actId="20577"/>
          <ac:graphicFrameMkLst>
            <pc:docMk/>
            <pc:sldMk cId="4098136001" sldId="264"/>
            <ac:graphicFrameMk id="6" creationId="{61ABFF60-EC8A-3DEB-4C41-381E0DB5F554}"/>
          </ac:graphicFrameMkLst>
        </pc:graphicFrameChg>
      </pc:sldChg>
      <pc:sldChg chg="addSp delSp modSp new mod modNotesTx">
        <pc:chgData name="耀泉 马" userId="19e30af8d5659de2" providerId="LiveId" clId="{C3594856-CEDA-5129-B2AF-7962E3CA4CA3}" dt="2026-07-07T08:29:04.175" v="3138" actId="20577"/>
        <pc:sldMkLst>
          <pc:docMk/>
          <pc:sldMk cId="729314180" sldId="265"/>
        </pc:sldMkLst>
        <pc:spChg chg="mod">
          <ac:chgData name="耀泉 马" userId="19e30af8d5659de2" providerId="LiveId" clId="{C3594856-CEDA-5129-B2AF-7962E3CA4CA3}" dt="2026-07-06T15:42:47.308" v="1956" actId="20577"/>
          <ac:spMkLst>
            <pc:docMk/>
            <pc:sldMk cId="729314180" sldId="265"/>
            <ac:spMk id="2" creationId="{1E70FCC8-E417-02CA-FDB0-A68799994E02}"/>
          </ac:spMkLst>
        </pc:spChg>
        <pc:graphicFrameChg chg="add mod ord modGraphic">
          <ac:chgData name="耀泉 马" userId="19e30af8d5659de2" providerId="LiveId" clId="{C3594856-CEDA-5129-B2AF-7962E3CA4CA3}" dt="2026-07-07T08:27:44.537" v="3136" actId="20577"/>
          <ac:graphicFrameMkLst>
            <pc:docMk/>
            <pc:sldMk cId="729314180" sldId="265"/>
            <ac:graphicFrameMk id="4" creationId="{FDDD12B8-C530-2800-ADF7-22D0FE6F6619}"/>
          </ac:graphicFrameMkLst>
        </pc:graphicFrameChg>
      </pc:sldChg>
      <pc:sldChg chg="modSp add mod modNotesTx">
        <pc:chgData name="耀泉 马" userId="19e30af8d5659de2" providerId="LiveId" clId="{C3594856-CEDA-5129-B2AF-7962E3CA4CA3}" dt="2026-07-07T06:35:05.272" v="2976"/>
        <pc:sldMkLst>
          <pc:docMk/>
          <pc:sldMk cId="1369336720" sldId="266"/>
        </pc:sldMkLst>
        <pc:spChg chg="mod">
          <ac:chgData name="耀泉 马" userId="19e30af8d5659de2" providerId="LiveId" clId="{C3594856-CEDA-5129-B2AF-7962E3CA4CA3}" dt="2026-07-07T06:10:59.122" v="2890" actId="20577"/>
          <ac:spMkLst>
            <pc:docMk/>
            <pc:sldMk cId="1369336720" sldId="266"/>
            <ac:spMk id="2" creationId="{0AD31E1F-4DC1-E802-793B-E81DE612C316}"/>
          </ac:spMkLst>
        </pc:spChg>
        <pc:graphicFrameChg chg="mod modGraphic">
          <ac:chgData name="耀泉 马" userId="19e30af8d5659de2" providerId="LiveId" clId="{C3594856-CEDA-5129-B2AF-7962E3CA4CA3}" dt="2026-07-07T06:35:05.272" v="2976"/>
          <ac:graphicFrameMkLst>
            <pc:docMk/>
            <pc:sldMk cId="1369336720" sldId="266"/>
            <ac:graphicFrameMk id="4" creationId="{954E03B5-1DE7-31B9-E397-7DFA3548B25B}"/>
          </ac:graphicFrameMkLst>
        </pc:graphicFrameChg>
      </pc:sldChg>
      <pc:sldChg chg="addSp modSp new mod modNotesTx">
        <pc:chgData name="耀泉 马" userId="19e30af8d5659de2" providerId="LiveId" clId="{C3594856-CEDA-5129-B2AF-7962E3CA4CA3}" dt="2026-07-07T05:56:16.394" v="2838" actId="20577"/>
        <pc:sldMkLst>
          <pc:docMk/>
          <pc:sldMk cId="843060192" sldId="267"/>
        </pc:sldMkLst>
        <pc:spChg chg="mod">
          <ac:chgData name="耀泉 马" userId="19e30af8d5659de2" providerId="LiveId" clId="{C3594856-CEDA-5129-B2AF-7962E3CA4CA3}" dt="2026-07-06T15:48:36.556" v="2118" actId="20577"/>
          <ac:spMkLst>
            <pc:docMk/>
            <pc:sldMk cId="843060192" sldId="267"/>
            <ac:spMk id="2" creationId="{D032DAA5-9D7D-7892-E745-7D2A1F30F67D}"/>
          </ac:spMkLst>
        </pc:spChg>
        <pc:spChg chg="mod">
          <ac:chgData name="耀泉 马" userId="19e30af8d5659de2" providerId="LiveId" clId="{C3594856-CEDA-5129-B2AF-7962E3CA4CA3}" dt="2026-07-07T05:56:16.394" v="2838" actId="20577"/>
          <ac:spMkLst>
            <pc:docMk/>
            <pc:sldMk cId="843060192" sldId="267"/>
            <ac:spMk id="3" creationId="{BFE19E9F-E266-AE5D-5498-A94CB0208C7F}"/>
          </ac:spMkLst>
        </pc:spChg>
        <pc:graphicFrameChg chg="add mod modGraphic">
          <ac:chgData name="耀泉 马" userId="19e30af8d5659de2" providerId="LiveId" clId="{C3594856-CEDA-5129-B2AF-7962E3CA4CA3}" dt="2026-07-07T05:48:33.520" v="2809" actId="20577"/>
          <ac:graphicFrameMkLst>
            <pc:docMk/>
            <pc:sldMk cId="843060192" sldId="267"/>
            <ac:graphicFrameMk id="4" creationId="{ECFA8844-C062-716A-2D62-AB5CFBEC373B}"/>
          </ac:graphicFrameMkLst>
        </pc:graphicFrameChg>
      </pc:sldChg>
      <pc:sldChg chg="addSp delSp modSp add mod modNotesTx">
        <pc:chgData name="耀泉 马" userId="19e30af8d5659de2" providerId="LiveId" clId="{C3594856-CEDA-5129-B2AF-7962E3CA4CA3}" dt="2026-07-07T08:36:55.055" v="3202" actId="20577"/>
        <pc:sldMkLst>
          <pc:docMk/>
          <pc:sldMk cId="3984260910" sldId="268"/>
        </pc:sldMkLst>
        <pc:spChg chg="mod">
          <ac:chgData name="耀泉 马" userId="19e30af8d5659de2" providerId="LiveId" clId="{C3594856-CEDA-5129-B2AF-7962E3CA4CA3}" dt="2026-07-06T22:26:55.045" v="2367" actId="1076"/>
          <ac:spMkLst>
            <pc:docMk/>
            <pc:sldMk cId="3984260910" sldId="268"/>
            <ac:spMk id="2" creationId="{9E298A0A-2212-5E0B-7D74-5E4496CAC571}"/>
          </ac:spMkLst>
        </pc:spChg>
        <pc:spChg chg="add mod">
          <ac:chgData name="耀泉 马" userId="19e30af8d5659de2" providerId="LiveId" clId="{C3594856-CEDA-5129-B2AF-7962E3CA4CA3}" dt="2026-07-06T22:26:59.681" v="2368" actId="1076"/>
          <ac:spMkLst>
            <pc:docMk/>
            <pc:sldMk cId="3984260910" sldId="268"/>
            <ac:spMk id="5" creationId="{52370DF7-7FB4-BD29-799E-82A6E08A8E69}"/>
          </ac:spMkLst>
        </pc:spChg>
        <pc:spChg chg="add mod">
          <ac:chgData name="耀泉 马" userId="19e30af8d5659de2" providerId="LiveId" clId="{C3594856-CEDA-5129-B2AF-7962E3CA4CA3}" dt="2026-07-06T22:27:07.430" v="2371" actId="14100"/>
          <ac:spMkLst>
            <pc:docMk/>
            <pc:sldMk cId="3984260910" sldId="268"/>
            <ac:spMk id="8" creationId="{8B9D4C5E-C541-4AE9-F56D-19CD2E0A10FC}"/>
          </ac:spMkLst>
        </pc:spChg>
        <pc:graphicFrameChg chg="add mod modGraphic">
          <ac:chgData name="耀泉 马" userId="19e30af8d5659de2" providerId="LiveId" clId="{C3594856-CEDA-5129-B2AF-7962E3CA4CA3}" dt="2026-07-07T08:30:34.832" v="3193" actId="20577"/>
          <ac:graphicFrameMkLst>
            <pc:docMk/>
            <pc:sldMk cId="3984260910" sldId="268"/>
            <ac:graphicFrameMk id="6" creationId="{5D6D8649-71AD-C152-F318-84BAC9D00373}"/>
          </ac:graphicFrameMkLst>
        </pc:graphicFrameChg>
      </pc:sldChg>
      <pc:sldChg chg="addSp delSp modSp new mod modNotesTx">
        <pc:chgData name="耀泉 马" userId="19e30af8d5659de2" providerId="LiveId" clId="{C3594856-CEDA-5129-B2AF-7962E3CA4CA3}" dt="2026-07-07T08:40:51.260" v="3212" actId="20577"/>
        <pc:sldMkLst>
          <pc:docMk/>
          <pc:sldMk cId="3987597944" sldId="269"/>
        </pc:sldMkLst>
        <pc:spChg chg="mod">
          <ac:chgData name="耀泉 马" userId="19e30af8d5659de2" providerId="LiveId" clId="{C3594856-CEDA-5129-B2AF-7962E3CA4CA3}" dt="2026-07-07T06:11:02.570" v="2895" actId="20577"/>
          <ac:spMkLst>
            <pc:docMk/>
            <pc:sldMk cId="3987597944" sldId="269"/>
            <ac:spMk id="2" creationId="{2DF856F0-5759-69BE-CE0E-C7C075FD5D08}"/>
          </ac:spMkLst>
        </pc:spChg>
        <pc:graphicFrameChg chg="add mod modGraphic">
          <ac:chgData name="耀泉 马" userId="19e30af8d5659de2" providerId="LiveId" clId="{C3594856-CEDA-5129-B2AF-7962E3CA4CA3}" dt="2026-07-06T22:53:03.514" v="2655"/>
          <ac:graphicFrameMkLst>
            <pc:docMk/>
            <pc:sldMk cId="3987597944" sldId="269"/>
            <ac:graphicFrameMk id="4" creationId="{10467F80-6FE1-AAA0-5934-C061F3323B4C}"/>
          </ac:graphicFrameMkLst>
        </pc:graphicFrameChg>
      </pc:sldChg>
      <pc:sldChg chg="addSp delSp modSp new mod setBg">
        <pc:chgData name="耀泉 马" userId="19e30af8d5659de2" providerId="LiveId" clId="{C3594856-CEDA-5129-B2AF-7962E3CA4CA3}" dt="2026-07-07T06:53:28.869" v="2985" actId="26606"/>
        <pc:sldMkLst>
          <pc:docMk/>
          <pc:sldMk cId="3182603622" sldId="270"/>
        </pc:sldMkLst>
        <pc:graphicFrameChg chg="add mod">
          <ac:chgData name="耀泉 马" userId="19e30af8d5659de2" providerId="LiveId" clId="{C3594856-CEDA-5129-B2AF-7962E3CA4CA3}" dt="2026-07-07T06:53:28.869" v="2985" actId="26606"/>
          <ac:graphicFrameMkLst>
            <pc:docMk/>
            <pc:sldMk cId="3182603622" sldId="270"/>
            <ac:graphicFrameMk id="4" creationId="{DDB80BFE-289F-ADE3-54D2-93B8F7E142B9}"/>
          </ac:graphicFrameMkLst>
        </pc:graphicFrameChg>
      </pc:sldChg>
      <pc:sldChg chg="addSp delSp modSp new mod setBg">
        <pc:chgData name="耀泉 马" userId="19e30af8d5659de2" providerId="LiveId" clId="{C3594856-CEDA-5129-B2AF-7962E3CA4CA3}" dt="2026-07-07T07:06:55.074" v="3107" actId="20577"/>
        <pc:sldMkLst>
          <pc:docMk/>
          <pc:sldMk cId="3029205287" sldId="271"/>
        </pc:sldMkLst>
        <pc:spChg chg="mod">
          <ac:chgData name="耀泉 马" userId="19e30af8d5659de2" providerId="LiveId" clId="{C3594856-CEDA-5129-B2AF-7962E3CA4CA3}" dt="2026-07-07T07:06:55.074" v="3107" actId="20577"/>
          <ac:spMkLst>
            <pc:docMk/>
            <pc:sldMk cId="3029205287" sldId="271"/>
            <ac:spMk id="2" creationId="{FE310519-7DB3-8B15-FDE6-83961ADC5753}"/>
          </ac:spMkLst>
        </pc:spChg>
        <pc:spChg chg="add">
          <ac:chgData name="耀泉 马" userId="19e30af8d5659de2" providerId="LiveId" clId="{C3594856-CEDA-5129-B2AF-7962E3CA4CA3}" dt="2026-07-07T07:04:27.283" v="3088" actId="26606"/>
          <ac:spMkLst>
            <pc:docMk/>
            <pc:sldMk cId="3029205287" sldId="271"/>
            <ac:spMk id="18" creationId="{BCED4D40-4B67-4331-AC48-79B82B4A47D8}"/>
          </ac:spMkLst>
        </pc:spChg>
        <pc:spChg chg="add">
          <ac:chgData name="耀泉 马" userId="19e30af8d5659de2" providerId="LiveId" clId="{C3594856-CEDA-5129-B2AF-7962E3CA4CA3}" dt="2026-07-07T07:04:27.283" v="3088" actId="26606"/>
          <ac:spMkLst>
            <pc:docMk/>
            <pc:sldMk cId="3029205287" sldId="271"/>
            <ac:spMk id="20" creationId="{670CEDEF-4F34-412E-84EE-329C1E936AF5}"/>
          </ac:spMkLst>
        </pc:spChg>
        <pc:graphicFrameChg chg="add mod modGraphic">
          <ac:chgData name="耀泉 马" userId="19e30af8d5659de2" providerId="LiveId" clId="{C3594856-CEDA-5129-B2AF-7962E3CA4CA3}" dt="2026-07-07T07:04:27.283" v="3088" actId="26606"/>
          <ac:graphicFrameMkLst>
            <pc:docMk/>
            <pc:sldMk cId="3029205287" sldId="271"/>
            <ac:graphicFrameMk id="4" creationId="{E0EF4C3C-51A6-7822-E573-4247207C59FD}"/>
          </ac:graphicFrameMkLst>
        </pc:graphicFrameChg>
      </pc:sldChg>
      <pc:sldChg chg="addSp delSp modSp new mod setBg">
        <pc:chgData name="耀泉 马" userId="19e30af8d5659de2" providerId="LiveId" clId="{C3594856-CEDA-5129-B2AF-7962E3CA4CA3}" dt="2026-07-07T07:06:50.998" v="3106" actId="20577"/>
        <pc:sldMkLst>
          <pc:docMk/>
          <pc:sldMk cId="2973739318" sldId="272"/>
        </pc:sldMkLst>
        <pc:spChg chg="mod">
          <ac:chgData name="耀泉 马" userId="19e30af8d5659de2" providerId="LiveId" clId="{C3594856-CEDA-5129-B2AF-7962E3CA4CA3}" dt="2026-07-07T07:06:50.998" v="3106" actId="20577"/>
          <ac:spMkLst>
            <pc:docMk/>
            <pc:sldMk cId="2973739318" sldId="272"/>
            <ac:spMk id="2" creationId="{3B97CE99-2782-252B-1086-278D83E2CC13}"/>
          </ac:spMkLst>
        </pc:spChg>
        <pc:spChg chg="add">
          <ac:chgData name="耀泉 马" userId="19e30af8d5659de2" providerId="LiveId" clId="{C3594856-CEDA-5129-B2AF-7962E3CA4CA3}" dt="2026-07-07T07:04:23.080" v="3087" actId="26606"/>
          <ac:spMkLst>
            <pc:docMk/>
            <pc:sldMk cId="2973739318" sldId="272"/>
            <ac:spMk id="9" creationId="{BCED4D40-4B67-4331-AC48-79B82B4A47D8}"/>
          </ac:spMkLst>
        </pc:spChg>
        <pc:spChg chg="add">
          <ac:chgData name="耀泉 马" userId="19e30af8d5659de2" providerId="LiveId" clId="{C3594856-CEDA-5129-B2AF-7962E3CA4CA3}" dt="2026-07-07T07:04:23.080" v="3087" actId="26606"/>
          <ac:spMkLst>
            <pc:docMk/>
            <pc:sldMk cId="2973739318" sldId="272"/>
            <ac:spMk id="11" creationId="{670CEDEF-4F34-412E-84EE-329C1E936AF5}"/>
          </ac:spMkLst>
        </pc:spChg>
        <pc:graphicFrameChg chg="add mod modGraphic">
          <ac:chgData name="耀泉 马" userId="19e30af8d5659de2" providerId="LiveId" clId="{C3594856-CEDA-5129-B2AF-7962E3CA4CA3}" dt="2026-07-07T07:04:23.080" v="3087" actId="26606"/>
          <ac:graphicFrameMkLst>
            <pc:docMk/>
            <pc:sldMk cId="2973739318" sldId="272"/>
            <ac:graphicFrameMk id="4" creationId="{4D855A2E-63D8-8C9A-A2DB-6D57E155C7D2}"/>
          </ac:graphicFrameMkLst>
        </pc:graphicFrameChg>
      </pc:sldChg>
      <pc:sldChg chg="addSp delSp modSp new mod setBg modNotesTx">
        <pc:chgData name="耀泉 马" userId="19e30af8d5659de2" providerId="LiveId" clId="{C3594856-CEDA-5129-B2AF-7962E3CA4CA3}" dt="2026-07-07T07:09:37.086" v="3115" actId="20577"/>
        <pc:sldMkLst>
          <pc:docMk/>
          <pc:sldMk cId="1406360658" sldId="273"/>
        </pc:sldMkLst>
        <pc:spChg chg="mod">
          <ac:chgData name="耀泉 马" userId="19e30af8d5659de2" providerId="LiveId" clId="{C3594856-CEDA-5129-B2AF-7962E3CA4CA3}" dt="2026-07-07T07:07:04.097" v="3109" actId="1076"/>
          <ac:spMkLst>
            <pc:docMk/>
            <pc:sldMk cId="1406360658" sldId="273"/>
            <ac:spMk id="2" creationId="{D6B8BFDA-D843-0DBC-ABF2-72EB79FCAB53}"/>
          </ac:spMkLst>
        </pc:spChg>
        <pc:spChg chg="add">
          <ac:chgData name="耀泉 马" userId="19e30af8d5659de2" providerId="LiveId" clId="{C3594856-CEDA-5129-B2AF-7962E3CA4CA3}" dt="2026-07-07T07:06:29.441" v="3104" actId="26606"/>
          <ac:spMkLst>
            <pc:docMk/>
            <pc:sldMk cId="1406360658" sldId="273"/>
            <ac:spMk id="22" creationId="{C59AB4C8-9178-4F7A-8404-6890510B5917}"/>
          </ac:spMkLst>
        </pc:spChg>
        <pc:spChg chg="add">
          <ac:chgData name="耀泉 马" userId="19e30af8d5659de2" providerId="LiveId" clId="{C3594856-CEDA-5129-B2AF-7962E3CA4CA3}" dt="2026-07-07T07:06:29.441" v="3104" actId="26606"/>
          <ac:spMkLst>
            <pc:docMk/>
            <pc:sldMk cId="1406360658" sldId="273"/>
            <ac:spMk id="24" creationId="{4CFDFB37-4BC7-42C6-915D-A6609139BFE7}"/>
          </ac:spMkLst>
        </pc:spChg>
        <pc:graphicFrameChg chg="add mod modGraphic">
          <ac:chgData name="耀泉 马" userId="19e30af8d5659de2" providerId="LiveId" clId="{C3594856-CEDA-5129-B2AF-7962E3CA4CA3}" dt="2026-07-07T07:07:24.012" v="3114" actId="1076"/>
          <ac:graphicFrameMkLst>
            <pc:docMk/>
            <pc:sldMk cId="1406360658" sldId="273"/>
            <ac:graphicFrameMk id="4" creationId="{AEC26B20-D474-CDC3-2CF4-FC146E61D01C}"/>
          </ac:graphicFrameMkLst>
        </pc:graphicFrameChg>
      </pc:sldChg>
      <pc:sldChg chg="add">
        <pc:chgData name="耀泉 马" userId="19e30af8d5659de2" providerId="LiveId" clId="{C3594856-CEDA-5129-B2AF-7962E3CA4CA3}" dt="2026-07-13T19:08:09.881" v="3419"/>
        <pc:sldMkLst>
          <pc:docMk/>
          <pc:sldMk cId="3308869977" sldId="274"/>
        </pc:sldMkLst>
      </pc:sldChg>
      <pc:sldChg chg="addSp delSp modSp add mod">
        <pc:chgData name="耀泉 马" userId="19e30af8d5659de2" providerId="LiveId" clId="{C3594856-CEDA-5129-B2AF-7962E3CA4CA3}" dt="2026-07-13T19:50:41.115" v="3749" actId="255"/>
        <pc:sldMkLst>
          <pc:docMk/>
          <pc:sldMk cId="211951644" sldId="275"/>
        </pc:sldMkLst>
        <pc:spChg chg="mod">
          <ac:chgData name="耀泉 马" userId="19e30af8d5659de2" providerId="LiveId" clId="{C3594856-CEDA-5129-B2AF-7962E3CA4CA3}" dt="2026-07-13T19:47:58.319" v="3602" actId="20577"/>
          <ac:spMkLst>
            <pc:docMk/>
            <pc:sldMk cId="211951644" sldId="275"/>
            <ac:spMk id="2" creationId="{8DA456CD-C7F4-AF8F-4ECD-C598B4BE52E5}"/>
          </ac:spMkLst>
        </pc:spChg>
        <pc:spChg chg="add mod">
          <ac:chgData name="耀泉 马" userId="19e30af8d5659de2" providerId="LiveId" clId="{C3594856-CEDA-5129-B2AF-7962E3CA4CA3}" dt="2026-07-13T19:42:22.379" v="3545" actId="1076"/>
          <ac:spMkLst>
            <pc:docMk/>
            <pc:sldMk cId="211951644" sldId="275"/>
            <ac:spMk id="4" creationId="{F09D3B43-04F7-AA12-C85F-50EA5DD2B225}"/>
          </ac:spMkLst>
        </pc:spChg>
        <pc:spChg chg="add mod">
          <ac:chgData name="耀泉 马" userId="19e30af8d5659de2" providerId="LiveId" clId="{C3594856-CEDA-5129-B2AF-7962E3CA4CA3}" dt="2026-07-13T19:42:22.379" v="3545" actId="1076"/>
          <ac:spMkLst>
            <pc:docMk/>
            <pc:sldMk cId="211951644" sldId="275"/>
            <ac:spMk id="5" creationId="{6B21A11F-BC19-0AFF-963C-45BBC5BB910A}"/>
          </ac:spMkLst>
        </pc:spChg>
        <pc:spChg chg="add mod">
          <ac:chgData name="耀泉 马" userId="19e30af8d5659de2" providerId="LiveId" clId="{C3594856-CEDA-5129-B2AF-7962E3CA4CA3}" dt="2026-07-13T19:42:22.379" v="3545" actId="1076"/>
          <ac:spMkLst>
            <pc:docMk/>
            <pc:sldMk cId="211951644" sldId="275"/>
            <ac:spMk id="8" creationId="{EF9AB384-EA17-F2BC-EFBA-45CEFD80D41F}"/>
          </ac:spMkLst>
        </pc:spChg>
        <pc:spChg chg="add mod">
          <ac:chgData name="耀泉 马" userId="19e30af8d5659de2" providerId="LiveId" clId="{C3594856-CEDA-5129-B2AF-7962E3CA4CA3}" dt="2026-07-13T19:42:22.379" v="3545" actId="1076"/>
          <ac:spMkLst>
            <pc:docMk/>
            <pc:sldMk cId="211951644" sldId="275"/>
            <ac:spMk id="17" creationId="{FD5AA771-4334-E207-2F97-82F1D10C0CE7}"/>
          </ac:spMkLst>
        </pc:spChg>
        <pc:spChg chg="add mod">
          <ac:chgData name="耀泉 马" userId="19e30af8d5659de2" providerId="LiveId" clId="{C3594856-CEDA-5129-B2AF-7962E3CA4CA3}" dt="2026-07-13T19:42:22.379" v="3545" actId="1076"/>
          <ac:spMkLst>
            <pc:docMk/>
            <pc:sldMk cId="211951644" sldId="275"/>
            <ac:spMk id="18" creationId="{8EC62EA4-D46F-A180-A61F-33A6B17C1CDA}"/>
          </ac:spMkLst>
        </pc:spChg>
        <pc:spChg chg="add mod">
          <ac:chgData name="耀泉 马" userId="19e30af8d5659de2" providerId="LiveId" clId="{C3594856-CEDA-5129-B2AF-7962E3CA4CA3}" dt="2026-07-13T19:42:22.379" v="3545" actId="1076"/>
          <ac:spMkLst>
            <pc:docMk/>
            <pc:sldMk cId="211951644" sldId="275"/>
            <ac:spMk id="19" creationId="{AAB79CF3-5F53-F5D5-9845-871A9BE96599}"/>
          </ac:spMkLst>
        </pc:spChg>
        <pc:spChg chg="add mod">
          <ac:chgData name="耀泉 马" userId="19e30af8d5659de2" providerId="LiveId" clId="{C3594856-CEDA-5129-B2AF-7962E3CA4CA3}" dt="2026-07-13T19:50:41.115" v="3749" actId="255"/>
          <ac:spMkLst>
            <pc:docMk/>
            <pc:sldMk cId="211951644" sldId="275"/>
            <ac:spMk id="20" creationId="{818E4094-E178-2188-6B8E-550F8BD4A9B5}"/>
          </ac:spMkLst>
        </pc:spChg>
      </pc:sldChg>
      <pc:sldChg chg="addSp delSp modSp add mod">
        <pc:chgData name="耀泉 马" userId="19e30af8d5659de2" providerId="LiveId" clId="{C3594856-CEDA-5129-B2AF-7962E3CA4CA3}" dt="2026-07-21T15:32:59.900" v="6996" actId="20577"/>
        <pc:sldMkLst>
          <pc:docMk/>
          <pc:sldMk cId="1902362840" sldId="276"/>
        </pc:sldMkLst>
        <pc:spChg chg="mod">
          <ac:chgData name="耀泉 马" userId="19e30af8d5659de2" providerId="LiveId" clId="{C3594856-CEDA-5129-B2AF-7962E3CA4CA3}" dt="2026-07-13T20:59:31.925" v="3994"/>
          <ac:spMkLst>
            <pc:docMk/>
            <pc:sldMk cId="1902362840" sldId="276"/>
            <ac:spMk id="2" creationId="{D11148C6-7523-8D37-B9E3-EB7CD34E958A}"/>
          </ac:spMkLst>
        </pc:spChg>
        <pc:spChg chg="add mod">
          <ac:chgData name="耀泉 马" userId="19e30af8d5659de2" providerId="LiveId" clId="{C3594856-CEDA-5129-B2AF-7962E3CA4CA3}" dt="2026-07-14T15:27:57.187" v="6520" actId="20577"/>
          <ac:spMkLst>
            <pc:docMk/>
            <pc:sldMk cId="1902362840" sldId="276"/>
            <ac:spMk id="10" creationId="{E54E97B9-9B19-B04E-C501-3396F8164F45}"/>
          </ac:spMkLst>
        </pc:spChg>
        <pc:graphicFrameChg chg="add mod ord modGraphic">
          <ac:chgData name="耀泉 马" userId="19e30af8d5659de2" providerId="LiveId" clId="{C3594856-CEDA-5129-B2AF-7962E3CA4CA3}" dt="2026-07-21T15:32:59.900" v="6996" actId="20577"/>
          <ac:graphicFrameMkLst>
            <pc:docMk/>
            <pc:sldMk cId="1902362840" sldId="276"/>
            <ac:graphicFrameMk id="7" creationId="{F9B04201-DC9C-DFA1-2115-DA2C098352D4}"/>
          </ac:graphicFrameMkLst>
        </pc:graphicFrameChg>
      </pc:sldChg>
      <pc:sldChg chg="modSp add mod modNotesTx">
        <pc:chgData name="耀泉 马" userId="19e30af8d5659de2" providerId="LiveId" clId="{C3594856-CEDA-5129-B2AF-7962E3CA4CA3}" dt="2026-07-14T08:20:02.751" v="4232" actId="20577"/>
        <pc:sldMkLst>
          <pc:docMk/>
          <pc:sldMk cId="3569115401" sldId="277"/>
        </pc:sldMkLst>
        <pc:spChg chg="mod">
          <ac:chgData name="耀泉 马" userId="19e30af8d5659de2" providerId="LiveId" clId="{C3594856-CEDA-5129-B2AF-7962E3CA4CA3}" dt="2026-07-14T08:16:03.871" v="4163"/>
          <ac:spMkLst>
            <pc:docMk/>
            <pc:sldMk cId="3569115401" sldId="277"/>
            <ac:spMk id="2" creationId="{4508F06B-76BB-98EA-5066-B1F17D044321}"/>
          </ac:spMkLst>
        </pc:spChg>
        <pc:spChg chg="mod">
          <ac:chgData name="耀泉 马" userId="19e30af8d5659de2" providerId="LiveId" clId="{C3594856-CEDA-5129-B2AF-7962E3CA4CA3}" dt="2026-07-14T08:18:07.912" v="4225" actId="113"/>
          <ac:spMkLst>
            <pc:docMk/>
            <pc:sldMk cId="3569115401" sldId="277"/>
            <ac:spMk id="10" creationId="{2782DDC2-3454-2C0E-4160-3EA12671CE87}"/>
          </ac:spMkLst>
        </pc:spChg>
        <pc:graphicFrameChg chg="mod modGraphic">
          <ac:chgData name="耀泉 马" userId="19e30af8d5659de2" providerId="LiveId" clId="{C3594856-CEDA-5129-B2AF-7962E3CA4CA3}" dt="2026-07-14T08:20:02.751" v="4232" actId="20577"/>
          <ac:graphicFrameMkLst>
            <pc:docMk/>
            <pc:sldMk cId="3569115401" sldId="277"/>
            <ac:graphicFrameMk id="7" creationId="{9AE4D1DA-C2BF-AF62-6479-1326E9C900A6}"/>
          </ac:graphicFrameMkLst>
        </pc:graphicFrameChg>
      </pc:sldChg>
      <pc:sldChg chg="addSp delSp modSp new mod">
        <pc:chgData name="耀泉 马" userId="19e30af8d5659de2" providerId="LiveId" clId="{C3594856-CEDA-5129-B2AF-7962E3CA4CA3}" dt="2026-07-14T08:28:21.916" v="4367" actId="1076"/>
        <pc:sldMkLst>
          <pc:docMk/>
          <pc:sldMk cId="1153154203" sldId="278"/>
        </pc:sldMkLst>
        <pc:spChg chg="mod">
          <ac:chgData name="耀泉 马" userId="19e30af8d5659de2" providerId="LiveId" clId="{C3594856-CEDA-5129-B2AF-7962E3CA4CA3}" dt="2026-07-14T08:21:51.532" v="4236" actId="27636"/>
          <ac:spMkLst>
            <pc:docMk/>
            <pc:sldMk cId="1153154203" sldId="278"/>
            <ac:spMk id="2" creationId="{8E14B777-5CE5-0CCD-FCB6-D2CE0D8EFE59}"/>
          </ac:spMkLst>
        </pc:spChg>
        <pc:spChg chg="add mod">
          <ac:chgData name="耀泉 马" userId="19e30af8d5659de2" providerId="LiveId" clId="{C3594856-CEDA-5129-B2AF-7962E3CA4CA3}" dt="2026-07-14T08:28:21.916" v="4367" actId="1076"/>
          <ac:spMkLst>
            <pc:docMk/>
            <pc:sldMk cId="1153154203" sldId="278"/>
            <ac:spMk id="5" creationId="{854D5AB6-5554-AA65-B260-AA01CAB70968}"/>
          </ac:spMkLst>
        </pc:spChg>
        <pc:graphicFrameChg chg="add mod ord modGraphic">
          <ac:chgData name="耀泉 马" userId="19e30af8d5659de2" providerId="LiveId" clId="{C3594856-CEDA-5129-B2AF-7962E3CA4CA3}" dt="2026-07-14T08:28:21.916" v="4367" actId="1076"/>
          <ac:graphicFrameMkLst>
            <pc:docMk/>
            <pc:sldMk cId="1153154203" sldId="278"/>
            <ac:graphicFrameMk id="4" creationId="{3C9C272F-6B61-5CED-59DF-B0F03E460CA5}"/>
          </ac:graphicFrameMkLst>
        </pc:graphicFrameChg>
      </pc:sldChg>
      <pc:sldChg chg="modSp add mod">
        <pc:chgData name="耀泉 马" userId="19e30af8d5659de2" providerId="LiveId" clId="{C3594856-CEDA-5129-B2AF-7962E3CA4CA3}" dt="2026-07-14T13:07:09.301" v="5574" actId="207"/>
        <pc:sldMkLst>
          <pc:docMk/>
          <pc:sldMk cId="2295956662" sldId="280"/>
        </pc:sldMkLst>
        <pc:spChg chg="mod">
          <ac:chgData name="耀泉 马" userId="19e30af8d5659de2" providerId="LiveId" clId="{C3594856-CEDA-5129-B2AF-7962E3CA4CA3}" dt="2026-07-14T09:44:56.073" v="5128" actId="20577"/>
          <ac:spMkLst>
            <pc:docMk/>
            <pc:sldMk cId="2295956662" sldId="280"/>
            <ac:spMk id="2" creationId="{3FFDBD42-7200-B2AB-5CCE-0FDA77E99B8D}"/>
          </ac:spMkLst>
        </pc:spChg>
        <pc:spChg chg="mod">
          <ac:chgData name="耀泉 马" userId="19e30af8d5659de2" providerId="LiveId" clId="{C3594856-CEDA-5129-B2AF-7962E3CA4CA3}" dt="2026-07-14T13:06:46.473" v="5567" actId="1076"/>
          <ac:spMkLst>
            <pc:docMk/>
            <pc:sldMk cId="2295956662" sldId="280"/>
            <ac:spMk id="6" creationId="{0FF83E2A-7C68-54DE-B160-A2ED748F8B53}"/>
          </ac:spMkLst>
        </pc:spChg>
        <pc:spChg chg="mod">
          <ac:chgData name="耀泉 马" userId="19e30af8d5659de2" providerId="LiveId" clId="{C3594856-CEDA-5129-B2AF-7962E3CA4CA3}" dt="2026-07-14T13:07:09.301" v="5574" actId="207"/>
          <ac:spMkLst>
            <pc:docMk/>
            <pc:sldMk cId="2295956662" sldId="280"/>
            <ac:spMk id="7" creationId="{5437312F-9822-4016-0C0E-4FC88E5A6129}"/>
          </ac:spMkLst>
        </pc:spChg>
        <pc:graphicFrameChg chg="mod">
          <ac:chgData name="耀泉 马" userId="19e30af8d5659de2" providerId="LiveId" clId="{C3594856-CEDA-5129-B2AF-7962E3CA4CA3}" dt="2026-07-14T09:37:46.339" v="5116" actId="1076"/>
          <ac:graphicFrameMkLst>
            <pc:docMk/>
            <pc:sldMk cId="2295956662" sldId="280"/>
            <ac:graphicFrameMk id="4" creationId="{5EEF5B49-0B54-A282-0F5F-AF9D79D04AC3}"/>
          </ac:graphicFrameMkLst>
        </pc:graphicFrameChg>
      </pc:sldChg>
      <pc:sldChg chg="modSp add mod">
        <pc:chgData name="耀泉 马" userId="19e30af8d5659de2" providerId="LiveId" clId="{C3594856-CEDA-5129-B2AF-7962E3CA4CA3}" dt="2026-07-14T13:13:48.783" v="5958" actId="20577"/>
        <pc:sldMkLst>
          <pc:docMk/>
          <pc:sldMk cId="1724624362" sldId="282"/>
        </pc:sldMkLst>
        <pc:spChg chg="mod">
          <ac:chgData name="耀泉 马" userId="19e30af8d5659de2" providerId="LiveId" clId="{C3594856-CEDA-5129-B2AF-7962E3CA4CA3}" dt="2026-07-14T13:13:48.783" v="5958" actId="20577"/>
          <ac:spMkLst>
            <pc:docMk/>
            <pc:sldMk cId="1724624362" sldId="282"/>
            <ac:spMk id="2" creationId="{5F34850A-79F2-A6E3-48D1-B01CDFA35D24}"/>
          </ac:spMkLst>
        </pc:spChg>
        <pc:graphicFrameChg chg="mod modGraphic">
          <ac:chgData name="耀泉 马" userId="19e30af8d5659de2" providerId="LiveId" clId="{C3594856-CEDA-5129-B2AF-7962E3CA4CA3}" dt="2026-07-14T12:12:52.594" v="5326"/>
          <ac:graphicFrameMkLst>
            <pc:docMk/>
            <pc:sldMk cId="1724624362" sldId="282"/>
            <ac:graphicFrameMk id="10" creationId="{EAC0C4C5-BB83-2835-3ACC-3FACC66EFC6E}"/>
          </ac:graphicFrameMkLst>
        </pc:graphicFrameChg>
      </pc:sldChg>
      <pc:sldChg chg="addSp delSp modSp add mod">
        <pc:chgData name="耀泉 马" userId="19e30af8d5659de2" providerId="LiveId" clId="{C3594856-CEDA-5129-B2AF-7962E3CA4CA3}" dt="2026-07-14T13:13:45.440" v="5954" actId="20577"/>
        <pc:sldMkLst>
          <pc:docMk/>
          <pc:sldMk cId="1206957868" sldId="284"/>
        </pc:sldMkLst>
        <pc:spChg chg="mod">
          <ac:chgData name="耀泉 马" userId="19e30af8d5659de2" providerId="LiveId" clId="{C3594856-CEDA-5129-B2AF-7962E3CA4CA3}" dt="2026-07-14T13:13:45.440" v="5954" actId="20577"/>
          <ac:spMkLst>
            <pc:docMk/>
            <pc:sldMk cId="1206957868" sldId="284"/>
            <ac:spMk id="2" creationId="{79049FFC-C865-C239-D28E-C52D2B741C40}"/>
          </ac:spMkLst>
        </pc:spChg>
        <pc:spChg chg="add mod">
          <ac:chgData name="耀泉 马" userId="19e30af8d5659de2" providerId="LiveId" clId="{C3594856-CEDA-5129-B2AF-7962E3CA4CA3}" dt="2026-07-14T12:32:34.538" v="5538" actId="207"/>
          <ac:spMkLst>
            <pc:docMk/>
            <pc:sldMk cId="1206957868" sldId="284"/>
            <ac:spMk id="7" creationId="{5548FEC0-4B20-E6F5-0355-400A6A3EE212}"/>
          </ac:spMkLst>
        </pc:spChg>
        <pc:graphicFrameChg chg="add mod ord modGraphic">
          <ac:chgData name="耀泉 马" userId="19e30af8d5659de2" providerId="LiveId" clId="{C3594856-CEDA-5129-B2AF-7962E3CA4CA3}" dt="2026-07-14T12:27:24.414" v="5512" actId="1076"/>
          <ac:graphicFrameMkLst>
            <pc:docMk/>
            <pc:sldMk cId="1206957868" sldId="284"/>
            <ac:graphicFrameMk id="6" creationId="{A8853277-54F8-F7FD-3911-02BDAAD61906}"/>
          </ac:graphicFrameMkLst>
        </pc:graphicFrameChg>
      </pc:sldChg>
      <pc:sldChg chg="addSp delSp modSp add mod">
        <pc:chgData name="耀泉 马" userId="19e30af8d5659de2" providerId="LiveId" clId="{C3594856-CEDA-5129-B2AF-7962E3CA4CA3}" dt="2026-07-14T14:00:46.376" v="6296" actId="1076"/>
        <pc:sldMkLst>
          <pc:docMk/>
          <pc:sldMk cId="1696916202" sldId="285"/>
        </pc:sldMkLst>
        <pc:spChg chg="mod">
          <ac:chgData name="耀泉 马" userId="19e30af8d5659de2" providerId="LiveId" clId="{C3594856-CEDA-5129-B2AF-7962E3CA4CA3}" dt="2026-07-14T13:59:30.571" v="6284" actId="27636"/>
          <ac:spMkLst>
            <pc:docMk/>
            <pc:sldMk cId="1696916202" sldId="285"/>
            <ac:spMk id="2" creationId="{B0ADC4F9-2455-C5FA-294C-03DF991C15F5}"/>
          </ac:spMkLst>
        </pc:spChg>
        <pc:spChg chg="mod">
          <ac:chgData name="耀泉 马" userId="19e30af8d5659de2" providerId="LiveId" clId="{C3594856-CEDA-5129-B2AF-7962E3CA4CA3}" dt="2026-07-14T13:15:35.236" v="5961" actId="20577"/>
          <ac:spMkLst>
            <pc:docMk/>
            <pc:sldMk cId="1696916202" sldId="285"/>
            <ac:spMk id="7" creationId="{F59E775D-1005-D65D-954B-C79D7C759849}"/>
          </ac:spMkLst>
        </pc:spChg>
        <pc:spChg chg="add mod">
          <ac:chgData name="耀泉 马" userId="19e30af8d5659de2" providerId="LiveId" clId="{C3594856-CEDA-5129-B2AF-7962E3CA4CA3}" dt="2026-07-14T13:54:21.497" v="6260" actId="20577"/>
          <ac:spMkLst>
            <pc:docMk/>
            <pc:sldMk cId="1696916202" sldId="285"/>
            <ac:spMk id="14" creationId="{D45A383D-E512-1FE8-48E1-8FA102A4E480}"/>
          </ac:spMkLst>
        </pc:spChg>
        <pc:spChg chg="add mod">
          <ac:chgData name="耀泉 马" userId="19e30af8d5659de2" providerId="LiveId" clId="{C3594856-CEDA-5129-B2AF-7962E3CA4CA3}" dt="2026-07-14T13:59:18.312" v="6280" actId="207"/>
          <ac:spMkLst>
            <pc:docMk/>
            <pc:sldMk cId="1696916202" sldId="285"/>
            <ac:spMk id="16" creationId="{93B46C9D-E260-2EFB-C07A-9E2DF89FF9F4}"/>
          </ac:spMkLst>
        </pc:spChg>
        <pc:spChg chg="add mod">
          <ac:chgData name="耀泉 马" userId="19e30af8d5659de2" providerId="LiveId" clId="{C3594856-CEDA-5129-B2AF-7962E3CA4CA3}" dt="2026-07-14T13:59:52.104" v="6288" actId="14100"/>
          <ac:spMkLst>
            <pc:docMk/>
            <pc:sldMk cId="1696916202" sldId="285"/>
            <ac:spMk id="18" creationId="{80DA7CCB-390E-2F3C-DF7D-57CB36497849}"/>
          </ac:spMkLst>
        </pc:spChg>
        <pc:spChg chg="add mod">
          <ac:chgData name="耀泉 马" userId="19e30af8d5659de2" providerId="LiveId" clId="{C3594856-CEDA-5129-B2AF-7962E3CA4CA3}" dt="2026-07-14T14:00:46.376" v="6296" actId="1076"/>
          <ac:spMkLst>
            <pc:docMk/>
            <pc:sldMk cId="1696916202" sldId="285"/>
            <ac:spMk id="19" creationId="{5AD177FC-AA4B-067A-0FBF-8931A465CC0F}"/>
          </ac:spMkLst>
        </pc:spChg>
        <pc:graphicFrameChg chg="add mod ord modGraphic">
          <ac:chgData name="耀泉 马" userId="19e30af8d5659de2" providerId="LiveId" clId="{C3594856-CEDA-5129-B2AF-7962E3CA4CA3}" dt="2026-07-14T13:57:12.412" v="6274" actId="1076"/>
          <ac:graphicFrameMkLst>
            <pc:docMk/>
            <pc:sldMk cId="1696916202" sldId="285"/>
            <ac:graphicFrameMk id="5" creationId="{9CCB1254-C9EF-0805-3B3C-121C5080A25C}"/>
          </ac:graphicFrameMkLst>
        </pc:graphicFrameChg>
      </pc:sldChg>
      <pc:sldChg chg="modSp new mod">
        <pc:chgData name="耀泉 马" userId="19e30af8d5659de2" providerId="LiveId" clId="{C3594856-CEDA-5129-B2AF-7962E3CA4CA3}" dt="2026-07-14T13:13:26.865" v="5948" actId="20577"/>
        <pc:sldMkLst>
          <pc:docMk/>
          <pc:sldMk cId="1114094049" sldId="286"/>
        </pc:sldMkLst>
        <pc:spChg chg="mod">
          <ac:chgData name="耀泉 马" userId="19e30af8d5659de2" providerId="LiveId" clId="{C3594856-CEDA-5129-B2AF-7962E3CA4CA3}" dt="2026-07-14T13:13:26.865" v="5948" actId="20577"/>
          <ac:spMkLst>
            <pc:docMk/>
            <pc:sldMk cId="1114094049" sldId="286"/>
            <ac:spMk id="2" creationId="{0E88FDC7-3545-9B75-5908-B8B4DD480DF5}"/>
          </ac:spMkLst>
        </pc:spChg>
        <pc:spChg chg="mod">
          <ac:chgData name="耀泉 马" userId="19e30af8d5659de2" providerId="LiveId" clId="{C3594856-CEDA-5129-B2AF-7962E3CA4CA3}" dt="2026-07-14T13:13:19.819" v="5947" actId="12"/>
          <ac:spMkLst>
            <pc:docMk/>
            <pc:sldMk cId="1114094049" sldId="286"/>
            <ac:spMk id="3" creationId="{78148556-AE8F-8E01-68C9-D68E61DB2A29}"/>
          </ac:spMkLst>
        </pc:spChg>
      </pc:sldChg>
      <pc:sldChg chg="modSp new mod modNotesTx">
        <pc:chgData name="耀泉 马" userId="19e30af8d5659de2" providerId="LiveId" clId="{C3594856-CEDA-5129-B2AF-7962E3CA4CA3}" dt="2026-07-21T15:53:10.576" v="7005" actId="20577"/>
        <pc:sldMkLst>
          <pc:docMk/>
          <pc:sldMk cId="650267645" sldId="287"/>
        </pc:sldMkLst>
        <pc:spChg chg="mod">
          <ac:chgData name="耀泉 马" userId="19e30af8d5659de2" providerId="LiveId" clId="{C3594856-CEDA-5129-B2AF-7962E3CA4CA3}" dt="2026-07-14T14:59:58.803" v="6298"/>
          <ac:spMkLst>
            <pc:docMk/>
            <pc:sldMk cId="650267645" sldId="287"/>
            <ac:spMk id="2" creationId="{494EC17A-CF62-99FE-491F-6B612FD1B6BA}"/>
          </ac:spMkLst>
        </pc:spChg>
        <pc:spChg chg="mod">
          <ac:chgData name="耀泉 马" userId="19e30af8d5659de2" providerId="LiveId" clId="{C3594856-CEDA-5129-B2AF-7962E3CA4CA3}" dt="2026-07-21T14:58:53.795" v="6941" actId="113"/>
          <ac:spMkLst>
            <pc:docMk/>
            <pc:sldMk cId="650267645" sldId="287"/>
            <ac:spMk id="3" creationId="{C867FC8E-CA6B-06CC-6987-EAD39E62BC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DEB800-E523-5842-ADA5-667D03D4DDAE}" type="datetimeFigureOut">
              <a:rPr lang="en-US" smtClean="0"/>
              <a:t>7/21/26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DADF14-3A71-7E41-BFB5-61D3ACF40C49}" type="slidenum">
              <a:rPr lang="en-US" smtClean="0"/>
              <a:t>‹#›</a:t>
            </a:fld>
            <a:endParaRPr lang="en-US"/>
          </a:p>
        </p:txBody>
      </p:sp>
    </p:spTree>
    <p:extLst>
      <p:ext uri="{BB962C8B-B14F-4D97-AF65-F5344CB8AC3E}">
        <p14:creationId xmlns:p14="http://schemas.microsoft.com/office/powerpoint/2010/main" val="2981083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experimental matrix.</a:t>
            </a:r>
            <a:br>
              <a:rPr lang="en-GB" dirty="0"/>
            </a:br>
            <a:r>
              <a:rPr lang="en-GB" dirty="0"/>
              <a:t>I designed the evaluation around three dimensions for comparison.</a:t>
            </a:r>
            <a:br>
              <a:rPr lang="en-GB" dirty="0"/>
            </a:br>
            <a:r>
              <a:rPr lang="en-GB" dirty="0"/>
              <a:t>First, I compare local inference with split inference, to measure the basic cost of splitting the </a:t>
            </a:r>
            <a:r>
              <a:rPr lang="en-GB" dirty="0" err="1"/>
              <a:t>nanoVLM</a:t>
            </a:r>
            <a:r>
              <a:rPr lang="en-GB" dirty="0"/>
              <a:t> model between edge and cloud.</a:t>
            </a:r>
            <a:br>
              <a:rPr lang="en-GB" dirty="0"/>
            </a:br>
            <a:r>
              <a:rPr lang="en-GB" dirty="0"/>
              <a:t>Second, I compare different transport protocols, from HTTP/HTTPS baseline to HTTPS with AES-GCM and ChaCha20, to evaluate the overhead of encrypted embedding transmission.</a:t>
            </a:r>
            <a:br>
              <a:rPr lang="en-GB" dirty="0"/>
            </a:br>
            <a:r>
              <a:rPr lang="en-GB" dirty="0"/>
              <a:t>Third, I compare a normal VM with an Intel TDX confidential VM, to measure the additional cost of trusted execution on the cloud side.</a:t>
            </a:r>
            <a:br>
              <a:rPr lang="en-GB" dirty="0"/>
            </a:br>
            <a:r>
              <a:rPr lang="en-GB" dirty="0"/>
              <a:t>The idea is to add security mechanisms step by step, so that I can understand which part contributes most to the latency and CPU overhead.</a:t>
            </a:r>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2</a:t>
            </a:fld>
            <a:endParaRPr lang="en-US"/>
          </a:p>
        </p:txBody>
      </p:sp>
    </p:spTree>
    <p:extLst>
      <p:ext uri="{BB962C8B-B14F-4D97-AF65-F5344CB8AC3E}">
        <p14:creationId xmlns:p14="http://schemas.microsoft.com/office/powerpoint/2010/main" val="4276836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design isolates the cost of each protection layer: transport encryption is measured against the HTTP baseline, while TDX overhead is measured by comparing normal VM and Confidential VM under the same encrypted transport setting.</a:t>
            </a:r>
          </a:p>
          <a:p>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3</a:t>
            </a:fld>
            <a:endParaRPr lang="en-US"/>
          </a:p>
        </p:txBody>
      </p:sp>
    </p:spTree>
    <p:extLst>
      <p:ext uri="{BB962C8B-B14F-4D97-AF65-F5344CB8AC3E}">
        <p14:creationId xmlns:p14="http://schemas.microsoft.com/office/powerpoint/2010/main" val="917014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plan to report both CPU time and CPU utilization. CPU time measures the total CPU work consumed by each inference stage, using process-level user plus system time from </a:t>
            </a:r>
            <a:r>
              <a:rPr lang="en-GB" sz="1200" kern="1200" dirty="0" err="1">
                <a:solidFill>
                  <a:schemeClr val="tx1"/>
                </a:solidFill>
                <a:latin typeface="+mn-lt"/>
                <a:ea typeface="+mn-ea"/>
                <a:cs typeface="+mn-cs"/>
              </a:rPr>
              <a:t>psutil</a:t>
            </a:r>
            <a:r>
              <a:rPr lang="en-GB" dirty="0"/>
              <a:t>. CPU utilization measures how heavily the CPU is occupied during the run, for example average and peak utilization. Together, they show both computational cost and resource pressure.</a:t>
            </a:r>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4</a:t>
            </a:fld>
            <a:endParaRPr lang="en-US"/>
          </a:p>
        </p:txBody>
      </p:sp>
    </p:spTree>
    <p:extLst>
      <p:ext uri="{BB962C8B-B14F-4D97-AF65-F5344CB8AC3E}">
        <p14:creationId xmlns:p14="http://schemas.microsoft.com/office/powerpoint/2010/main" val="1992688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explains how I define latency for each inference mode.</a:t>
            </a:r>
            <a:br>
              <a:rPr lang="en-GB" dirty="0"/>
            </a:br>
            <a:r>
              <a:rPr lang="en-GB" dirty="0"/>
              <a:t>For local VLM inference, the total latency includes two stages: visual embedding extraction on the edge side, and text generation on the same local machine.</a:t>
            </a:r>
            <a:br>
              <a:rPr lang="en-GB" dirty="0"/>
            </a:br>
            <a:r>
              <a:rPr lang="en-GB" dirty="0"/>
              <a:t>For split inference, the edge side still computes the visual embeddings, but the embeddings are then transferred to the cloud. </a:t>
            </a:r>
          </a:p>
          <a:p>
            <a:endParaRPr lang="en-GB" dirty="0"/>
          </a:p>
          <a:p>
            <a:r>
              <a:rPr lang="en-GB" dirty="0"/>
              <a:t>So the total latency includes edge embedding latency, embedding transfer latency, and cloud text generation latency.</a:t>
            </a:r>
            <a:endParaRPr lang="en-US" dirty="0"/>
          </a:p>
          <a:p>
            <a:endParaRPr lang="en-GB" dirty="0"/>
          </a:p>
          <a:p>
            <a:r>
              <a:rPr lang="en-GB" dirty="0"/>
              <a:t>For local VLM inference, the latency includes two parts: visual embedding extraction on the edge side and local text generation.</a:t>
            </a:r>
            <a:br>
              <a:rPr lang="en-GB" dirty="0"/>
            </a:br>
            <a:r>
              <a:rPr lang="en-GB" dirty="0"/>
              <a:t>For split inference, the visual embedding is still computed at the edge, but it is then transferred to the cloud. Therefore, the latency includes edge embedding latency, embedding transfer latency, and cloud text generation latency.</a:t>
            </a:r>
            <a:br>
              <a:rPr lang="en-GB" dirty="0"/>
            </a:br>
            <a:r>
              <a:rPr lang="en-GB" dirty="0"/>
              <a:t>For secure split inference, the structure is the same, but the transfer stage uses encrypted transmission, so I call it encrypted embedding transfer latency.</a:t>
            </a:r>
            <a:br>
              <a:rPr lang="en-GB" dirty="0"/>
            </a:br>
            <a:r>
              <a:rPr lang="en-GB" dirty="0"/>
              <a:t>Finally, when TDX is added, the cloud text generation is executed inside the confidential VM, so this part becomes TDX cloud text generation latency.</a:t>
            </a:r>
            <a:br>
              <a:rPr lang="en-GB" dirty="0"/>
            </a:br>
            <a:r>
              <a:rPr lang="en-GB" dirty="0"/>
              <a:t>This decomposition helps identify whether the overhead comes from edge computation, network transfer, encrypted transport, or cloud-side trusted execution.</a:t>
            </a:r>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5</a:t>
            </a:fld>
            <a:endParaRPr lang="en-US"/>
          </a:p>
        </p:txBody>
      </p:sp>
    </p:spTree>
    <p:extLst>
      <p:ext uri="{BB962C8B-B14F-4D97-AF65-F5344CB8AC3E}">
        <p14:creationId xmlns:p14="http://schemas.microsoft.com/office/powerpoint/2010/main" val="2977275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table breaks down latency into three parts: edge embedding time, network overhead, and cloud inference time.</a:t>
            </a:r>
          </a:p>
          <a:p>
            <a:endParaRPr lang="en-GB" dirty="0"/>
          </a:p>
          <a:p>
            <a:r>
              <a:rPr lang="en-GB" dirty="0"/>
              <a:t>The edge embedding time is very stable across all settings, around 18.7 to 19 seconds, so the edge-side computation is not affected much by the transport protocol or the cloud type.</a:t>
            </a:r>
            <a:br>
              <a:rPr lang="en-GB" dirty="0"/>
            </a:br>
            <a:endParaRPr lang="en-GB" dirty="0"/>
          </a:p>
          <a:p>
            <a:r>
              <a:rPr lang="en-GB" dirty="0"/>
              <a:t>For network overhead, HTTP is around 4 milliseconds, while HTTPS with AES-GCM and ChaCha20 is around 20 milliseconds.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With hardware acceleration, AES achieves comparable performance to ChaCha20, and no meaningful performance difference is observed in this experiment.</a:t>
            </a:r>
          </a:p>
          <a:p>
            <a:endParaRPr lang="en-GB" dirty="0"/>
          </a:p>
          <a:p>
            <a:endParaRPr lang="en-GB" dirty="0"/>
          </a:p>
          <a:p>
            <a:r>
              <a:rPr lang="en-GB" dirty="0"/>
              <a:t>The main difference appears in cloud inference. On the normal VM, cloud inference is around 14.8 to 15.0 seconds. On the confidential VM, it increases to around 16.5 seconds. This is roughly an 11% increase.</a:t>
            </a:r>
            <a:br>
              <a:rPr lang="en-GB" dirty="0"/>
            </a:b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However, the additional latency is around 2 seconds, which is still within an acceptable range for this experimental setting.</a:t>
            </a:r>
          </a:p>
          <a:p>
            <a:endParaRPr lang="en-GB" dirty="0"/>
          </a:p>
        </p:txBody>
      </p:sp>
      <p:sp>
        <p:nvSpPr>
          <p:cNvPr id="4" name="Slide Number Placeholder 3"/>
          <p:cNvSpPr>
            <a:spLocks noGrp="1"/>
          </p:cNvSpPr>
          <p:nvPr>
            <p:ph type="sldNum" sz="quarter" idx="5"/>
          </p:nvPr>
        </p:nvSpPr>
        <p:spPr/>
        <p:txBody>
          <a:bodyPr/>
          <a:lstStyle/>
          <a:p>
            <a:fld id="{77DADF14-3A71-7E41-BFB5-61D3ACF40C49}" type="slidenum">
              <a:rPr lang="en-US" smtClean="0"/>
              <a:t>6</a:t>
            </a:fld>
            <a:endParaRPr lang="en-US"/>
          </a:p>
        </p:txBody>
      </p:sp>
    </p:spTree>
    <p:extLst>
      <p:ext uri="{BB962C8B-B14F-4D97-AF65-F5344CB8AC3E}">
        <p14:creationId xmlns:p14="http://schemas.microsoft.com/office/powerpoint/2010/main" val="1333872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defines the CPU time metric.</a:t>
            </a:r>
            <a:br>
              <a:rPr lang="en-GB" dirty="0"/>
            </a:br>
            <a:r>
              <a:rPr lang="en-GB" dirty="0"/>
              <a:t>Here, I am not measuring CPU utilisation percentage. Instead, I measure process-level CPU time, using the Python </a:t>
            </a:r>
            <a:r>
              <a:rPr lang="en-GB" sz="1200" kern="1200" dirty="0" err="1">
                <a:solidFill>
                  <a:schemeClr val="tx1"/>
                </a:solidFill>
                <a:latin typeface="+mn-lt"/>
                <a:ea typeface="+mn-ea"/>
                <a:cs typeface="+mn-cs"/>
              </a:rPr>
              <a:t>psutil</a:t>
            </a:r>
            <a:r>
              <a:rPr lang="en-GB" dirty="0"/>
              <a:t> library.</a:t>
            </a:r>
          </a:p>
          <a:p>
            <a:endParaRPr lang="en-GB" dirty="0"/>
          </a:p>
          <a:p>
            <a:r>
              <a:rPr lang="en-GB" dirty="0"/>
              <a:t>For local inference, the CPU time includes edge embedding computation and local text generation.</a:t>
            </a:r>
            <a:br>
              <a:rPr lang="en-GB" dirty="0"/>
            </a:br>
            <a:endParaRPr lang="en-GB" dirty="0"/>
          </a:p>
          <a:p>
            <a:r>
              <a:rPr lang="en-GB" dirty="0"/>
              <a:t>For split inference, I additionally measure the transfer-related CPU time.</a:t>
            </a:r>
          </a:p>
          <a:p>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7</a:t>
            </a:fld>
            <a:endParaRPr lang="en-US"/>
          </a:p>
        </p:txBody>
      </p:sp>
    </p:spTree>
    <p:extLst>
      <p:ext uri="{BB962C8B-B14F-4D97-AF65-F5344CB8AC3E}">
        <p14:creationId xmlns:p14="http://schemas.microsoft.com/office/powerpoint/2010/main" val="4292446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table shows that the main CPU time</a:t>
            </a:r>
            <a:r>
              <a:rPr lang="zh-CN" altLang="en-US" dirty="0"/>
              <a:t> </a:t>
            </a:r>
            <a:r>
              <a:rPr lang="en-GB" dirty="0"/>
              <a:t>overhead does not come from encrypted transport.</a:t>
            </a:r>
          </a:p>
          <a:p>
            <a:endParaRPr lang="en-GB" dirty="0"/>
          </a:p>
          <a:p>
            <a:r>
              <a:rPr lang="en-GB" dirty="0"/>
              <a:t>The edge embedding CPU time stays almost unchanged across all configurations, and the transfer CPU time is only at the millisecond level. </a:t>
            </a:r>
          </a:p>
          <a:p>
            <a:endParaRPr lang="en-GB" dirty="0"/>
          </a:p>
          <a:p>
            <a:r>
              <a:rPr lang="en-GB" dirty="0"/>
              <a:t>The major difference appears on the cloud side: when using the confidential VM, cloud CPU time increases by around 11% compared with the normal VM. </a:t>
            </a:r>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8</a:t>
            </a:fld>
            <a:endParaRPr lang="en-US"/>
          </a:p>
        </p:txBody>
      </p:sp>
    </p:spTree>
    <p:extLst>
      <p:ext uri="{BB962C8B-B14F-4D97-AF65-F5344CB8AC3E}">
        <p14:creationId xmlns:p14="http://schemas.microsoft.com/office/powerpoint/2010/main" val="2751090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throughput results show that Intel TDX introduces a moderate but consistent performance cost. Across all transport modes, the Confidential VM processes about 4.5-4.9% fewer images per minute than the Normal VM. </a:t>
            </a:r>
          </a:p>
          <a:p>
            <a:endParaRPr lang="en-GB" dirty="0"/>
          </a:p>
          <a:p>
            <a:r>
              <a:rPr lang="en-GB" dirty="0"/>
              <a:t>To better understand the cloud-side slowdown, </a:t>
            </a:r>
            <a:r>
              <a:rPr lang="en-GB" sz="1200" kern="1200" dirty="0">
                <a:solidFill>
                  <a:schemeClr val="tx1"/>
                </a:solidFill>
                <a:latin typeface="+mn-lt"/>
                <a:ea typeface="+mn-ea"/>
                <a:cs typeface="+mn-cs"/>
              </a:rPr>
              <a:t>perf bench all</a:t>
            </a:r>
            <a:r>
              <a:rPr lang="en-GB" dirty="0"/>
              <a:t> was used to compare the normal VM and the Intel TDX confidential VM across scheduler, memory, </a:t>
            </a:r>
            <a:r>
              <a:rPr lang="en-GB" dirty="0" err="1"/>
              <a:t>syscall</a:t>
            </a:r>
            <a:r>
              <a:rPr lang="en-GB" dirty="0"/>
              <a:t>, and kernel-level microbenchmarks. This provides supporting evidence for whether the observed inference overhead is related to system-level virtualisation and memory-management costs.</a:t>
            </a:r>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9</a:t>
            </a:fld>
            <a:endParaRPr lang="en-US"/>
          </a:p>
        </p:txBody>
      </p:sp>
    </p:spTree>
    <p:extLst>
      <p:ext uri="{BB962C8B-B14F-4D97-AF65-F5344CB8AC3E}">
        <p14:creationId xmlns:p14="http://schemas.microsoft.com/office/powerpoint/2010/main" val="3745084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 compared the normal VM and the TDX VM using an environment-check script. The OS version, kernel version, vCPU count, CPU family/model, CPU topology, Python version, pip package list, OpenSSL, and GCC are aligned. The main expected difference is that the TDX VM exposes </a:t>
            </a:r>
            <a:r>
              <a:rPr lang="en-GB" sz="1200" kern="1200" dirty="0" err="1">
                <a:solidFill>
                  <a:schemeClr val="tx1"/>
                </a:solidFill>
                <a:latin typeface="+mn-lt"/>
                <a:ea typeface="+mn-ea"/>
                <a:cs typeface="+mn-cs"/>
              </a:rPr>
              <a:t>tdx_guest</a:t>
            </a:r>
            <a:r>
              <a:rPr lang="en-GB" dirty="0"/>
              <a:t> and the kernel log confirms Intel TDX confidential virtualization. One limitation is that the TDX VM reports slightly less available memory, likely due to confidential VM overhead or reserved memory. Therefore, the environments are closely matched, but not bit-identical.</a:t>
            </a:r>
          </a:p>
          <a:p>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10</a:t>
            </a:fld>
            <a:endParaRPr lang="en-US"/>
          </a:p>
        </p:txBody>
      </p:sp>
    </p:spTree>
    <p:extLst>
      <p:ext uri="{BB962C8B-B14F-4D97-AF65-F5344CB8AC3E}">
        <p14:creationId xmlns:p14="http://schemas.microsoft.com/office/powerpoint/2010/main" val="3539959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11</a:t>
            </a:fld>
            <a:endParaRPr lang="en-US"/>
          </a:p>
        </p:txBody>
      </p:sp>
    </p:spTree>
    <p:extLst>
      <p:ext uri="{BB962C8B-B14F-4D97-AF65-F5344CB8AC3E}">
        <p14:creationId xmlns:p14="http://schemas.microsoft.com/office/powerpoint/2010/main" val="323756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larger overhead in pipe and seccomp-notify may be caused by additional scheduler, IPC, and guest-host transition costs under TDX. This is a plausible explanation, but it requires lower-level profiling, such as VM-exit counters or kernel tracing, to confirm.</a:t>
            </a:r>
          </a:p>
          <a:p>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12</a:t>
            </a:fld>
            <a:endParaRPr lang="en-US"/>
          </a:p>
        </p:txBody>
      </p:sp>
    </p:spTree>
    <p:extLst>
      <p:ext uri="{BB962C8B-B14F-4D97-AF65-F5344CB8AC3E}">
        <p14:creationId xmlns:p14="http://schemas.microsoft.com/office/powerpoint/2010/main" val="3483810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TDX affects memory-management paths more than raw memory bandwidth.</a:t>
            </a:r>
          </a:p>
          <a:p>
            <a:endParaRPr lang="en-US" dirty="0"/>
          </a:p>
          <a:p>
            <a:r>
              <a:rPr lang="en-GB" dirty="0"/>
              <a:t>The larger overhead appears when the workload touches memory-management or virtualization-sensitive paths, such as </a:t>
            </a:r>
            <a:r>
              <a:rPr lang="en-GB" dirty="0" err="1"/>
              <a:t>mmap</a:t>
            </a:r>
            <a:r>
              <a:rPr lang="en-GB" dirty="0"/>
              <a:t>, page population, process creation, scheduling, or IPC.</a:t>
            </a:r>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13</a:t>
            </a:fld>
            <a:endParaRPr lang="en-US"/>
          </a:p>
        </p:txBody>
      </p:sp>
    </p:spTree>
    <p:extLst>
      <p:ext uri="{BB962C8B-B14F-4D97-AF65-F5344CB8AC3E}">
        <p14:creationId xmlns:p14="http://schemas.microsoft.com/office/powerpoint/2010/main" val="1990398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DADF14-3A71-7E41-BFB5-61D3ACF40C49}" type="slidenum">
              <a:rPr lang="en-US" smtClean="0"/>
              <a:t>14</a:t>
            </a:fld>
            <a:endParaRPr lang="en-US"/>
          </a:p>
        </p:txBody>
      </p:sp>
    </p:spTree>
    <p:extLst>
      <p:ext uri="{BB962C8B-B14F-4D97-AF65-F5344CB8AC3E}">
        <p14:creationId xmlns:p14="http://schemas.microsoft.com/office/powerpoint/2010/main" val="618425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ADF14-3A71-7E41-BFB5-61D3ACF40C49}" type="slidenum">
              <a:rPr lang="en-US" smtClean="0"/>
              <a:t>15</a:t>
            </a:fld>
            <a:endParaRPr lang="en-US"/>
          </a:p>
        </p:txBody>
      </p:sp>
    </p:spTree>
    <p:extLst>
      <p:ext uri="{BB962C8B-B14F-4D97-AF65-F5344CB8AC3E}">
        <p14:creationId xmlns:p14="http://schemas.microsoft.com/office/powerpoint/2010/main" val="109402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ADF14-3A71-7E41-BFB5-61D3ACF40C49}" type="slidenum">
              <a:rPr lang="en-US" smtClean="0"/>
              <a:t>16</a:t>
            </a:fld>
            <a:endParaRPr lang="en-US"/>
          </a:p>
        </p:txBody>
      </p:sp>
    </p:spTree>
    <p:extLst>
      <p:ext uri="{BB962C8B-B14F-4D97-AF65-F5344CB8AC3E}">
        <p14:creationId xmlns:p14="http://schemas.microsoft.com/office/powerpoint/2010/main" val="1832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5"/>
          </p:nvPr>
        </p:nvSpPr>
        <p:spPr/>
        <p:txBody>
          <a:bodyPr/>
          <a:lstStyle/>
          <a:p>
            <a:fld id="{77DADF14-3A71-7E41-BFB5-61D3ACF40C49}" type="slidenum">
              <a:rPr lang="en-US" smtClean="0"/>
              <a:t>18</a:t>
            </a:fld>
            <a:endParaRPr lang="en-US"/>
          </a:p>
        </p:txBody>
      </p:sp>
    </p:spTree>
    <p:extLst>
      <p:ext uri="{BB962C8B-B14F-4D97-AF65-F5344CB8AC3E}">
        <p14:creationId xmlns:p14="http://schemas.microsoft.com/office/powerpoint/2010/main" val="2282742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A6563-22A2-8E59-F32E-8311546B7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1B0D-F303-06E9-0636-1E7B861A14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AECC9-4C86-1084-263D-A51BE57EC5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30AAE1-05FA-679E-8851-DDF0CD1AD846}"/>
              </a:ext>
            </a:extLst>
          </p:cNvPr>
          <p:cNvSpPr>
            <a:spLocks noGrp="1"/>
          </p:cNvSpPr>
          <p:nvPr>
            <p:ph type="sldNum" sz="quarter" idx="5"/>
          </p:nvPr>
        </p:nvSpPr>
        <p:spPr/>
        <p:txBody>
          <a:bodyPr/>
          <a:lstStyle/>
          <a:p>
            <a:fld id="{77DADF14-3A71-7E41-BFB5-61D3ACF40C49}" type="slidenum">
              <a:rPr lang="en-US" smtClean="0"/>
              <a:t>20</a:t>
            </a:fld>
            <a:endParaRPr lang="en-US"/>
          </a:p>
        </p:txBody>
      </p:sp>
    </p:spTree>
    <p:extLst>
      <p:ext uri="{BB962C8B-B14F-4D97-AF65-F5344CB8AC3E}">
        <p14:creationId xmlns:p14="http://schemas.microsoft.com/office/powerpoint/2010/main" val="39383940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74131-DE72-7D55-FF02-21E4B054D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D165D-C4E8-2AC7-CE6C-85B10819F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B6518-B8D8-1D28-860D-080F402466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ECF0DB-5507-4FEC-7DDF-F07E3C887852}"/>
              </a:ext>
            </a:extLst>
          </p:cNvPr>
          <p:cNvSpPr>
            <a:spLocks noGrp="1"/>
          </p:cNvSpPr>
          <p:nvPr>
            <p:ph type="sldNum" sz="quarter" idx="5"/>
          </p:nvPr>
        </p:nvSpPr>
        <p:spPr/>
        <p:txBody>
          <a:bodyPr/>
          <a:lstStyle/>
          <a:p>
            <a:fld id="{77DADF14-3A71-7E41-BFB5-61D3ACF40C49}" type="slidenum">
              <a:rPr lang="en-US" smtClean="0"/>
              <a:t>22</a:t>
            </a:fld>
            <a:endParaRPr lang="en-US"/>
          </a:p>
        </p:txBody>
      </p:sp>
    </p:spTree>
    <p:extLst>
      <p:ext uri="{BB962C8B-B14F-4D97-AF65-F5344CB8AC3E}">
        <p14:creationId xmlns:p14="http://schemas.microsoft.com/office/powerpoint/2010/main" val="6485558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C16FC-3652-E925-3EC0-98159CB3B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C0A0B-C94F-2E32-ADCD-6E09783E6E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B8B02-9F68-ED03-7954-05ABEF8A21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1207A6-4E40-1F09-782C-FA4B2EA80090}"/>
              </a:ext>
            </a:extLst>
          </p:cNvPr>
          <p:cNvSpPr>
            <a:spLocks noGrp="1"/>
          </p:cNvSpPr>
          <p:nvPr>
            <p:ph type="sldNum" sz="quarter" idx="5"/>
          </p:nvPr>
        </p:nvSpPr>
        <p:spPr/>
        <p:txBody>
          <a:bodyPr/>
          <a:lstStyle/>
          <a:p>
            <a:fld id="{77DADF14-3A71-7E41-BFB5-61D3ACF40C49}" type="slidenum">
              <a:rPr lang="en-US" smtClean="0"/>
              <a:t>23</a:t>
            </a:fld>
            <a:endParaRPr lang="en-US"/>
          </a:p>
        </p:txBody>
      </p:sp>
    </p:spTree>
    <p:extLst>
      <p:ext uri="{BB962C8B-B14F-4D97-AF65-F5344CB8AC3E}">
        <p14:creationId xmlns:p14="http://schemas.microsoft.com/office/powerpoint/2010/main" val="383177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229F4-EAA1-4C0D-0C66-650D49061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64607B-4B38-0859-0AC8-825A6C2432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07F978-4A72-5420-F640-F4BD4E0E4BC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830791-3EDE-14F1-E32F-BC839F96CB49}"/>
              </a:ext>
            </a:extLst>
          </p:cNvPr>
          <p:cNvSpPr>
            <a:spLocks noGrp="1"/>
          </p:cNvSpPr>
          <p:nvPr>
            <p:ph type="sldNum" sz="quarter" idx="5"/>
          </p:nvPr>
        </p:nvSpPr>
        <p:spPr/>
        <p:txBody>
          <a:bodyPr/>
          <a:lstStyle/>
          <a:p>
            <a:fld id="{77DADF14-3A71-7E41-BFB5-61D3ACF40C49}" type="slidenum">
              <a:rPr lang="en-US" smtClean="0"/>
              <a:t>24</a:t>
            </a:fld>
            <a:endParaRPr lang="en-US"/>
          </a:p>
        </p:txBody>
      </p:sp>
    </p:spTree>
    <p:extLst>
      <p:ext uri="{BB962C8B-B14F-4D97-AF65-F5344CB8AC3E}">
        <p14:creationId xmlns:p14="http://schemas.microsoft.com/office/powerpoint/2010/main" val="281720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We evaluate semantic similarity using </a:t>
            </a:r>
            <a:r>
              <a:rPr lang="en-GB" b="1"/>
              <a:t>BERTScore</a:t>
            </a:r>
            <a:r>
              <a:rPr lang="en-GB"/>
              <a:t>, computed with a pre-trained RoBERTa model. No additional training or fine-tuning was performed.</a:t>
            </a:r>
          </a:p>
          <a:p>
            <a:endParaRPr lang="en-US"/>
          </a:p>
          <a:p>
            <a:endParaRPr lang="en-US"/>
          </a:p>
          <a:p>
            <a:r>
              <a:rPr lang="en-US"/>
              <a:t>Weeker?</a:t>
            </a:r>
          </a:p>
          <a:p>
            <a:endParaRPr lang="en-US"/>
          </a:p>
          <a:p>
            <a:endParaRPr lang="en-US"/>
          </a:p>
        </p:txBody>
      </p:sp>
      <p:sp>
        <p:nvSpPr>
          <p:cNvPr id="4" name="Slide Number Placeholder 3"/>
          <p:cNvSpPr>
            <a:spLocks noGrp="1"/>
          </p:cNvSpPr>
          <p:nvPr>
            <p:ph type="sldNum" sz="quarter" idx="5"/>
          </p:nvPr>
        </p:nvSpPr>
        <p:spPr/>
        <p:txBody>
          <a:bodyPr/>
          <a:lstStyle/>
          <a:p>
            <a:fld id="{77DADF14-3A71-7E41-BFB5-61D3ACF40C49}" type="slidenum">
              <a:rPr lang="en-US" smtClean="0"/>
              <a:t>25</a:t>
            </a:fld>
            <a:endParaRPr lang="en-US"/>
          </a:p>
        </p:txBody>
      </p:sp>
    </p:spTree>
    <p:extLst>
      <p:ext uri="{BB962C8B-B14F-4D97-AF65-F5344CB8AC3E}">
        <p14:creationId xmlns:p14="http://schemas.microsoft.com/office/powerpoint/2010/main" val="1479840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BCA3C-55D2-BA4E-5A43-988ED1D9C6D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05D0D22-2743-210A-C946-6077BB9C8B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3835699-097B-AA1E-7544-ECF7C10A7326}"/>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5" name="Footer Placeholder 4">
            <a:extLst>
              <a:ext uri="{FF2B5EF4-FFF2-40B4-BE49-F238E27FC236}">
                <a16:creationId xmlns:a16="http://schemas.microsoft.com/office/drawing/2014/main" id="{C531E0EC-E76E-EDB4-C3AA-B6B0870C23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727B5-F800-E19C-EEC5-61523A6123F9}"/>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1660371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D222F-0961-7344-4771-3F9637965FB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F1579C2-1CE8-17CD-00F0-F859EFD16F2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809D9EF-373A-D0BC-94F1-1265B75F728C}"/>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5" name="Footer Placeholder 4">
            <a:extLst>
              <a:ext uri="{FF2B5EF4-FFF2-40B4-BE49-F238E27FC236}">
                <a16:creationId xmlns:a16="http://schemas.microsoft.com/office/drawing/2014/main" id="{9133CE58-927B-C47C-3867-6005CA3C8F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839E5D-3732-06B5-560E-339E2793C47B}"/>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3107199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3E8D5-4D00-BFBD-AFCE-D650E5E50EA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9AFFDCF-EF59-B91B-550C-57BA125B73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FC50726-8B71-989C-EF2C-84AF88B70C74}"/>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5" name="Footer Placeholder 4">
            <a:extLst>
              <a:ext uri="{FF2B5EF4-FFF2-40B4-BE49-F238E27FC236}">
                <a16:creationId xmlns:a16="http://schemas.microsoft.com/office/drawing/2014/main" id="{D789CE4D-92C9-D251-A012-10FD31A303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7FACDF-A55D-529E-57A8-F83A6A185ECA}"/>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1470720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2F10-3C82-5C12-3DB3-C6B5AD36F8A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8545AC6-031B-F478-AB39-7D3D4ED018B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F3158AB-91FB-DAEE-0FE1-BF3D2A53448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345B75C-FA7A-6461-D1C3-13B28E1F34F8}"/>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6" name="Footer Placeholder 5">
            <a:extLst>
              <a:ext uri="{FF2B5EF4-FFF2-40B4-BE49-F238E27FC236}">
                <a16:creationId xmlns:a16="http://schemas.microsoft.com/office/drawing/2014/main" id="{5178B4E4-3EA4-F3D1-5237-789474DF0B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FD6961-3F33-9824-65CF-90BFCEF07EA0}"/>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4146471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8C1F0-DAC5-439C-5FFA-5FA4588D69F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9491A66-D9EC-D916-4955-6EBB98C555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7ED1212-0262-B967-644E-19F4187821E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E5EFAA8-4519-213A-4BA4-52D8672EEC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13BCAE-B0ED-8FB7-6405-EDCE6096F57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46B92E7-2D5B-A58A-109D-60F19B7FE3A8}"/>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8" name="Footer Placeholder 7">
            <a:extLst>
              <a:ext uri="{FF2B5EF4-FFF2-40B4-BE49-F238E27FC236}">
                <a16:creationId xmlns:a16="http://schemas.microsoft.com/office/drawing/2014/main" id="{8D4E9A50-329B-292C-BEF9-371D5E3B5C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4C523B-32F4-8ED9-3D12-54293F7EB894}"/>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3541144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9606F-39E7-7780-2C78-F925F1D33CE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DF617E0-3608-703C-1C32-0A36ECE13BE3}"/>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4" name="Footer Placeholder 3">
            <a:extLst>
              <a:ext uri="{FF2B5EF4-FFF2-40B4-BE49-F238E27FC236}">
                <a16:creationId xmlns:a16="http://schemas.microsoft.com/office/drawing/2014/main" id="{56196BA0-A826-2788-672B-CC5AA04A1E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064488-02F5-F83A-44A7-36E7513C04C7}"/>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2941463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2DBB22-6CF2-D2FF-1EDC-2304DD0C1EC0}"/>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3" name="Footer Placeholder 2">
            <a:extLst>
              <a:ext uri="{FF2B5EF4-FFF2-40B4-BE49-F238E27FC236}">
                <a16:creationId xmlns:a16="http://schemas.microsoft.com/office/drawing/2014/main" id="{97AE850A-DBD5-7432-6DBC-006372C4D8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7969AEE-0A15-A55D-A4DA-93094D9F8A91}"/>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4197262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DB5F7-B336-4414-7537-73DD9A24393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C928B37-C816-546A-D97A-85CD3BC4C6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4252EBD-EEA5-1B2C-E964-347B80F92F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1DF39A4-7411-69C4-F416-78A892728E78}"/>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6" name="Footer Placeholder 5">
            <a:extLst>
              <a:ext uri="{FF2B5EF4-FFF2-40B4-BE49-F238E27FC236}">
                <a16:creationId xmlns:a16="http://schemas.microsoft.com/office/drawing/2014/main" id="{2DEBCD69-38CD-FC4E-5453-A21471ECDD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B6F9AA-0EE2-82D5-27FE-DACA41AE508B}"/>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3666282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C6A55-DABB-158A-FFE2-6A2BA625C22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EA034C7-CAEB-719F-2353-CE205EB85B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C7A889-584D-643C-B50F-6E1AA1BACB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664000-1A42-50BB-8AA2-38329B4600D5}"/>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6" name="Footer Placeholder 5">
            <a:extLst>
              <a:ext uri="{FF2B5EF4-FFF2-40B4-BE49-F238E27FC236}">
                <a16:creationId xmlns:a16="http://schemas.microsoft.com/office/drawing/2014/main" id="{9A7B86E1-4CCA-7643-660E-2BD2D16F0E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BD6905-77D9-064D-D8E4-A7F9D5838D5A}"/>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188827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E7819-CCF9-6932-B4DC-71AFFFBF348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213AF0C-8804-B666-4548-19F074A376A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325630-F4A9-F5BD-D36B-7777BDE72F91}"/>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5" name="Footer Placeholder 4">
            <a:extLst>
              <a:ext uri="{FF2B5EF4-FFF2-40B4-BE49-F238E27FC236}">
                <a16:creationId xmlns:a16="http://schemas.microsoft.com/office/drawing/2014/main" id="{9A1EF997-8A2B-915B-FDF0-6AB9235041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113DB4-C146-8DC7-8B66-A0450FD9E07C}"/>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4267114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30F941-C7F6-7F99-2D2A-00F43505F24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3AE7377-820C-7D5D-1AA5-9EBC217D755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E3113E-73FE-0C82-BDA0-0ECF36DA3B9C}"/>
              </a:ext>
            </a:extLst>
          </p:cNvPr>
          <p:cNvSpPr>
            <a:spLocks noGrp="1"/>
          </p:cNvSpPr>
          <p:nvPr>
            <p:ph type="dt" sz="half" idx="10"/>
          </p:nvPr>
        </p:nvSpPr>
        <p:spPr/>
        <p:txBody>
          <a:bodyPr/>
          <a:lstStyle/>
          <a:p>
            <a:fld id="{D13D43DF-0D0E-F847-A925-24D8FAA785A6}" type="datetimeFigureOut">
              <a:rPr lang="en-US" smtClean="0"/>
              <a:t>7/21/26</a:t>
            </a:fld>
            <a:endParaRPr lang="en-US"/>
          </a:p>
        </p:txBody>
      </p:sp>
      <p:sp>
        <p:nvSpPr>
          <p:cNvPr id="5" name="Footer Placeholder 4">
            <a:extLst>
              <a:ext uri="{FF2B5EF4-FFF2-40B4-BE49-F238E27FC236}">
                <a16:creationId xmlns:a16="http://schemas.microsoft.com/office/drawing/2014/main" id="{85D72DC9-7E93-94D4-754A-868911AB2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4A4F02-4B54-38A3-90C3-59D6C3E77052}"/>
              </a:ext>
            </a:extLst>
          </p:cNvPr>
          <p:cNvSpPr>
            <a:spLocks noGrp="1"/>
          </p:cNvSpPr>
          <p:nvPr>
            <p:ph type="sldNum" sz="quarter" idx="12"/>
          </p:nvPr>
        </p:nvSpPr>
        <p:spPr/>
        <p:txBody>
          <a:bodyPr/>
          <a:lstStyle/>
          <a:p>
            <a:fld id="{3C30AE33-3514-9943-B203-1B173978D045}" type="slidenum">
              <a:rPr lang="en-US" smtClean="0"/>
              <a:t>‹#›</a:t>
            </a:fld>
            <a:endParaRPr lang="en-US"/>
          </a:p>
        </p:txBody>
      </p:sp>
    </p:spTree>
    <p:extLst>
      <p:ext uri="{BB962C8B-B14F-4D97-AF65-F5344CB8AC3E}">
        <p14:creationId xmlns:p14="http://schemas.microsoft.com/office/powerpoint/2010/main" val="4035426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69EAFB-B8B6-42A3-638F-417E1F2BB1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7F166B3-E5D1-3A0F-D751-7548BB8F5F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FC5A6B8-BA9C-B7E6-0690-69B1D59DF4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3D43DF-0D0E-F847-A925-24D8FAA785A6}" type="datetimeFigureOut">
              <a:rPr lang="en-US" smtClean="0"/>
              <a:t>7/21/26</a:t>
            </a:fld>
            <a:endParaRPr lang="en-US"/>
          </a:p>
        </p:txBody>
      </p:sp>
      <p:sp>
        <p:nvSpPr>
          <p:cNvPr id="5" name="Footer Placeholder 4">
            <a:extLst>
              <a:ext uri="{FF2B5EF4-FFF2-40B4-BE49-F238E27FC236}">
                <a16:creationId xmlns:a16="http://schemas.microsoft.com/office/drawing/2014/main" id="{433F64DB-DC54-A0FF-467E-F2BAB85092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83CC3D-1753-55CD-780D-F2C876C4C5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30AE33-3514-9943-B203-1B173978D045}" type="slidenum">
              <a:rPr lang="en-US" smtClean="0"/>
              <a:t>‹#›</a:t>
            </a:fld>
            <a:endParaRPr lang="en-US"/>
          </a:p>
        </p:txBody>
      </p:sp>
    </p:spTree>
    <p:extLst>
      <p:ext uri="{BB962C8B-B14F-4D97-AF65-F5344CB8AC3E}">
        <p14:creationId xmlns:p14="http://schemas.microsoft.com/office/powerpoint/2010/main" val="1261264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2083-3667-FCF0-CDA8-01809AE9F55A}"/>
              </a:ext>
            </a:extLst>
          </p:cNvPr>
          <p:cNvSpPr>
            <a:spLocks noGrp="1"/>
          </p:cNvSpPr>
          <p:nvPr>
            <p:ph type="ctrTitle"/>
          </p:nvPr>
        </p:nvSpPr>
        <p:spPr/>
        <p:txBody>
          <a:bodyPr>
            <a:normAutofit/>
          </a:bodyPr>
          <a:lstStyle/>
          <a:p>
            <a:r>
              <a:rPr lang="en-GB" dirty="0">
                <a:solidFill>
                  <a:srgbClr val="555555"/>
                </a:solidFill>
              </a:rPr>
              <a:t>Experiment logic and interim findings</a:t>
            </a:r>
            <a:endParaRPr lang="en-US" dirty="0"/>
          </a:p>
        </p:txBody>
      </p:sp>
      <p:sp>
        <p:nvSpPr>
          <p:cNvPr id="3" name="Subtitle 2">
            <a:extLst>
              <a:ext uri="{FF2B5EF4-FFF2-40B4-BE49-F238E27FC236}">
                <a16:creationId xmlns:a16="http://schemas.microsoft.com/office/drawing/2014/main" id="{B9D89D5C-9A33-CDDA-A70A-790326EB583B}"/>
              </a:ext>
            </a:extLst>
          </p:cNvPr>
          <p:cNvSpPr>
            <a:spLocks noGrp="1"/>
          </p:cNvSpPr>
          <p:nvPr>
            <p:ph type="subTitle" idx="1"/>
          </p:nvPr>
        </p:nvSpPr>
        <p:spPr/>
        <p:txBody>
          <a:bodyPr/>
          <a:lstStyle/>
          <a:p>
            <a:r>
              <a:rPr lang="en-GB" dirty="0"/>
              <a:t>Goal: </a:t>
            </a:r>
            <a:r>
              <a:rPr lang="en-GB"/>
              <a:t>Performance Evaluation and Optimisation of Privacy-Preserving Distributed VLM Inference Using Split Computing, TLS, and Intel TDX</a:t>
            </a:r>
          </a:p>
        </p:txBody>
      </p:sp>
    </p:spTree>
    <p:extLst>
      <p:ext uri="{BB962C8B-B14F-4D97-AF65-F5344CB8AC3E}">
        <p14:creationId xmlns:p14="http://schemas.microsoft.com/office/powerpoint/2010/main" val="4646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56841-C9EB-B1C5-E51E-01418EEB1C48}"/>
              </a:ext>
            </a:extLst>
          </p:cNvPr>
          <p:cNvSpPr>
            <a:spLocks noGrp="1"/>
          </p:cNvSpPr>
          <p:nvPr>
            <p:ph type="title"/>
          </p:nvPr>
        </p:nvSpPr>
        <p:spPr/>
        <p:txBody>
          <a:bodyPr>
            <a:normAutofit/>
          </a:bodyPr>
          <a:lstStyle/>
          <a:p>
            <a:r>
              <a:rPr lang="en-GB" b="1" dirty="0">
                <a:solidFill>
                  <a:srgbClr val="000000"/>
                </a:solidFill>
              </a:rPr>
              <a:t>The experiment matrix isolates three comparison dimensions</a:t>
            </a:r>
            <a:endParaRPr lang="en-US" dirty="0"/>
          </a:p>
        </p:txBody>
      </p:sp>
      <p:graphicFrame>
        <p:nvGraphicFramePr>
          <p:cNvPr id="6" name="Content Placeholder 5">
            <a:extLst>
              <a:ext uri="{FF2B5EF4-FFF2-40B4-BE49-F238E27FC236}">
                <a16:creationId xmlns:a16="http://schemas.microsoft.com/office/drawing/2014/main" id="{61ABFF60-EC8A-3DEB-4C41-381E0DB5F554}"/>
              </a:ext>
            </a:extLst>
          </p:cNvPr>
          <p:cNvGraphicFramePr>
            <a:graphicFrameLocks noGrp="1"/>
          </p:cNvGraphicFramePr>
          <p:nvPr>
            <p:ph idx="1"/>
            <p:extLst>
              <p:ext uri="{D42A27DB-BD31-4B8C-83A1-F6EECF244321}">
                <p14:modId xmlns:p14="http://schemas.microsoft.com/office/powerpoint/2010/main" val="1582261908"/>
              </p:ext>
            </p:extLst>
          </p:nvPr>
        </p:nvGraphicFramePr>
        <p:xfrm>
          <a:off x="838200" y="1825624"/>
          <a:ext cx="10515600" cy="3363594"/>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292866495"/>
                    </a:ext>
                  </a:extLst>
                </a:gridCol>
                <a:gridCol w="2628900">
                  <a:extLst>
                    <a:ext uri="{9D8B030D-6E8A-4147-A177-3AD203B41FA5}">
                      <a16:colId xmlns:a16="http://schemas.microsoft.com/office/drawing/2014/main" val="536445438"/>
                    </a:ext>
                  </a:extLst>
                </a:gridCol>
                <a:gridCol w="2628900">
                  <a:extLst>
                    <a:ext uri="{9D8B030D-6E8A-4147-A177-3AD203B41FA5}">
                      <a16:colId xmlns:a16="http://schemas.microsoft.com/office/drawing/2014/main" val="1896215045"/>
                    </a:ext>
                  </a:extLst>
                </a:gridCol>
                <a:gridCol w="2628900">
                  <a:extLst>
                    <a:ext uri="{9D8B030D-6E8A-4147-A177-3AD203B41FA5}">
                      <a16:colId xmlns:a16="http://schemas.microsoft.com/office/drawing/2014/main" val="3242516474"/>
                    </a:ext>
                  </a:extLst>
                </a:gridCol>
              </a:tblGrid>
              <a:tr h="4255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Dimension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Control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Experiment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Purpose</a:t>
                      </a:r>
                    </a:p>
                  </a:txBody>
                  <a:tcPr/>
                </a:tc>
                <a:extLst>
                  <a:ext uri="{0D108BD9-81ED-4DB2-BD59-A6C34878D82A}">
                    <a16:rowId xmlns:a16="http://schemas.microsoft.com/office/drawing/2014/main" val="330296828"/>
                  </a:ext>
                </a:extLst>
              </a:tr>
              <a:tr h="734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dirty="0">
                          <a:solidFill>
                            <a:srgbClr val="000000"/>
                          </a:solidFill>
                        </a:rPr>
                        <a:t>Inference placement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00000"/>
                          </a:solidFill>
                        </a:rPr>
                        <a:t>Local baseline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00000"/>
                          </a:solidFill>
                        </a:rPr>
                        <a:t>Split inference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00000"/>
                          </a:solidFill>
                        </a:rPr>
                        <a:t>Measure the cost of splitting the model</a:t>
                      </a:r>
                    </a:p>
                  </a:txBody>
                  <a:tcPr/>
                </a:tc>
                <a:extLst>
                  <a:ext uri="{0D108BD9-81ED-4DB2-BD59-A6C34878D82A}">
                    <a16:rowId xmlns:a16="http://schemas.microsoft.com/office/drawing/2014/main" val="863952584"/>
                  </a:ext>
                </a:extLst>
              </a:tr>
              <a:tr h="734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dirty="0">
                          <a:solidFill>
                            <a:srgbClr val="000000"/>
                          </a:solidFill>
                        </a:rPr>
                        <a:t>Transport protocol</a:t>
                      </a:r>
                    </a:p>
                  </a:txBody>
                  <a:tcPr/>
                </a:tc>
                <a:tc>
                  <a:txBody>
                    <a:bodyPr/>
                    <a:lstStyle/>
                    <a:p>
                      <a:r>
                        <a:rPr lang="en-GB" sz="1800" b="0" dirty="0">
                          <a:solidFill>
                            <a:srgbClr val="000000"/>
                          </a:solidFill>
                        </a:rPr>
                        <a:t>HTTP</a:t>
                      </a:r>
                      <a:r>
                        <a:rPr lang="en-US" altLang="zh-CN" sz="1800" b="0" dirty="0">
                          <a:solidFill>
                            <a:srgbClr val="000000"/>
                          </a:solidFill>
                        </a:rPr>
                        <a:t>/HTTPS</a:t>
                      </a:r>
                      <a:endParaRPr lang="en-US" dirty="0"/>
                    </a:p>
                  </a:txBody>
                  <a:tcPr/>
                </a:tc>
                <a:tc>
                  <a:txBody>
                    <a:bodyPr/>
                    <a:lstStyle/>
                    <a:p>
                      <a:pPr algn="l">
                        <a:defRPr sz="1425" b="0">
                          <a:solidFill>
                            <a:srgbClr val="000000"/>
                          </a:solidFill>
                        </a:defRPr>
                      </a:pPr>
                      <a:r>
                        <a:rPr lang="en-GB" sz="1800" b="0" dirty="0">
                          <a:solidFill>
                            <a:srgbClr val="000000"/>
                          </a:solidFill>
                        </a:rPr>
                        <a:t>HTTPS AES-GCM</a:t>
                      </a:r>
                    </a:p>
                    <a:p>
                      <a:pPr algn="l">
                        <a:defRPr sz="1425" b="0">
                          <a:solidFill>
                            <a:srgbClr val="000000"/>
                          </a:solidFill>
                        </a:defRPr>
                      </a:pPr>
                      <a:r>
                        <a:rPr lang="en-GB" sz="1800" b="0" dirty="0">
                          <a:solidFill>
                            <a:srgbClr val="000000"/>
                          </a:solidFill>
                        </a:rPr>
                        <a:t>HTTPS ChaCha20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00000"/>
                          </a:solidFill>
                        </a:rPr>
                        <a:t>Measure encryption and authentication overhead</a:t>
                      </a:r>
                    </a:p>
                  </a:txBody>
                  <a:tcPr/>
                </a:tc>
                <a:extLst>
                  <a:ext uri="{0D108BD9-81ED-4DB2-BD59-A6C34878D82A}">
                    <a16:rowId xmlns:a16="http://schemas.microsoft.com/office/drawing/2014/main" val="3303948508"/>
                  </a:ext>
                </a:extLst>
              </a:tr>
              <a:tr h="734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dirty="0">
                          <a:solidFill>
                            <a:srgbClr val="000000"/>
                          </a:solidFill>
                        </a:rPr>
                        <a:t>Cloud environment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a:t>
                      </a:r>
                      <a:r>
                        <a:rPr lang="en-GB" sz="1800" b="0" dirty="0">
                          <a:solidFill>
                            <a:srgbClr val="000000"/>
                          </a:solidFill>
                        </a:rPr>
                        <a:t> VM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00000"/>
                          </a:solidFill>
                        </a:rPr>
                        <a:t>Intel TDX VM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00000"/>
                          </a:solidFill>
                        </a:rPr>
                        <a:t>Measure trusted execution overhead</a:t>
                      </a:r>
                    </a:p>
                  </a:txBody>
                  <a:tcPr/>
                </a:tc>
                <a:extLst>
                  <a:ext uri="{0D108BD9-81ED-4DB2-BD59-A6C34878D82A}">
                    <a16:rowId xmlns:a16="http://schemas.microsoft.com/office/drawing/2014/main" val="3721127219"/>
                  </a:ext>
                </a:extLst>
              </a:tr>
              <a:tr h="734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dirty="0">
                          <a:solidFill>
                            <a:srgbClr val="000000"/>
                          </a:solidFill>
                        </a:rPr>
                        <a:t>Input batch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00000"/>
                          </a:solidFill>
                        </a:rPr>
                        <a:t>AI2D images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rgbClr val="000000"/>
                          </a:solidFill>
                        </a:rPr>
                        <a:t>100</a:t>
                      </a:r>
                      <a:r>
                        <a:rPr lang="en-GB" sz="1800" b="0" dirty="0">
                          <a:solidFill>
                            <a:srgbClr val="000000"/>
                          </a:solidFill>
                        </a:rPr>
                        <a:t> TDX images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00000"/>
                          </a:solidFill>
                        </a:rPr>
                        <a:t>Build repeatable interim metrics</a:t>
                      </a:r>
                    </a:p>
                  </a:txBody>
                  <a:tcPr/>
                </a:tc>
                <a:extLst>
                  <a:ext uri="{0D108BD9-81ED-4DB2-BD59-A6C34878D82A}">
                    <a16:rowId xmlns:a16="http://schemas.microsoft.com/office/drawing/2014/main" val="1280421767"/>
                  </a:ext>
                </a:extLst>
              </a:tr>
            </a:tbl>
          </a:graphicData>
        </a:graphic>
      </p:graphicFrame>
      <p:sp>
        <p:nvSpPr>
          <p:cNvPr id="9" name="Rectangle 8">
            <a:extLst>
              <a:ext uri="{FF2B5EF4-FFF2-40B4-BE49-F238E27FC236}">
                <a16:creationId xmlns:a16="http://schemas.microsoft.com/office/drawing/2014/main" id="{65B5DB0D-49F0-8D60-F6D9-04E68885F5FF}"/>
              </a:ext>
            </a:extLst>
          </p:cNvPr>
          <p:cNvSpPr>
            <a:spLocks noGrp="1"/>
          </p:cNvSpPr>
          <p:nvPr/>
        </p:nvSpPr>
        <p:spPr>
          <a:xfrm>
            <a:off x="937260" y="5436870"/>
            <a:ext cx="10096500" cy="304800"/>
          </a:xfrm>
          <a:prstGeom prst="rect">
            <a:avLst/>
          </a:prstGeom>
          <a:noFill/>
          <a:ln w="0">
            <a:noFill/>
            <a:prstDash val="solid"/>
          </a:ln>
        </p:spPr>
        <p:txBody>
          <a:bodyPr/>
          <a:lstStyle/>
          <a:p>
            <a:r>
              <a:rPr lang="en-GB" dirty="0"/>
              <a:t>The evaluation is staged from split inference baseline, to encrypted transport, and finally to Intel TDX.</a:t>
            </a:r>
          </a:p>
        </p:txBody>
      </p:sp>
    </p:spTree>
    <p:extLst>
      <p:ext uri="{BB962C8B-B14F-4D97-AF65-F5344CB8AC3E}">
        <p14:creationId xmlns:p14="http://schemas.microsoft.com/office/powerpoint/2010/main" val="4098136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1E9DB-B13B-8592-978D-FAD9BBF47F7D}"/>
              </a:ext>
            </a:extLst>
          </p:cNvPr>
          <p:cNvSpPr>
            <a:spLocks noGrp="1"/>
          </p:cNvSpPr>
          <p:nvPr>
            <p:ph type="title"/>
          </p:nvPr>
        </p:nvSpPr>
        <p:spPr>
          <a:xfrm>
            <a:off x="838199" y="105149"/>
            <a:ext cx="10515600" cy="1325563"/>
          </a:xfrm>
        </p:spPr>
        <p:txBody>
          <a:bodyPr/>
          <a:lstStyle/>
          <a:p>
            <a:r>
              <a:rPr lang="en-US" dirty="0"/>
              <a:t>Experiment</a:t>
            </a:r>
            <a:r>
              <a:rPr lang="zh-CN" altLang="en-US" dirty="0"/>
              <a:t> </a:t>
            </a:r>
            <a:r>
              <a:rPr lang="en-US" altLang="zh-CN" dirty="0"/>
              <a:t>Design</a:t>
            </a:r>
            <a:endParaRPr lang="en-US" dirty="0"/>
          </a:p>
        </p:txBody>
      </p:sp>
      <p:graphicFrame>
        <p:nvGraphicFramePr>
          <p:cNvPr id="4" name="Content Placeholder 3">
            <a:extLst>
              <a:ext uri="{FF2B5EF4-FFF2-40B4-BE49-F238E27FC236}">
                <a16:creationId xmlns:a16="http://schemas.microsoft.com/office/drawing/2014/main" id="{C02EC1EC-9FF0-E0B7-692C-574FC8CEA821}"/>
              </a:ext>
            </a:extLst>
          </p:cNvPr>
          <p:cNvGraphicFramePr>
            <a:graphicFrameLocks noGrp="1"/>
          </p:cNvGraphicFramePr>
          <p:nvPr>
            <p:ph idx="1"/>
            <p:extLst>
              <p:ext uri="{D42A27DB-BD31-4B8C-83A1-F6EECF244321}">
                <p14:modId xmlns:p14="http://schemas.microsoft.com/office/powerpoint/2010/main" val="1539739641"/>
              </p:ext>
            </p:extLst>
          </p:nvPr>
        </p:nvGraphicFramePr>
        <p:xfrm>
          <a:off x="659219" y="1081922"/>
          <a:ext cx="10860428" cy="5361406"/>
        </p:xfrm>
        <a:graphic>
          <a:graphicData uri="http://schemas.openxmlformats.org/drawingml/2006/table">
            <a:tbl>
              <a:tblPr firstRow="1" bandRow="1">
                <a:tableStyleId>{5C22544A-7EE6-4342-B048-85BDC9FD1C3A}</a:tableStyleId>
              </a:tblPr>
              <a:tblGrid>
                <a:gridCol w="2715107">
                  <a:extLst>
                    <a:ext uri="{9D8B030D-6E8A-4147-A177-3AD203B41FA5}">
                      <a16:colId xmlns:a16="http://schemas.microsoft.com/office/drawing/2014/main" val="2260258394"/>
                    </a:ext>
                  </a:extLst>
                </a:gridCol>
                <a:gridCol w="2715107">
                  <a:extLst>
                    <a:ext uri="{9D8B030D-6E8A-4147-A177-3AD203B41FA5}">
                      <a16:colId xmlns:a16="http://schemas.microsoft.com/office/drawing/2014/main" val="2806839790"/>
                    </a:ext>
                  </a:extLst>
                </a:gridCol>
                <a:gridCol w="2715107">
                  <a:extLst>
                    <a:ext uri="{9D8B030D-6E8A-4147-A177-3AD203B41FA5}">
                      <a16:colId xmlns:a16="http://schemas.microsoft.com/office/drawing/2014/main" val="4212661188"/>
                    </a:ext>
                  </a:extLst>
                </a:gridCol>
                <a:gridCol w="2715107">
                  <a:extLst>
                    <a:ext uri="{9D8B030D-6E8A-4147-A177-3AD203B41FA5}">
                      <a16:colId xmlns:a16="http://schemas.microsoft.com/office/drawing/2014/main" val="2114429788"/>
                    </a:ext>
                  </a:extLst>
                </a:gridCol>
              </a:tblGrid>
              <a:tr h="602127">
                <a:tc>
                  <a:txBody>
                    <a:bodyPr/>
                    <a:lstStyle/>
                    <a:p>
                      <a:r>
                        <a:rPr lang="en-US" dirty="0"/>
                        <a:t>name</a:t>
                      </a:r>
                    </a:p>
                  </a:txBody>
                  <a:tcPr/>
                </a:tc>
                <a:tc>
                  <a:txBody>
                    <a:bodyPr/>
                    <a:lstStyle/>
                    <a:p>
                      <a:r>
                        <a:rPr lang="en-US" dirty="0"/>
                        <a:t>transfer</a:t>
                      </a:r>
                    </a:p>
                  </a:txBody>
                  <a:tcPr/>
                </a:tc>
                <a:tc>
                  <a:txBody>
                    <a:bodyPr/>
                    <a:lstStyle/>
                    <a:p>
                      <a:r>
                        <a:rPr lang="en-US" dirty="0"/>
                        <a:t>encryption</a:t>
                      </a:r>
                    </a:p>
                  </a:txBody>
                  <a:tcPr/>
                </a:tc>
                <a:tc>
                  <a:txBody>
                    <a:bodyPr/>
                    <a:lstStyle/>
                    <a:p>
                      <a:r>
                        <a:rPr lang="en-US" dirty="0"/>
                        <a:t>environment</a:t>
                      </a:r>
                    </a:p>
                  </a:txBody>
                  <a:tcPr/>
                </a:tc>
                <a:extLst>
                  <a:ext uri="{0D108BD9-81ED-4DB2-BD59-A6C34878D82A}">
                    <a16:rowId xmlns:a16="http://schemas.microsoft.com/office/drawing/2014/main" val="2501954552"/>
                  </a:ext>
                </a:extLst>
              </a:tr>
              <a:tr h="602127">
                <a:tc>
                  <a:txBody>
                    <a:bodyPr/>
                    <a:lstStyle/>
                    <a:p>
                      <a:r>
                        <a:rPr lang="en-GB" sz="1800" kern="1200" dirty="0">
                          <a:solidFill>
                            <a:schemeClr val="dk1"/>
                          </a:solidFill>
                          <a:latin typeface="+mn-lt"/>
                          <a:ea typeface="+mn-ea"/>
                          <a:cs typeface="+mn-cs"/>
                        </a:rPr>
                        <a:t>Plain HTTP baseline</a:t>
                      </a:r>
                    </a:p>
                  </a:txBody>
                  <a:tcPr/>
                </a:tc>
                <a:tc>
                  <a:txBody>
                    <a:bodyPr/>
                    <a:lstStyle/>
                    <a:p>
                      <a:r>
                        <a:rPr lang="en-US" dirty="0"/>
                        <a:t>HTTP</a:t>
                      </a:r>
                      <a:r>
                        <a:rPr lang="zh-CN" altLang="en-US" dirty="0"/>
                        <a:t> </a:t>
                      </a:r>
                      <a:r>
                        <a:rPr lang="en-US" altLang="zh-CN" dirty="0"/>
                        <a:t>over</a:t>
                      </a:r>
                      <a:r>
                        <a:rPr lang="zh-CN" altLang="en-US" dirty="0"/>
                        <a:t> </a:t>
                      </a:r>
                      <a:r>
                        <a:rPr lang="en-US" altLang="zh-CN" dirty="0"/>
                        <a:t>TCP</a:t>
                      </a:r>
                      <a:endParaRPr lang="en-US" dirty="0"/>
                    </a:p>
                  </a:txBody>
                  <a:tcPr/>
                </a:tc>
                <a:tc>
                  <a:txBody>
                    <a:bodyPr/>
                    <a:lstStyle/>
                    <a:p>
                      <a:r>
                        <a:rPr lang="en-GB" dirty="0"/>
                        <a:t>Plain embedding</a:t>
                      </a:r>
                      <a:endParaRPr lang="en-US" dirty="0"/>
                    </a:p>
                  </a:txBody>
                  <a:tcPr/>
                </a:tc>
                <a:tc>
                  <a:txBody>
                    <a:bodyPr/>
                    <a:lstStyle/>
                    <a:p>
                      <a:r>
                        <a:rPr lang="en-GB" dirty="0"/>
                        <a:t>Normal VM</a:t>
                      </a:r>
                      <a:endParaRPr lang="en-US" dirty="0"/>
                    </a:p>
                  </a:txBody>
                  <a:tcPr/>
                </a:tc>
                <a:extLst>
                  <a:ext uri="{0D108BD9-81ED-4DB2-BD59-A6C34878D82A}">
                    <a16:rowId xmlns:a16="http://schemas.microsoft.com/office/drawing/2014/main" val="2658275726"/>
                  </a:ext>
                </a:extLst>
              </a:tr>
              <a:tr h="1039288">
                <a:tc>
                  <a:txBody>
                    <a:bodyPr/>
                    <a:lstStyle/>
                    <a:p>
                      <a:r>
                        <a:rPr lang="en-GB" dirty="0"/>
                        <a:t>HTTPS + AES-GCM TLS cipher</a:t>
                      </a:r>
                      <a:endParaRPr lang="en-US" dirty="0"/>
                    </a:p>
                  </a:txBody>
                  <a:tcPr/>
                </a:tc>
                <a:tc>
                  <a:txBody>
                    <a:bodyPr/>
                    <a:lstStyle/>
                    <a:p>
                      <a:r>
                        <a:rPr lang="en-US" dirty="0"/>
                        <a:t>HTTPS</a:t>
                      </a:r>
                      <a:r>
                        <a:rPr lang="zh-CN" altLang="en-US" dirty="0"/>
                        <a:t> </a:t>
                      </a:r>
                      <a:r>
                        <a:rPr lang="en-US" altLang="zh-CN" dirty="0"/>
                        <a:t>over</a:t>
                      </a:r>
                      <a:r>
                        <a:rPr lang="zh-CN" altLang="en-US" dirty="0"/>
                        <a:t> </a:t>
                      </a:r>
                      <a:r>
                        <a:rPr lang="en-US" altLang="zh-CN" dirty="0"/>
                        <a:t>TCP</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TLS</a:t>
                      </a:r>
                      <a:r>
                        <a:rPr lang="zh-CN" altLang="en-US" dirty="0"/>
                        <a:t> </a:t>
                      </a:r>
                      <a:r>
                        <a:rPr lang="en-GB" dirty="0"/>
                        <a:t>AES-GCM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extLst>
                  <a:ext uri="{0D108BD9-81ED-4DB2-BD59-A6C34878D82A}">
                    <a16:rowId xmlns:a16="http://schemas.microsoft.com/office/drawing/2014/main" val="1805166717"/>
                  </a:ext>
                </a:extLst>
              </a:tr>
              <a:tr h="1039288">
                <a:tc>
                  <a:txBody>
                    <a:bodyPr/>
                    <a:lstStyle/>
                    <a:p>
                      <a:r>
                        <a:rPr lang="en-GB" dirty="0"/>
                        <a:t>AES-GCM</a:t>
                      </a:r>
                      <a:r>
                        <a:rPr lang="zh-CN" altLang="en-US" dirty="0"/>
                        <a:t> </a:t>
                      </a:r>
                      <a:r>
                        <a:rPr lang="en-US" altLang="zh-CN" dirty="0"/>
                        <a:t>+</a:t>
                      </a:r>
                      <a:r>
                        <a:rPr lang="zh-CN" altLang="en-US" dirty="0"/>
                        <a:t> </a:t>
                      </a:r>
                      <a:r>
                        <a:rPr lang="en-GB" dirty="0"/>
                        <a:t>Confidential VM</a:t>
                      </a:r>
                      <a:endParaRPr lang="en-US" dirty="0"/>
                    </a:p>
                  </a:txBody>
                  <a:tcPr/>
                </a:tc>
                <a:tc>
                  <a:txBody>
                    <a:bodyPr/>
                    <a:lstStyle/>
                    <a:p>
                      <a:r>
                        <a:rPr lang="en-US" dirty="0"/>
                        <a:t>HTTPS</a:t>
                      </a:r>
                      <a:r>
                        <a:rPr lang="zh-CN" altLang="en-US" dirty="0"/>
                        <a:t> </a:t>
                      </a:r>
                      <a:r>
                        <a:rPr lang="en-US" altLang="zh-CN" dirty="0"/>
                        <a:t>over</a:t>
                      </a:r>
                      <a:r>
                        <a:rPr lang="zh-CN" altLang="en-US" dirty="0"/>
                        <a:t> </a:t>
                      </a:r>
                      <a:r>
                        <a:rPr lang="en-US" altLang="zh-CN" dirty="0"/>
                        <a:t>TCP</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AES-GCM payload </a:t>
                      </a:r>
                      <a:endParaRPr lang="en-US" dirty="0"/>
                    </a:p>
                    <a:p>
                      <a:endParaRPr lang="en-US" dirty="0"/>
                    </a:p>
                  </a:txBody>
                  <a:tcPr/>
                </a:tc>
                <a:tc>
                  <a:txBody>
                    <a:bodyPr/>
                    <a:lstStyle/>
                    <a:p>
                      <a:r>
                        <a:rPr lang="en-GB" dirty="0"/>
                        <a:t>Confidential VM / TDX</a:t>
                      </a:r>
                      <a:endParaRPr lang="en-US" dirty="0"/>
                    </a:p>
                  </a:txBody>
                  <a:tcPr/>
                </a:tc>
                <a:extLst>
                  <a:ext uri="{0D108BD9-81ED-4DB2-BD59-A6C34878D82A}">
                    <a16:rowId xmlns:a16="http://schemas.microsoft.com/office/drawing/2014/main" val="2859332343"/>
                  </a:ext>
                </a:extLst>
              </a:tr>
              <a:tr h="1039288">
                <a:tc>
                  <a:txBody>
                    <a:bodyPr/>
                    <a:lstStyle/>
                    <a:p>
                      <a:r>
                        <a:rPr lang="en-GB" dirty="0"/>
                        <a:t>HTTPS + ChaCha20 TLS cipher</a:t>
                      </a:r>
                      <a:endParaRPr lang="en-US" dirty="0"/>
                    </a:p>
                  </a:txBody>
                  <a:tcPr/>
                </a:tc>
                <a:tc>
                  <a:txBody>
                    <a:bodyPr/>
                    <a:lstStyle/>
                    <a:p>
                      <a:r>
                        <a:rPr lang="en-US" dirty="0"/>
                        <a:t>HTTPS</a:t>
                      </a:r>
                      <a:r>
                        <a:rPr lang="zh-CN" altLang="en-US" dirty="0"/>
                        <a:t> </a:t>
                      </a:r>
                      <a:r>
                        <a:rPr lang="en-US" altLang="zh-CN" dirty="0"/>
                        <a:t>over</a:t>
                      </a:r>
                      <a:r>
                        <a:rPr lang="zh-CN" altLang="en-US" dirty="0"/>
                        <a:t> </a:t>
                      </a:r>
                      <a:r>
                        <a:rPr lang="en-US" altLang="zh-CN" dirty="0"/>
                        <a:t>TCP</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TLS</a:t>
                      </a:r>
                      <a:r>
                        <a:rPr lang="zh-CN" altLang="en-US" dirty="0"/>
                        <a:t> </a:t>
                      </a:r>
                      <a:r>
                        <a:rPr lang="en-GB" dirty="0"/>
                        <a:t>ChaCha20-Poly1305</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extLst>
                  <a:ext uri="{0D108BD9-81ED-4DB2-BD59-A6C34878D82A}">
                    <a16:rowId xmlns:a16="http://schemas.microsoft.com/office/drawing/2014/main" val="1258692953"/>
                  </a:ext>
                </a:extLst>
              </a:tr>
              <a:tr h="1039288">
                <a:tc>
                  <a:txBody>
                    <a:bodyPr/>
                    <a:lstStyle/>
                    <a:p>
                      <a:r>
                        <a:rPr lang="en-US" dirty="0"/>
                        <a:t>ChaChao</a:t>
                      </a:r>
                      <a:r>
                        <a:rPr lang="en-US" altLang="zh-CN" dirty="0"/>
                        <a:t>20</a:t>
                      </a:r>
                      <a:r>
                        <a:rPr lang="zh-CN" altLang="en-US" dirty="0"/>
                        <a:t> </a:t>
                      </a:r>
                      <a:r>
                        <a:rPr lang="en-US" altLang="zh-CN" dirty="0"/>
                        <a:t>+</a:t>
                      </a:r>
                      <a:r>
                        <a:rPr lang="zh-CN" altLang="en-US" dirty="0"/>
                        <a:t> </a:t>
                      </a:r>
                      <a:r>
                        <a:rPr lang="en-US" altLang="zh-CN" dirty="0"/>
                        <a:t>Confidential</a:t>
                      </a:r>
                      <a:r>
                        <a:rPr lang="zh-CN" altLang="en-US" dirty="0"/>
                        <a:t> </a:t>
                      </a:r>
                      <a:r>
                        <a:rPr lang="en-US" altLang="zh-CN" dirty="0"/>
                        <a:t>VM</a:t>
                      </a:r>
                      <a:endParaRPr lang="en-US" dirty="0"/>
                    </a:p>
                  </a:txBody>
                  <a:tcPr/>
                </a:tc>
                <a:tc>
                  <a:txBody>
                    <a:bodyPr/>
                    <a:lstStyle/>
                    <a:p>
                      <a:r>
                        <a:rPr lang="en-US" dirty="0"/>
                        <a:t>HTTPS</a:t>
                      </a:r>
                      <a:r>
                        <a:rPr lang="zh-CN" altLang="en-US" dirty="0"/>
                        <a:t> </a:t>
                      </a:r>
                      <a:r>
                        <a:rPr lang="en-US" altLang="zh-CN" dirty="0"/>
                        <a:t>over</a:t>
                      </a:r>
                      <a:r>
                        <a:rPr lang="zh-CN" altLang="en-US" dirty="0"/>
                        <a:t> </a:t>
                      </a:r>
                      <a:r>
                        <a:rPr lang="en-US" altLang="zh-CN" dirty="0"/>
                        <a:t>TCP</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ChaCha20-Poly1305 payload</a:t>
                      </a:r>
                      <a:endParaRPr lang="en-US" dirty="0"/>
                    </a:p>
                  </a:txBody>
                  <a:tcPr/>
                </a:tc>
                <a:tc>
                  <a:txBody>
                    <a:bodyPr/>
                    <a:lstStyle/>
                    <a:p>
                      <a:r>
                        <a:rPr lang="en-GB" dirty="0"/>
                        <a:t>Confidential VM / TDX</a:t>
                      </a:r>
                      <a:endParaRPr lang="en-US" dirty="0"/>
                    </a:p>
                  </a:txBody>
                  <a:tcPr/>
                </a:tc>
                <a:extLst>
                  <a:ext uri="{0D108BD9-81ED-4DB2-BD59-A6C34878D82A}">
                    <a16:rowId xmlns:a16="http://schemas.microsoft.com/office/drawing/2014/main" val="3493739845"/>
                  </a:ext>
                </a:extLst>
              </a:tr>
            </a:tbl>
          </a:graphicData>
        </a:graphic>
      </p:graphicFrame>
    </p:spTree>
    <p:extLst>
      <p:ext uri="{BB962C8B-B14F-4D97-AF65-F5344CB8AC3E}">
        <p14:creationId xmlns:p14="http://schemas.microsoft.com/office/powerpoint/2010/main" val="4075704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BEF8D-5B9A-A461-B4B9-BE6B52756531}"/>
              </a:ext>
            </a:extLst>
          </p:cNvPr>
          <p:cNvSpPr>
            <a:spLocks noGrp="1"/>
          </p:cNvSpPr>
          <p:nvPr>
            <p:ph type="title"/>
          </p:nvPr>
        </p:nvSpPr>
        <p:spPr/>
        <p:txBody>
          <a:bodyPr/>
          <a:lstStyle/>
          <a:p>
            <a:r>
              <a:rPr lang="en-US" dirty="0"/>
              <a:t>metrics</a:t>
            </a:r>
          </a:p>
        </p:txBody>
      </p:sp>
      <p:sp>
        <p:nvSpPr>
          <p:cNvPr id="3" name="Content Placeholder 2">
            <a:extLst>
              <a:ext uri="{FF2B5EF4-FFF2-40B4-BE49-F238E27FC236}">
                <a16:creationId xmlns:a16="http://schemas.microsoft.com/office/drawing/2014/main" id="{7308112B-78EA-B635-2E18-42DE708C5642}"/>
              </a:ext>
            </a:extLst>
          </p:cNvPr>
          <p:cNvSpPr>
            <a:spLocks noGrp="1"/>
          </p:cNvSpPr>
          <p:nvPr>
            <p:ph idx="1"/>
          </p:nvPr>
        </p:nvSpPr>
        <p:spPr/>
        <p:txBody>
          <a:bodyPr/>
          <a:lstStyle/>
          <a:p>
            <a:r>
              <a:rPr lang="en-GB" dirty="0"/>
              <a:t>Latency overhead</a:t>
            </a:r>
          </a:p>
          <a:p>
            <a:r>
              <a:rPr lang="en-GB" dirty="0"/>
              <a:t>CPU overhead</a:t>
            </a:r>
            <a:r>
              <a:rPr lang="zh-CN" altLang="en-US" dirty="0"/>
              <a:t> </a:t>
            </a:r>
            <a:r>
              <a:rPr lang="en-US" altLang="zh-CN" dirty="0"/>
              <a:t>(CPU</a:t>
            </a:r>
            <a:r>
              <a:rPr lang="zh-CN" altLang="en-US" dirty="0"/>
              <a:t> </a:t>
            </a:r>
            <a:r>
              <a:rPr lang="en-US" altLang="zh-CN" dirty="0"/>
              <a:t>time</a:t>
            </a:r>
            <a:r>
              <a:rPr lang="zh-CN" altLang="en-US" dirty="0"/>
              <a:t> </a:t>
            </a:r>
            <a:r>
              <a:rPr lang="en-US" altLang="zh-CN" dirty="0"/>
              <a:t>+</a:t>
            </a:r>
            <a:r>
              <a:rPr lang="zh-CN" altLang="en-US" dirty="0"/>
              <a:t> </a:t>
            </a:r>
            <a:r>
              <a:rPr lang="en-US" altLang="zh-CN" dirty="0"/>
              <a:t>CPU</a:t>
            </a:r>
            <a:r>
              <a:rPr lang="zh-CN" altLang="en-US" dirty="0"/>
              <a:t> </a:t>
            </a:r>
            <a:r>
              <a:rPr lang="en-US" altLang="zh-CN" dirty="0" err="1"/>
              <a:t>utilisation</a:t>
            </a:r>
            <a:r>
              <a:rPr lang="en-US" altLang="zh-CN" dirty="0"/>
              <a:t>)</a:t>
            </a:r>
            <a:endParaRPr lang="en-GB" dirty="0"/>
          </a:p>
          <a:p>
            <a:r>
              <a:rPr lang="en-GB" dirty="0"/>
              <a:t>throughput degradation</a:t>
            </a:r>
            <a:endParaRPr lang="en-US" dirty="0"/>
          </a:p>
        </p:txBody>
      </p:sp>
      <p:sp>
        <p:nvSpPr>
          <p:cNvPr id="4" name="Rectangle 3">
            <a:extLst>
              <a:ext uri="{FF2B5EF4-FFF2-40B4-BE49-F238E27FC236}">
                <a16:creationId xmlns:a16="http://schemas.microsoft.com/office/drawing/2014/main" id="{12239E8C-D8EE-2B21-9CB2-FB1E597D8FB7}"/>
              </a:ext>
            </a:extLst>
          </p:cNvPr>
          <p:cNvSpPr>
            <a:spLocks noGrp="1"/>
          </p:cNvSpPr>
          <p:nvPr/>
        </p:nvSpPr>
        <p:spPr>
          <a:xfrm>
            <a:off x="918210" y="4667250"/>
            <a:ext cx="3143250" cy="323850"/>
          </a:xfrm>
          <a:prstGeom prst="rect">
            <a:avLst/>
          </a:prstGeom>
          <a:noFill/>
          <a:ln w="0">
            <a:noFill/>
            <a:prstDash val="solid"/>
          </a:ln>
        </p:spPr>
        <p:txBody>
          <a:bodyPr/>
          <a:lstStyle/>
          <a:p>
            <a:pPr algn="l">
              <a:defRPr sz="2100" b="1">
                <a:solidFill>
                  <a:srgbClr val="000000"/>
                </a:solidFill>
              </a:defRPr>
            </a:pPr>
            <a:r>
              <a:rPr sz="2100" b="1" dirty="0">
                <a:solidFill>
                  <a:srgbClr val="000000"/>
                </a:solidFill>
              </a:rPr>
              <a:t>Split total latency</a:t>
            </a:r>
          </a:p>
        </p:txBody>
      </p:sp>
      <p:sp>
        <p:nvSpPr>
          <p:cNvPr id="5" name="Rectangle 4">
            <a:extLst>
              <a:ext uri="{FF2B5EF4-FFF2-40B4-BE49-F238E27FC236}">
                <a16:creationId xmlns:a16="http://schemas.microsoft.com/office/drawing/2014/main" id="{D0E85236-7C36-AF79-4F95-200D02A74E16}"/>
              </a:ext>
            </a:extLst>
          </p:cNvPr>
          <p:cNvSpPr>
            <a:spLocks noGrp="1"/>
          </p:cNvSpPr>
          <p:nvPr/>
        </p:nvSpPr>
        <p:spPr>
          <a:xfrm>
            <a:off x="3246120" y="4654550"/>
            <a:ext cx="381000" cy="323850"/>
          </a:xfrm>
          <a:prstGeom prst="rect">
            <a:avLst/>
          </a:prstGeom>
          <a:noFill/>
          <a:ln w="0">
            <a:noFill/>
            <a:prstDash val="solid"/>
          </a:ln>
        </p:spPr>
        <p:txBody>
          <a:bodyPr/>
          <a:lstStyle/>
          <a:p>
            <a:pPr algn="l">
              <a:defRPr sz="2400" b="1">
                <a:solidFill>
                  <a:srgbClr val="000000"/>
                </a:solidFill>
              </a:defRPr>
            </a:pPr>
            <a:r>
              <a:rPr sz="2400" b="1">
                <a:solidFill>
                  <a:srgbClr val="000000"/>
                </a:solidFill>
              </a:rPr>
              <a:t>=</a:t>
            </a:r>
          </a:p>
        </p:txBody>
      </p:sp>
      <p:sp>
        <p:nvSpPr>
          <p:cNvPr id="7" name="Rectangle 6">
            <a:extLst>
              <a:ext uri="{FF2B5EF4-FFF2-40B4-BE49-F238E27FC236}">
                <a16:creationId xmlns:a16="http://schemas.microsoft.com/office/drawing/2014/main" id="{569B8972-F4B3-9E1C-4430-981EA905D146}"/>
              </a:ext>
            </a:extLst>
          </p:cNvPr>
          <p:cNvSpPr>
            <a:spLocks noGrp="1"/>
          </p:cNvSpPr>
          <p:nvPr/>
        </p:nvSpPr>
        <p:spPr>
          <a:xfrm>
            <a:off x="3848100" y="4088130"/>
            <a:ext cx="2106930" cy="1623060"/>
          </a:xfrm>
          <a:prstGeom prst="rect">
            <a:avLst/>
          </a:prstGeom>
          <a:solidFill>
            <a:srgbClr val="EDEDED"/>
          </a:solidFill>
          <a:ln w="9525">
            <a:solidFill>
              <a:srgbClr val="B8BCC4"/>
            </a:solidFill>
            <a:prstDash val="solid"/>
          </a:ln>
        </p:spPr>
        <p:txBody>
          <a:bodyPr/>
          <a:lstStyle/>
          <a:p>
            <a:endParaRPr lang="en-US"/>
          </a:p>
        </p:txBody>
      </p:sp>
      <p:sp>
        <p:nvSpPr>
          <p:cNvPr id="8" name="Rectangle 7">
            <a:extLst>
              <a:ext uri="{FF2B5EF4-FFF2-40B4-BE49-F238E27FC236}">
                <a16:creationId xmlns:a16="http://schemas.microsoft.com/office/drawing/2014/main" id="{AF556C30-8722-4273-C5C6-F61CDC835ABC}"/>
              </a:ext>
            </a:extLst>
          </p:cNvPr>
          <p:cNvSpPr>
            <a:spLocks noGrp="1"/>
          </p:cNvSpPr>
          <p:nvPr/>
        </p:nvSpPr>
        <p:spPr>
          <a:xfrm>
            <a:off x="4053840" y="4224477"/>
            <a:ext cx="1745742" cy="367894"/>
          </a:xfrm>
          <a:prstGeom prst="rect">
            <a:avLst/>
          </a:prstGeom>
          <a:noFill/>
          <a:ln w="0">
            <a:noFill/>
            <a:prstDash val="solid"/>
          </a:ln>
        </p:spPr>
        <p:txBody>
          <a:bodyPr/>
          <a:lstStyle/>
          <a:p>
            <a:pPr algn="l">
              <a:defRPr sz="1650" b="1">
                <a:solidFill>
                  <a:srgbClr val="000000"/>
                </a:solidFill>
              </a:defRPr>
            </a:pPr>
            <a:r>
              <a:rPr sz="1650" b="1" dirty="0">
                <a:solidFill>
                  <a:srgbClr val="000000"/>
                </a:solidFill>
              </a:rPr>
              <a:t>Edge compute</a:t>
            </a:r>
          </a:p>
        </p:txBody>
      </p:sp>
      <p:sp>
        <p:nvSpPr>
          <p:cNvPr id="9" name="Rectangle 8">
            <a:extLst>
              <a:ext uri="{FF2B5EF4-FFF2-40B4-BE49-F238E27FC236}">
                <a16:creationId xmlns:a16="http://schemas.microsoft.com/office/drawing/2014/main" id="{78A8CBE9-8B46-90A3-6BA9-91A9B5BFD674}"/>
              </a:ext>
            </a:extLst>
          </p:cNvPr>
          <p:cNvSpPr>
            <a:spLocks noGrp="1"/>
          </p:cNvSpPr>
          <p:nvPr/>
        </p:nvSpPr>
        <p:spPr>
          <a:xfrm>
            <a:off x="4019550" y="4770120"/>
            <a:ext cx="1745742" cy="800710"/>
          </a:xfrm>
          <a:prstGeom prst="rect">
            <a:avLst/>
          </a:prstGeom>
          <a:noFill/>
          <a:ln w="0">
            <a:noFill/>
            <a:prstDash val="solid"/>
          </a:ln>
        </p:spPr>
        <p:txBody>
          <a:bodyPr/>
          <a:lstStyle/>
          <a:p>
            <a:pPr algn="l">
              <a:defRPr sz="1350" b="0">
                <a:solidFill>
                  <a:srgbClr val="000000"/>
                </a:solidFill>
              </a:defRPr>
            </a:pPr>
            <a:r>
              <a:rPr sz="1350" b="0" dirty="0">
                <a:solidFill>
                  <a:srgbClr val="000000"/>
                </a:solidFill>
              </a:rPr>
              <a:t>image preprocessing</a:t>
            </a:r>
          </a:p>
          <a:p>
            <a:pPr algn="l">
              <a:defRPr sz="1350" b="0">
                <a:solidFill>
                  <a:srgbClr val="000000"/>
                </a:solidFill>
              </a:defRPr>
            </a:pPr>
            <a:r>
              <a:rPr sz="1350" b="0" dirty="0">
                <a:solidFill>
                  <a:srgbClr val="000000"/>
                </a:solidFill>
              </a:rPr>
              <a:t>vision encoder</a:t>
            </a:r>
          </a:p>
          <a:p>
            <a:pPr algn="l">
              <a:defRPr sz="1350" b="0">
                <a:solidFill>
                  <a:srgbClr val="000000"/>
                </a:solidFill>
              </a:defRPr>
            </a:pPr>
            <a:r>
              <a:rPr sz="1350" b="0" dirty="0">
                <a:solidFill>
                  <a:srgbClr val="000000"/>
                </a:solidFill>
              </a:rPr>
              <a:t>projection</a:t>
            </a:r>
          </a:p>
        </p:txBody>
      </p:sp>
      <p:sp>
        <p:nvSpPr>
          <p:cNvPr id="10" name="Rectangle 9">
            <a:extLst>
              <a:ext uri="{FF2B5EF4-FFF2-40B4-BE49-F238E27FC236}">
                <a16:creationId xmlns:a16="http://schemas.microsoft.com/office/drawing/2014/main" id="{6FC709C1-D3E0-3425-8645-D5811D63DA71}"/>
              </a:ext>
            </a:extLst>
          </p:cNvPr>
          <p:cNvSpPr>
            <a:spLocks noGrp="1"/>
          </p:cNvSpPr>
          <p:nvPr/>
        </p:nvSpPr>
        <p:spPr>
          <a:xfrm>
            <a:off x="6236972" y="4597400"/>
            <a:ext cx="381000" cy="323850"/>
          </a:xfrm>
          <a:prstGeom prst="rect">
            <a:avLst/>
          </a:prstGeom>
          <a:noFill/>
          <a:ln w="0">
            <a:noFill/>
            <a:prstDash val="solid"/>
          </a:ln>
        </p:spPr>
        <p:txBody>
          <a:bodyPr/>
          <a:lstStyle/>
          <a:p>
            <a:pPr algn="l">
              <a:defRPr sz="2400" b="1">
                <a:solidFill>
                  <a:srgbClr val="000000"/>
                </a:solidFill>
              </a:defRPr>
            </a:pPr>
            <a:endParaRPr sz="2400" b="1" dirty="0">
              <a:solidFill>
                <a:srgbClr val="000000"/>
              </a:solidFill>
            </a:endParaRPr>
          </a:p>
        </p:txBody>
      </p:sp>
      <p:sp>
        <p:nvSpPr>
          <p:cNvPr id="11" name="Rectangle 10">
            <a:extLst>
              <a:ext uri="{FF2B5EF4-FFF2-40B4-BE49-F238E27FC236}">
                <a16:creationId xmlns:a16="http://schemas.microsoft.com/office/drawing/2014/main" id="{8C0981B3-04A1-09DA-BAB5-4C1D711F7E34}"/>
              </a:ext>
            </a:extLst>
          </p:cNvPr>
          <p:cNvSpPr>
            <a:spLocks noGrp="1"/>
          </p:cNvSpPr>
          <p:nvPr/>
        </p:nvSpPr>
        <p:spPr>
          <a:xfrm>
            <a:off x="8702042" y="4088130"/>
            <a:ext cx="2251708" cy="1643380"/>
          </a:xfrm>
          <a:prstGeom prst="rect">
            <a:avLst/>
          </a:prstGeom>
          <a:solidFill>
            <a:srgbClr val="FFF1EA"/>
          </a:solidFill>
          <a:ln w="9525">
            <a:solidFill>
              <a:srgbClr val="B8BCC4"/>
            </a:solidFill>
            <a:prstDash val="solid"/>
          </a:ln>
        </p:spPr>
        <p:txBody>
          <a:bodyPr/>
          <a:lstStyle/>
          <a:p>
            <a:endParaRPr lang="en-US"/>
          </a:p>
        </p:txBody>
      </p:sp>
      <p:sp>
        <p:nvSpPr>
          <p:cNvPr id="12" name="Rectangle 11">
            <a:extLst>
              <a:ext uri="{FF2B5EF4-FFF2-40B4-BE49-F238E27FC236}">
                <a16:creationId xmlns:a16="http://schemas.microsoft.com/office/drawing/2014/main" id="{AF15392F-D543-55F4-1311-F5D1DF641C04}"/>
              </a:ext>
            </a:extLst>
          </p:cNvPr>
          <p:cNvSpPr>
            <a:spLocks noGrp="1"/>
          </p:cNvSpPr>
          <p:nvPr/>
        </p:nvSpPr>
        <p:spPr>
          <a:xfrm>
            <a:off x="8913496" y="4267200"/>
            <a:ext cx="1847850" cy="323850"/>
          </a:xfrm>
          <a:prstGeom prst="rect">
            <a:avLst/>
          </a:prstGeom>
          <a:noFill/>
          <a:ln w="0">
            <a:noFill/>
            <a:prstDash val="solid"/>
          </a:ln>
        </p:spPr>
        <p:txBody>
          <a:bodyPr/>
          <a:lstStyle/>
          <a:p>
            <a:pPr algn="l">
              <a:defRPr sz="1650" b="1">
                <a:solidFill>
                  <a:srgbClr val="FF6B35"/>
                </a:solidFill>
              </a:defRPr>
            </a:pPr>
            <a:r>
              <a:rPr lang="en-GB" sz="1650" b="1" dirty="0">
                <a:solidFill>
                  <a:srgbClr val="FF6B35"/>
                </a:solidFill>
              </a:rPr>
              <a:t>C</a:t>
            </a:r>
            <a:r>
              <a:rPr sz="1650" b="1" dirty="0">
                <a:solidFill>
                  <a:srgbClr val="FF6B35"/>
                </a:solidFill>
              </a:rPr>
              <a:t>loud</a:t>
            </a:r>
            <a:r>
              <a:rPr lang="zh-CN" altLang="en-US" sz="1650" b="1" dirty="0">
                <a:solidFill>
                  <a:srgbClr val="FF6B35"/>
                </a:solidFill>
              </a:rPr>
              <a:t> </a:t>
            </a:r>
            <a:r>
              <a:rPr lang="en-US" altLang="zh-CN" sz="1650" b="1" dirty="0">
                <a:solidFill>
                  <a:srgbClr val="FF6B35"/>
                </a:solidFill>
              </a:rPr>
              <a:t>inference</a:t>
            </a:r>
            <a:endParaRPr sz="1650" b="1" dirty="0">
              <a:solidFill>
                <a:srgbClr val="FF6B35"/>
              </a:solidFill>
            </a:endParaRPr>
          </a:p>
        </p:txBody>
      </p:sp>
      <p:sp>
        <p:nvSpPr>
          <p:cNvPr id="13" name="Rectangle 12">
            <a:extLst>
              <a:ext uri="{FF2B5EF4-FFF2-40B4-BE49-F238E27FC236}">
                <a16:creationId xmlns:a16="http://schemas.microsoft.com/office/drawing/2014/main" id="{90ABF085-94B6-006B-E77C-025FE4DA7610}"/>
              </a:ext>
            </a:extLst>
          </p:cNvPr>
          <p:cNvSpPr>
            <a:spLocks noGrp="1"/>
          </p:cNvSpPr>
          <p:nvPr/>
        </p:nvSpPr>
        <p:spPr>
          <a:xfrm>
            <a:off x="6617972" y="4648835"/>
            <a:ext cx="1847850" cy="704850"/>
          </a:xfrm>
          <a:prstGeom prst="rect">
            <a:avLst/>
          </a:prstGeom>
          <a:noFill/>
          <a:ln w="0">
            <a:noFill/>
            <a:prstDash val="solid"/>
          </a:ln>
        </p:spPr>
        <p:txBody>
          <a:bodyPr/>
          <a:lstStyle/>
          <a:p>
            <a:pPr algn="l">
              <a:defRPr sz="1350" b="0">
                <a:solidFill>
                  <a:srgbClr val="000000"/>
                </a:solidFill>
              </a:defRPr>
            </a:pPr>
            <a:endParaRPr sz="1350" b="0" dirty="0">
              <a:solidFill>
                <a:srgbClr val="000000"/>
              </a:solidFill>
            </a:endParaRPr>
          </a:p>
        </p:txBody>
      </p:sp>
      <p:sp>
        <p:nvSpPr>
          <p:cNvPr id="14" name="Rectangle 13">
            <a:extLst>
              <a:ext uri="{FF2B5EF4-FFF2-40B4-BE49-F238E27FC236}">
                <a16:creationId xmlns:a16="http://schemas.microsoft.com/office/drawing/2014/main" id="{6A681C7B-24C2-3FAC-53A3-1970569B4FBE}"/>
              </a:ext>
            </a:extLst>
          </p:cNvPr>
          <p:cNvSpPr>
            <a:spLocks noGrp="1"/>
          </p:cNvSpPr>
          <p:nvPr/>
        </p:nvSpPr>
        <p:spPr>
          <a:xfrm>
            <a:off x="8846820" y="4770120"/>
            <a:ext cx="2049779" cy="704850"/>
          </a:xfrm>
          <a:prstGeom prst="rect">
            <a:avLst/>
          </a:prstGeom>
          <a:noFill/>
          <a:ln w="0">
            <a:noFill/>
            <a:prstDash val="solid"/>
          </a:ln>
        </p:spPr>
        <p:txBody>
          <a:bodyPr/>
          <a:lstStyle/>
          <a:p>
            <a:pPr algn="l">
              <a:defRPr sz="1350" b="0">
                <a:solidFill>
                  <a:srgbClr val="000000"/>
                </a:solidFill>
              </a:defRPr>
            </a:pPr>
            <a:r>
              <a:rPr lang="en-GB" sz="1350" b="0" dirty="0">
                <a:solidFill>
                  <a:srgbClr val="000000"/>
                </a:solidFill>
              </a:rPr>
              <a:t>reconstruct</a:t>
            </a:r>
            <a:r>
              <a:rPr lang="zh-CN" altLang="en-US" sz="1350" b="0" dirty="0">
                <a:solidFill>
                  <a:srgbClr val="000000"/>
                </a:solidFill>
              </a:rPr>
              <a:t> </a:t>
            </a:r>
            <a:r>
              <a:rPr lang="en-US" altLang="zh-CN" sz="1350" b="0" dirty="0">
                <a:solidFill>
                  <a:srgbClr val="000000"/>
                </a:solidFill>
              </a:rPr>
              <a:t>embedding</a:t>
            </a:r>
          </a:p>
          <a:p>
            <a:pPr>
              <a:defRPr sz="1350" b="0">
                <a:solidFill>
                  <a:srgbClr val="000000"/>
                </a:solidFill>
              </a:defRPr>
            </a:pPr>
            <a:r>
              <a:rPr lang="en-GB" sz="1350" dirty="0"/>
              <a:t>combine prompt and embedding</a:t>
            </a:r>
            <a:endParaRPr lang="en-US" altLang="zh-CN" sz="1350" dirty="0">
              <a:solidFill>
                <a:srgbClr val="000000"/>
              </a:solidFill>
            </a:endParaRPr>
          </a:p>
          <a:p>
            <a:pPr algn="l">
              <a:defRPr sz="1350" b="0">
                <a:solidFill>
                  <a:srgbClr val="000000"/>
                </a:solidFill>
              </a:defRPr>
            </a:pPr>
            <a:r>
              <a:rPr lang="en-US" sz="1350" dirty="0">
                <a:solidFill>
                  <a:srgbClr val="000000"/>
                </a:solidFill>
              </a:rPr>
              <a:t>g</a:t>
            </a:r>
            <a:r>
              <a:rPr lang="en-US" sz="1350" b="0" dirty="0">
                <a:solidFill>
                  <a:srgbClr val="000000"/>
                </a:solidFill>
              </a:rPr>
              <a:t>enerate</a:t>
            </a:r>
            <a:r>
              <a:rPr lang="zh-CN" altLang="en-US" sz="1350" b="0" dirty="0">
                <a:solidFill>
                  <a:srgbClr val="000000"/>
                </a:solidFill>
              </a:rPr>
              <a:t> </a:t>
            </a:r>
            <a:r>
              <a:rPr lang="en-US" altLang="zh-CN" sz="1350" b="0" dirty="0">
                <a:solidFill>
                  <a:srgbClr val="000000"/>
                </a:solidFill>
              </a:rPr>
              <a:t>text</a:t>
            </a:r>
            <a:endParaRPr sz="1350" b="0" dirty="0">
              <a:solidFill>
                <a:srgbClr val="000000"/>
              </a:solidFill>
            </a:endParaRPr>
          </a:p>
        </p:txBody>
      </p:sp>
      <p:sp>
        <p:nvSpPr>
          <p:cNvPr id="16" name="Alternative Process 15">
            <a:extLst>
              <a:ext uri="{FF2B5EF4-FFF2-40B4-BE49-F238E27FC236}">
                <a16:creationId xmlns:a16="http://schemas.microsoft.com/office/drawing/2014/main" id="{13F391ED-FA9A-15C2-E972-D961EDB46546}"/>
              </a:ext>
            </a:extLst>
          </p:cNvPr>
          <p:cNvSpPr/>
          <p:nvPr/>
        </p:nvSpPr>
        <p:spPr>
          <a:xfrm>
            <a:off x="5967221" y="4632388"/>
            <a:ext cx="2735582" cy="577723"/>
          </a:xfrm>
          <a:prstGeom prst="flowChartAlternateProcess">
            <a:avLst/>
          </a:prstGeom>
          <a:solidFill>
            <a:schemeClr val="accent1">
              <a:lumMod val="20000"/>
              <a:lumOff val="80000"/>
            </a:schemeClr>
          </a:solidFill>
          <a:ln>
            <a:solidFill>
              <a:schemeClr val="bg2">
                <a:lumMod val="9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1200" dirty="0">
                <a:solidFill>
                  <a:schemeClr val="tx1">
                    <a:lumMod val="95000"/>
                    <a:lumOff val="5000"/>
                  </a:schemeClr>
                </a:solidFill>
              </a:rPr>
              <a:t>serialized embedding transfer</a:t>
            </a:r>
          </a:p>
          <a:p>
            <a:pPr algn="ctr"/>
            <a:r>
              <a:rPr lang="en-GB" sz="1200" dirty="0">
                <a:solidFill>
                  <a:schemeClr val="tx1">
                    <a:lumMod val="95000"/>
                    <a:lumOff val="5000"/>
                  </a:schemeClr>
                </a:solidFill>
              </a:rPr>
              <a:t>TLS handshake + encryption</a:t>
            </a:r>
          </a:p>
        </p:txBody>
      </p:sp>
      <p:sp>
        <p:nvSpPr>
          <p:cNvPr id="26" name="Rectangle 25">
            <a:extLst>
              <a:ext uri="{FF2B5EF4-FFF2-40B4-BE49-F238E27FC236}">
                <a16:creationId xmlns:a16="http://schemas.microsoft.com/office/drawing/2014/main" id="{583CDFCC-2E3C-6890-3666-71CB9CF639B9}"/>
              </a:ext>
            </a:extLst>
          </p:cNvPr>
          <p:cNvSpPr/>
          <p:nvPr/>
        </p:nvSpPr>
        <p:spPr>
          <a:xfrm>
            <a:off x="3863342" y="5935091"/>
            <a:ext cx="1455420" cy="334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edge</a:t>
            </a:r>
            <a:r>
              <a:rPr lang="zh-CN" altLang="en-US" sz="1200" dirty="0"/>
              <a:t> </a:t>
            </a:r>
            <a:r>
              <a:rPr lang="en-US" sz="1200" dirty="0"/>
              <a:t>embedding</a:t>
            </a:r>
          </a:p>
        </p:txBody>
      </p:sp>
      <p:sp>
        <p:nvSpPr>
          <p:cNvPr id="27" name="Rectangle 26">
            <a:extLst>
              <a:ext uri="{FF2B5EF4-FFF2-40B4-BE49-F238E27FC236}">
                <a16:creationId xmlns:a16="http://schemas.microsoft.com/office/drawing/2014/main" id="{D1E9DF30-6B9C-E037-0CE0-4DB953788253}"/>
              </a:ext>
            </a:extLst>
          </p:cNvPr>
          <p:cNvSpPr/>
          <p:nvPr/>
        </p:nvSpPr>
        <p:spPr>
          <a:xfrm>
            <a:off x="5334004" y="5933504"/>
            <a:ext cx="1047748" cy="334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serialization</a:t>
            </a:r>
            <a:endParaRPr lang="en-US" sz="1200" dirty="0"/>
          </a:p>
        </p:txBody>
      </p:sp>
      <p:sp>
        <p:nvSpPr>
          <p:cNvPr id="28" name="Rectangle 27">
            <a:extLst>
              <a:ext uri="{FF2B5EF4-FFF2-40B4-BE49-F238E27FC236}">
                <a16:creationId xmlns:a16="http://schemas.microsoft.com/office/drawing/2014/main" id="{A4591EA8-8662-0AAE-E784-A640267FA77D}"/>
              </a:ext>
            </a:extLst>
          </p:cNvPr>
          <p:cNvSpPr/>
          <p:nvPr/>
        </p:nvSpPr>
        <p:spPr>
          <a:xfrm>
            <a:off x="6396994" y="5932933"/>
            <a:ext cx="2118356" cy="334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TLS</a:t>
            </a:r>
            <a:r>
              <a:rPr lang="zh-CN" altLang="en-US" sz="1200" dirty="0"/>
              <a:t> </a:t>
            </a:r>
            <a:r>
              <a:rPr lang="en-US" altLang="zh-CN" sz="1200" dirty="0"/>
              <a:t>setup</a:t>
            </a:r>
            <a:r>
              <a:rPr lang="zh-CN" altLang="en-US" sz="1200" dirty="0"/>
              <a:t> </a:t>
            </a:r>
            <a:r>
              <a:rPr lang="en-US" altLang="zh-CN" sz="1200" dirty="0"/>
              <a:t>+</a:t>
            </a:r>
            <a:r>
              <a:rPr lang="zh-CN" altLang="en-US" sz="1200" dirty="0"/>
              <a:t> </a:t>
            </a:r>
            <a:endParaRPr lang="en-GB" altLang="zh-CN" sz="1200" dirty="0"/>
          </a:p>
          <a:p>
            <a:pPr algn="ctr"/>
            <a:r>
              <a:rPr lang="en-US" altLang="zh-CN" sz="1200" dirty="0"/>
              <a:t>encrypted</a:t>
            </a:r>
            <a:r>
              <a:rPr lang="zh-CN" altLang="en-US" sz="1200" dirty="0"/>
              <a:t> </a:t>
            </a:r>
            <a:r>
              <a:rPr lang="en-US" altLang="zh-CN" sz="1200" dirty="0"/>
              <a:t>transfer</a:t>
            </a:r>
            <a:endParaRPr lang="en-US" sz="1200" dirty="0"/>
          </a:p>
        </p:txBody>
      </p:sp>
      <p:sp>
        <p:nvSpPr>
          <p:cNvPr id="29" name="Rectangle 28">
            <a:extLst>
              <a:ext uri="{FF2B5EF4-FFF2-40B4-BE49-F238E27FC236}">
                <a16:creationId xmlns:a16="http://schemas.microsoft.com/office/drawing/2014/main" id="{5B05EF8C-FCC8-62DB-C1EE-DA432BE13104}"/>
              </a:ext>
            </a:extLst>
          </p:cNvPr>
          <p:cNvSpPr/>
          <p:nvPr/>
        </p:nvSpPr>
        <p:spPr>
          <a:xfrm>
            <a:off x="9578339" y="5932933"/>
            <a:ext cx="1363981" cy="334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Cloud</a:t>
            </a:r>
            <a:r>
              <a:rPr lang="zh-CN" altLang="en-US" sz="1200" dirty="0"/>
              <a:t> </a:t>
            </a:r>
            <a:r>
              <a:rPr lang="en-US" altLang="zh-CN" sz="1200" dirty="0"/>
              <a:t>inference</a:t>
            </a:r>
            <a:endParaRPr lang="en-US" sz="1200" dirty="0"/>
          </a:p>
        </p:txBody>
      </p:sp>
      <p:sp>
        <p:nvSpPr>
          <p:cNvPr id="31" name="Rectangle 30">
            <a:extLst>
              <a:ext uri="{FF2B5EF4-FFF2-40B4-BE49-F238E27FC236}">
                <a16:creationId xmlns:a16="http://schemas.microsoft.com/office/drawing/2014/main" id="{B269ECA1-3868-F3A9-DE85-DD51A2962B9A}"/>
              </a:ext>
            </a:extLst>
          </p:cNvPr>
          <p:cNvSpPr/>
          <p:nvPr/>
        </p:nvSpPr>
        <p:spPr>
          <a:xfrm>
            <a:off x="8530591" y="5937821"/>
            <a:ext cx="1047748" cy="334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reconstruct embedding</a:t>
            </a:r>
          </a:p>
        </p:txBody>
      </p:sp>
    </p:spTree>
    <p:extLst>
      <p:ext uri="{BB962C8B-B14F-4D97-AF65-F5344CB8AC3E}">
        <p14:creationId xmlns:p14="http://schemas.microsoft.com/office/powerpoint/2010/main" val="35631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0FCC8-E417-02CA-FDB0-A68799994E02}"/>
              </a:ext>
            </a:extLst>
          </p:cNvPr>
          <p:cNvSpPr>
            <a:spLocks noGrp="1"/>
          </p:cNvSpPr>
          <p:nvPr>
            <p:ph type="title"/>
          </p:nvPr>
        </p:nvSpPr>
        <p:spPr/>
        <p:txBody>
          <a:bodyPr/>
          <a:lstStyle/>
          <a:p>
            <a:r>
              <a:rPr lang="en-US" dirty="0"/>
              <a:t>Metrics - Latency</a:t>
            </a:r>
          </a:p>
        </p:txBody>
      </p:sp>
      <p:graphicFrame>
        <p:nvGraphicFramePr>
          <p:cNvPr id="4" name="Content Placeholder 3">
            <a:extLst>
              <a:ext uri="{FF2B5EF4-FFF2-40B4-BE49-F238E27FC236}">
                <a16:creationId xmlns:a16="http://schemas.microsoft.com/office/drawing/2014/main" id="{FDDD12B8-C530-2800-ADF7-22D0FE6F6619}"/>
              </a:ext>
            </a:extLst>
          </p:cNvPr>
          <p:cNvGraphicFramePr>
            <a:graphicFrameLocks noGrp="1"/>
          </p:cNvGraphicFramePr>
          <p:nvPr>
            <p:ph idx="1"/>
            <p:extLst>
              <p:ext uri="{D42A27DB-BD31-4B8C-83A1-F6EECF244321}">
                <p14:modId xmlns:p14="http://schemas.microsoft.com/office/powerpoint/2010/main" val="2104388421"/>
              </p:ext>
            </p:extLst>
          </p:nvPr>
        </p:nvGraphicFramePr>
        <p:xfrm>
          <a:off x="838200" y="1825625"/>
          <a:ext cx="10146030" cy="3754120"/>
        </p:xfrm>
        <a:graphic>
          <a:graphicData uri="http://schemas.openxmlformats.org/drawingml/2006/table">
            <a:tbl>
              <a:tblPr firstRow="1" bandRow="1">
                <a:tableStyleId>{5C22544A-7EE6-4342-B048-85BDC9FD1C3A}</a:tableStyleId>
              </a:tblPr>
              <a:tblGrid>
                <a:gridCol w="2785919">
                  <a:extLst>
                    <a:ext uri="{9D8B030D-6E8A-4147-A177-3AD203B41FA5}">
                      <a16:colId xmlns:a16="http://schemas.microsoft.com/office/drawing/2014/main" val="3983936188"/>
                    </a:ext>
                  </a:extLst>
                </a:gridCol>
                <a:gridCol w="7360111">
                  <a:extLst>
                    <a:ext uri="{9D8B030D-6E8A-4147-A177-3AD203B41FA5}">
                      <a16:colId xmlns:a16="http://schemas.microsoft.com/office/drawing/2014/main" val="387435946"/>
                    </a:ext>
                  </a:extLst>
                </a:gridCol>
              </a:tblGrid>
              <a:tr h="370840">
                <a:tc>
                  <a:txBody>
                    <a:bodyPr/>
                    <a:lstStyle/>
                    <a:p>
                      <a:r>
                        <a:rPr lang="en-US" dirty="0"/>
                        <a:t>name</a:t>
                      </a:r>
                    </a:p>
                  </a:txBody>
                  <a:tcPr/>
                </a:tc>
                <a:tc>
                  <a:txBody>
                    <a:bodyPr/>
                    <a:lstStyle/>
                    <a:p>
                      <a:r>
                        <a:rPr lang="en-US" dirty="0"/>
                        <a:t>Latency</a:t>
                      </a:r>
                    </a:p>
                  </a:txBody>
                  <a:tcPr/>
                </a:tc>
                <a:extLst>
                  <a:ext uri="{0D108BD9-81ED-4DB2-BD59-A6C34878D82A}">
                    <a16:rowId xmlns:a16="http://schemas.microsoft.com/office/drawing/2014/main" val="22029203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Local VLM inference</a:t>
                      </a:r>
                      <a:endParaRPr lang="en-US" dirty="0"/>
                    </a:p>
                  </a:txBody>
                  <a:tcPr/>
                </a:tc>
                <a:tc>
                  <a:txBody>
                    <a:bodyPr/>
                    <a:lstStyle/>
                    <a:p>
                      <a:r>
                        <a:rPr lang="en-GB" sz="1800" kern="1200" dirty="0">
                          <a:solidFill>
                            <a:schemeClr val="dk1"/>
                          </a:solidFill>
                          <a:latin typeface="+mn-lt"/>
                          <a:ea typeface="+mn-ea"/>
                          <a:cs typeface="+mn-cs"/>
                        </a:rPr>
                        <a:t>Local inference latency</a:t>
                      </a:r>
                    </a:p>
                    <a:p>
                      <a:r>
                        <a:rPr lang="en-GB" sz="1800" kern="1200" dirty="0">
                          <a:solidFill>
                            <a:schemeClr val="dk1"/>
                          </a:solidFill>
                          <a:latin typeface="+mn-lt"/>
                          <a:ea typeface="+mn-ea"/>
                          <a:cs typeface="+mn-cs"/>
                        </a:rPr>
                        <a:t>= edge embedding latency + local text generation latency</a:t>
                      </a:r>
                    </a:p>
                  </a:txBody>
                  <a:tcPr/>
                </a:tc>
                <a:extLst>
                  <a:ext uri="{0D108BD9-81ED-4DB2-BD59-A6C34878D82A}">
                    <a16:rowId xmlns:a16="http://schemas.microsoft.com/office/drawing/2014/main" val="3667667293"/>
                  </a:ext>
                </a:extLst>
              </a:tr>
              <a:tr h="370840">
                <a:tc>
                  <a:txBody>
                    <a:bodyPr/>
                    <a:lstStyle/>
                    <a:p>
                      <a:r>
                        <a:rPr lang="en-GB" dirty="0"/>
                        <a:t>Split VLM inference</a:t>
                      </a:r>
                    </a:p>
                    <a:p>
                      <a:r>
                        <a:rPr lang="en-US" altLang="zh-CN" dirty="0"/>
                        <a:t>(</a:t>
                      </a:r>
                      <a:r>
                        <a:rPr lang="en-GB" dirty="0"/>
                        <a:t>plaintext transport</a:t>
                      </a:r>
                      <a:r>
                        <a:rPr lang="en-US" altLang="zh-CN" dirty="0"/>
                        <a:t>)</a:t>
                      </a:r>
                      <a:endParaRPr lang="en-US" dirty="0"/>
                    </a:p>
                  </a:txBody>
                  <a:tcPr/>
                </a:tc>
                <a:tc>
                  <a:txBody>
                    <a:bodyPr/>
                    <a:lstStyle/>
                    <a:p>
                      <a:r>
                        <a:rPr lang="en-GB" sz="1800" kern="1200" dirty="0">
                          <a:solidFill>
                            <a:schemeClr val="dk1"/>
                          </a:solidFill>
                          <a:latin typeface="+mn-lt"/>
                          <a:ea typeface="+mn-ea"/>
                          <a:cs typeface="+mn-cs"/>
                        </a:rPr>
                        <a:t>Split inference latency</a:t>
                      </a:r>
                    </a:p>
                    <a:p>
                      <a:r>
                        <a:rPr lang="en-GB" sz="1800" kern="1200" dirty="0">
                          <a:solidFill>
                            <a:schemeClr val="dk1"/>
                          </a:solidFill>
                          <a:latin typeface="+mn-lt"/>
                          <a:ea typeface="+mn-ea"/>
                          <a:cs typeface="+mn-cs"/>
                        </a:rPr>
                        <a:t>= edge embedding latency + embedding transfer latency + cloud text generation latency</a:t>
                      </a:r>
                    </a:p>
                  </a:txBody>
                  <a:tcPr/>
                </a:tc>
                <a:extLst>
                  <a:ext uri="{0D108BD9-81ED-4DB2-BD59-A6C34878D82A}">
                    <a16:rowId xmlns:a16="http://schemas.microsoft.com/office/drawing/2014/main" val="482539662"/>
                  </a:ext>
                </a:extLst>
              </a:tr>
              <a:tr h="370840">
                <a:tc>
                  <a:txBody>
                    <a:bodyPr/>
                    <a:lstStyle/>
                    <a:p>
                      <a:r>
                        <a:rPr lang="en-GB" dirty="0"/>
                        <a:t>Split VLM inference</a:t>
                      </a:r>
                    </a:p>
                    <a:p>
                      <a:r>
                        <a:rPr lang="en-US" dirty="0"/>
                        <a:t>(secure </a:t>
                      </a:r>
                      <a:r>
                        <a:rPr lang="en-GB" dirty="0"/>
                        <a:t>transmission</a:t>
                      </a:r>
                      <a:r>
                        <a:rPr lang="en-US" dirty="0"/>
                        <a:t>)</a:t>
                      </a:r>
                    </a:p>
                  </a:txBody>
                  <a:tcPr/>
                </a:tc>
                <a:tc>
                  <a:txBody>
                    <a:bodyPr/>
                    <a:lstStyle/>
                    <a:p>
                      <a:r>
                        <a:rPr lang="en-GB" sz="1800" kern="1200" dirty="0">
                          <a:solidFill>
                            <a:schemeClr val="dk1"/>
                          </a:solidFill>
                          <a:latin typeface="+mn-lt"/>
                          <a:ea typeface="+mn-ea"/>
                          <a:cs typeface="+mn-cs"/>
                        </a:rPr>
                        <a:t>Secure split inference latency</a:t>
                      </a:r>
                    </a:p>
                    <a:p>
                      <a:r>
                        <a:rPr lang="en-GB" sz="1800" kern="1200" dirty="0">
                          <a:solidFill>
                            <a:schemeClr val="dk1"/>
                          </a:solidFill>
                          <a:latin typeface="+mn-lt"/>
                          <a:ea typeface="+mn-ea"/>
                          <a:cs typeface="+mn-cs"/>
                        </a:rPr>
                        <a:t>= edge embedding latency + encrypted embedding transfer latency + cloud text generation latency</a:t>
                      </a:r>
                    </a:p>
                  </a:txBody>
                  <a:tcPr/>
                </a:tc>
                <a:extLst>
                  <a:ext uri="{0D108BD9-81ED-4DB2-BD59-A6C34878D82A}">
                    <a16:rowId xmlns:a16="http://schemas.microsoft.com/office/drawing/2014/main" val="34708215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Split VLM inference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GB" dirty="0"/>
                        <a:t>secure transmission</a:t>
                      </a:r>
                      <a:r>
                        <a:rPr lang="zh-CN" altLang="en-US" dirty="0"/>
                        <a:t> </a:t>
                      </a:r>
                      <a:r>
                        <a:rPr lang="en-US" dirty="0"/>
                        <a:t>+ TDX)</a:t>
                      </a:r>
                    </a:p>
                  </a:txBody>
                  <a:tcPr/>
                </a:tc>
                <a:tc>
                  <a:txBody>
                    <a:bodyPr/>
                    <a:lstStyle/>
                    <a:p>
                      <a:r>
                        <a:rPr lang="en-GB" sz="1800" kern="1200" dirty="0">
                          <a:solidFill>
                            <a:schemeClr val="dk1"/>
                          </a:solidFill>
                          <a:latin typeface="+mn-lt"/>
                          <a:ea typeface="+mn-ea"/>
                          <a:cs typeface="+mn-cs"/>
                        </a:rPr>
                        <a:t>Secure split + TDX latency</a:t>
                      </a:r>
                    </a:p>
                    <a:p>
                      <a:r>
                        <a:rPr lang="en-GB" sz="1800" kern="1200" dirty="0">
                          <a:solidFill>
                            <a:schemeClr val="dk1"/>
                          </a:solidFill>
                          <a:latin typeface="+mn-lt"/>
                          <a:ea typeface="+mn-ea"/>
                          <a:cs typeface="+mn-cs"/>
                        </a:rPr>
                        <a:t>= edge embedding latency + encrypted embedding transfer latency + TDX cloud text generation latency</a:t>
                      </a:r>
                    </a:p>
                  </a:txBody>
                  <a:tcPr/>
                </a:tc>
                <a:extLst>
                  <a:ext uri="{0D108BD9-81ED-4DB2-BD59-A6C34878D82A}">
                    <a16:rowId xmlns:a16="http://schemas.microsoft.com/office/drawing/2014/main" val="659282111"/>
                  </a:ext>
                </a:extLst>
              </a:tr>
            </a:tbl>
          </a:graphicData>
        </a:graphic>
      </p:graphicFrame>
    </p:spTree>
    <p:extLst>
      <p:ext uri="{BB962C8B-B14F-4D97-AF65-F5344CB8AC3E}">
        <p14:creationId xmlns:p14="http://schemas.microsoft.com/office/powerpoint/2010/main" val="729314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47FAC-E493-F7C0-BE66-786D4A725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98A0A-2212-5E0B-7D74-5E4496CAC571}"/>
              </a:ext>
            </a:extLst>
          </p:cNvPr>
          <p:cNvSpPr>
            <a:spLocks noGrp="1"/>
          </p:cNvSpPr>
          <p:nvPr>
            <p:ph type="title"/>
          </p:nvPr>
        </p:nvSpPr>
        <p:spPr>
          <a:xfrm>
            <a:off x="838199" y="18255"/>
            <a:ext cx="10515600" cy="1325563"/>
          </a:xfrm>
        </p:spPr>
        <p:txBody>
          <a:bodyPr/>
          <a:lstStyle/>
          <a:p>
            <a:r>
              <a:rPr lang="en-US" dirty="0"/>
              <a:t>Metrics - Latency</a:t>
            </a:r>
          </a:p>
        </p:txBody>
      </p:sp>
      <p:sp>
        <p:nvSpPr>
          <p:cNvPr id="5" name="Content Placeholder 4">
            <a:extLst>
              <a:ext uri="{FF2B5EF4-FFF2-40B4-BE49-F238E27FC236}">
                <a16:creationId xmlns:a16="http://schemas.microsoft.com/office/drawing/2014/main" id="{52370DF7-7FB4-BD29-799E-82A6E08A8E69}"/>
              </a:ext>
            </a:extLst>
          </p:cNvPr>
          <p:cNvSpPr>
            <a:spLocks noGrp="1"/>
          </p:cNvSpPr>
          <p:nvPr>
            <p:ph idx="1"/>
          </p:nvPr>
        </p:nvSpPr>
        <p:spPr>
          <a:xfrm>
            <a:off x="838199" y="1303020"/>
            <a:ext cx="10515600" cy="4351338"/>
          </a:xfrm>
        </p:spPr>
        <p:txBody>
          <a:bodyPr/>
          <a:lstStyle/>
          <a:p>
            <a:endParaRPr lang="en-US"/>
          </a:p>
        </p:txBody>
      </p:sp>
      <p:graphicFrame>
        <p:nvGraphicFramePr>
          <p:cNvPr id="6" name="Table 5">
            <a:extLst>
              <a:ext uri="{FF2B5EF4-FFF2-40B4-BE49-F238E27FC236}">
                <a16:creationId xmlns:a16="http://schemas.microsoft.com/office/drawing/2014/main" id="{5D6D8649-71AD-C152-F318-84BAC9D00373}"/>
              </a:ext>
            </a:extLst>
          </p:cNvPr>
          <p:cNvGraphicFramePr>
            <a:graphicFrameLocks noGrp="1"/>
          </p:cNvGraphicFramePr>
          <p:nvPr>
            <p:extLst>
              <p:ext uri="{D42A27DB-BD31-4B8C-83A1-F6EECF244321}">
                <p14:modId xmlns:p14="http://schemas.microsoft.com/office/powerpoint/2010/main" val="711754576"/>
              </p:ext>
            </p:extLst>
          </p:nvPr>
        </p:nvGraphicFramePr>
        <p:xfrm>
          <a:off x="838199" y="1303020"/>
          <a:ext cx="10515599" cy="4251960"/>
        </p:xfrm>
        <a:graphic>
          <a:graphicData uri="http://schemas.openxmlformats.org/drawingml/2006/table">
            <a:tbl>
              <a:tblPr firstRow="1" bandRow="1">
                <a:tableStyleId>{5C22544A-7EE6-4342-B048-85BDC9FD1C3A}</a:tableStyleId>
              </a:tblPr>
              <a:tblGrid>
                <a:gridCol w="1860175">
                  <a:extLst>
                    <a:ext uri="{9D8B030D-6E8A-4147-A177-3AD203B41FA5}">
                      <a16:colId xmlns:a16="http://schemas.microsoft.com/office/drawing/2014/main" val="133070762"/>
                    </a:ext>
                  </a:extLst>
                </a:gridCol>
                <a:gridCol w="1860175">
                  <a:extLst>
                    <a:ext uri="{9D8B030D-6E8A-4147-A177-3AD203B41FA5}">
                      <a16:colId xmlns:a16="http://schemas.microsoft.com/office/drawing/2014/main" val="338111334"/>
                    </a:ext>
                  </a:extLst>
                </a:gridCol>
                <a:gridCol w="1860175">
                  <a:extLst>
                    <a:ext uri="{9D8B030D-6E8A-4147-A177-3AD203B41FA5}">
                      <a16:colId xmlns:a16="http://schemas.microsoft.com/office/drawing/2014/main" val="916780342"/>
                    </a:ext>
                  </a:extLst>
                </a:gridCol>
                <a:gridCol w="2570512">
                  <a:extLst>
                    <a:ext uri="{9D8B030D-6E8A-4147-A177-3AD203B41FA5}">
                      <a16:colId xmlns:a16="http://schemas.microsoft.com/office/drawing/2014/main" val="2038141888"/>
                    </a:ext>
                  </a:extLst>
                </a:gridCol>
                <a:gridCol w="2364562">
                  <a:extLst>
                    <a:ext uri="{9D8B030D-6E8A-4147-A177-3AD203B41FA5}">
                      <a16:colId xmlns:a16="http://schemas.microsoft.com/office/drawing/2014/main" val="3221669214"/>
                    </a:ext>
                  </a:extLst>
                </a:gridCol>
              </a:tblGrid>
              <a:tr h="411480">
                <a:tc>
                  <a:txBody>
                    <a:bodyPr/>
                    <a:lstStyle/>
                    <a:p>
                      <a:r>
                        <a:rPr lang="en-US" dirty="0"/>
                        <a:t>name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cloud type</a:t>
                      </a:r>
                    </a:p>
                  </a:txBody>
                  <a:tcPr/>
                </a:tc>
                <a:tc>
                  <a:txBody>
                    <a:bodyPr/>
                    <a:lstStyle/>
                    <a:p>
                      <a:r>
                        <a:rPr lang="en-US" dirty="0"/>
                        <a:t>embedding (s)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lt1"/>
                          </a:solidFill>
                          <a:effectLst/>
                          <a:latin typeface="+mn-lt"/>
                          <a:ea typeface="+mn-ea"/>
                          <a:cs typeface="+mn-cs"/>
                        </a:rPr>
                        <a:t>network overhead</a:t>
                      </a:r>
                      <a:r>
                        <a:rPr lang="zh-CN" altLang="en-US" sz="1800" b="1" kern="1200" dirty="0">
                          <a:solidFill>
                            <a:schemeClr val="lt1"/>
                          </a:solidFill>
                          <a:effectLst/>
                          <a:latin typeface="+mn-lt"/>
                          <a:ea typeface="+mn-ea"/>
                          <a:cs typeface="+mn-cs"/>
                        </a:rPr>
                        <a:t> </a:t>
                      </a:r>
                      <a:r>
                        <a:rPr lang="en-US" altLang="zh-CN" sz="1800" b="1" kern="1200" dirty="0">
                          <a:solidFill>
                            <a:schemeClr val="lt1"/>
                          </a:solidFill>
                          <a:effectLst/>
                          <a:latin typeface="+mn-lt"/>
                          <a:ea typeface="+mn-ea"/>
                          <a:cs typeface="+mn-cs"/>
                        </a:rPr>
                        <a:t>(</a:t>
                      </a:r>
                      <a:r>
                        <a:rPr lang="en-US" altLang="zh-CN" sz="1800" b="1" kern="1200" dirty="0" err="1">
                          <a:solidFill>
                            <a:schemeClr val="lt1"/>
                          </a:solidFill>
                          <a:effectLst/>
                          <a:latin typeface="+mn-lt"/>
                          <a:ea typeface="+mn-ea"/>
                          <a:cs typeface="+mn-cs"/>
                        </a:rPr>
                        <a:t>ms</a:t>
                      </a:r>
                      <a:r>
                        <a:rPr lang="en-US" altLang="zh-CN" sz="1800" b="1" kern="1200" dirty="0">
                          <a:solidFill>
                            <a:schemeClr val="lt1"/>
                          </a:solidFill>
                          <a:effectLst/>
                          <a:latin typeface="+mn-lt"/>
                          <a:ea typeface="+mn-ea"/>
                          <a:cs typeface="+mn-cs"/>
                        </a:rPr>
                        <a:t>)</a:t>
                      </a:r>
                      <a:endParaRPr lang="en-GB" sz="1800" b="1" kern="1200" dirty="0">
                        <a:solidFill>
                          <a:schemeClr val="lt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Cloud</a:t>
                      </a:r>
                      <a:r>
                        <a:rPr lang="zh-CN" altLang="en-US" sz="1800" dirty="0"/>
                        <a:t> </a:t>
                      </a:r>
                      <a:r>
                        <a:rPr lang="en-US" altLang="zh-CN" sz="1800" dirty="0"/>
                        <a:t>inference (s)</a:t>
                      </a:r>
                      <a:endParaRPr lang="en-US" sz="1800" dirty="0"/>
                    </a:p>
                  </a:txBody>
                  <a:tcPr/>
                </a:tc>
                <a:extLst>
                  <a:ext uri="{0D108BD9-81ED-4DB2-BD59-A6C34878D82A}">
                    <a16:rowId xmlns:a16="http://schemas.microsoft.com/office/drawing/2014/main" val="133714048"/>
                  </a:ext>
                </a:extLst>
              </a:tr>
              <a:tr h="377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latin typeface="+mn-lt"/>
                          <a:ea typeface="+mn-ea"/>
                          <a:cs typeface="+mn-cs"/>
                        </a:rPr>
                        <a:t>Plain HTTP baseline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18.958</a:t>
                      </a:r>
                      <a:r>
                        <a:rPr lang="en-US" altLang="zh-CN" sz="1800" kern="1200" dirty="0">
                          <a:solidFill>
                            <a:schemeClr val="dk1"/>
                          </a:solidFill>
                          <a:effectLst/>
                          <a:latin typeface="+mn-lt"/>
                          <a:ea typeface="+mn-ea"/>
                          <a:cs typeface="+mn-cs"/>
                        </a:rPr>
                        <a:t>7</a:t>
                      </a:r>
                      <a:endParaRPr lang="en-GB" sz="1800" kern="1200" dirty="0">
                        <a:solidFill>
                          <a:schemeClr val="dk1"/>
                        </a:solidFill>
                        <a:effectLst/>
                        <a:latin typeface="+mn-lt"/>
                        <a:ea typeface="+mn-ea"/>
                        <a:cs typeface="+mn-cs"/>
                      </a:endParaRPr>
                    </a:p>
                  </a:txBody>
                  <a:tcPr/>
                </a:tc>
                <a:tc>
                  <a:txBody>
                    <a:bodyPr/>
                    <a:lstStyle/>
                    <a:p>
                      <a:r>
                        <a:rPr lang="en-GB" sz="1800" kern="1200" dirty="0">
                          <a:solidFill>
                            <a:schemeClr val="dk1"/>
                          </a:solidFill>
                          <a:effectLst/>
                          <a:latin typeface="+mn-lt"/>
                          <a:ea typeface="+mn-ea"/>
                          <a:cs typeface="+mn-cs"/>
                        </a:rPr>
                        <a:t>4</a:t>
                      </a:r>
                      <a:r>
                        <a:rPr lang="en-US" altLang="zh-CN" sz="1800" kern="1200" dirty="0">
                          <a:solidFill>
                            <a:schemeClr val="dk1"/>
                          </a:solidFill>
                          <a:effectLst/>
                          <a:latin typeface="+mn-lt"/>
                          <a:ea typeface="+mn-ea"/>
                          <a:cs typeface="+mn-cs"/>
                        </a:rPr>
                        <a:t>.</a:t>
                      </a:r>
                      <a:r>
                        <a:rPr lang="en-GB" sz="1800" kern="1200" dirty="0">
                          <a:solidFill>
                            <a:schemeClr val="dk1"/>
                          </a:solidFill>
                          <a:effectLst/>
                          <a:latin typeface="+mn-lt"/>
                          <a:ea typeface="+mn-ea"/>
                          <a:cs typeface="+mn-cs"/>
                        </a:rPr>
                        <a:t>0274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14.8161</a:t>
                      </a:r>
                    </a:p>
                  </a:txBody>
                  <a:tcPr/>
                </a:tc>
                <a:extLst>
                  <a:ext uri="{0D108BD9-81ED-4DB2-BD59-A6C34878D82A}">
                    <a16:rowId xmlns:a16="http://schemas.microsoft.com/office/drawing/2014/main" val="1099923632"/>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latin typeface="+mn-lt"/>
                          <a:ea typeface="+mn-ea"/>
                          <a:cs typeface="+mn-cs"/>
                        </a:rPr>
                        <a:t>Plain HTTP baseline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Confidential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18.904</a:t>
                      </a:r>
                      <a:r>
                        <a:rPr lang="en-US" altLang="zh-CN" sz="1800" kern="1200" dirty="0">
                          <a:solidFill>
                            <a:schemeClr val="dk1"/>
                          </a:solidFill>
                          <a:effectLst/>
                          <a:latin typeface="+mn-lt"/>
                          <a:ea typeface="+mn-ea"/>
                          <a:cs typeface="+mn-cs"/>
                        </a:rPr>
                        <a:t>5</a:t>
                      </a:r>
                      <a:endParaRPr lang="en-GB" sz="1800" kern="1200" dirty="0">
                        <a:solidFill>
                          <a:schemeClr val="dk1"/>
                        </a:solidFill>
                        <a:effectLst/>
                        <a:latin typeface="+mn-lt"/>
                        <a:ea typeface="+mn-ea"/>
                        <a:cs typeface="+mn-cs"/>
                      </a:endParaRPr>
                    </a:p>
                  </a:txBody>
                  <a:tcPr/>
                </a:tc>
                <a:tc>
                  <a:txBody>
                    <a:bodyPr/>
                    <a:lstStyle/>
                    <a:p>
                      <a:r>
                        <a:rPr lang="en-GB" sz="1800" kern="1200" dirty="0">
                          <a:solidFill>
                            <a:schemeClr val="dk1"/>
                          </a:solidFill>
                          <a:effectLst/>
                          <a:latin typeface="+mn-lt"/>
                          <a:ea typeface="+mn-ea"/>
                          <a:cs typeface="+mn-cs"/>
                        </a:rPr>
                        <a:t>4</a:t>
                      </a:r>
                      <a:r>
                        <a:rPr lang="en-US" altLang="zh-CN" sz="1800" kern="1200" dirty="0">
                          <a:solidFill>
                            <a:schemeClr val="dk1"/>
                          </a:solidFill>
                          <a:effectLst/>
                          <a:latin typeface="+mn-lt"/>
                          <a:ea typeface="+mn-ea"/>
                          <a:cs typeface="+mn-cs"/>
                        </a:rPr>
                        <a:t>.</a:t>
                      </a:r>
                      <a:r>
                        <a:rPr lang="en-GB" sz="1800" kern="1200" dirty="0">
                          <a:solidFill>
                            <a:schemeClr val="dk1"/>
                          </a:solidFill>
                          <a:effectLst/>
                          <a:latin typeface="+mn-lt"/>
                          <a:ea typeface="+mn-ea"/>
                          <a:cs typeface="+mn-cs"/>
                        </a:rPr>
                        <a:t>449</a:t>
                      </a:r>
                      <a:r>
                        <a:rPr lang="en-US" altLang="zh-CN" sz="1800" kern="1200" dirty="0">
                          <a:solidFill>
                            <a:schemeClr val="dk1"/>
                          </a:solidFill>
                          <a:effectLst/>
                          <a:latin typeface="+mn-lt"/>
                          <a:ea typeface="+mn-ea"/>
                          <a:cs typeface="+mn-cs"/>
                        </a:rPr>
                        <a:t>4</a:t>
                      </a:r>
                      <a:endParaRPr lang="en-GB" sz="1800" kern="1200" dirty="0">
                        <a:solidFill>
                          <a:schemeClr val="dk1"/>
                        </a:solidFill>
                        <a:effectLst/>
                        <a:latin typeface="+mn-lt"/>
                        <a:ea typeface="+mn-ea"/>
                        <a:cs typeface="+mn-cs"/>
                      </a:endParaRPr>
                    </a:p>
                  </a:txBody>
                  <a:tcPr/>
                </a:tc>
                <a:tc>
                  <a:txBody>
                    <a:bodyPr/>
                    <a:lstStyle/>
                    <a:p>
                      <a:r>
                        <a:rPr lang="en-GB" sz="1800" kern="1200" dirty="0">
                          <a:solidFill>
                            <a:schemeClr val="dk1"/>
                          </a:solidFill>
                          <a:effectLst/>
                          <a:latin typeface="+mn-lt"/>
                          <a:ea typeface="+mn-ea"/>
                          <a:cs typeface="+mn-cs"/>
                        </a:rPr>
                        <a:t>16.4645</a:t>
                      </a:r>
                    </a:p>
                  </a:txBody>
                  <a:tcPr/>
                </a:tc>
                <a:extLst>
                  <a:ext uri="{0D108BD9-81ED-4DB2-BD59-A6C34878D82A}">
                    <a16:rowId xmlns:a16="http://schemas.microsoft.com/office/drawing/2014/main" val="3551534745"/>
                  </a:ext>
                </a:extLst>
              </a:tr>
              <a:tr h="3086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AES-GCM </a:t>
                      </a:r>
                      <a:endParaRPr lang="en-GB" sz="18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18.7869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20</a:t>
                      </a:r>
                      <a:r>
                        <a:rPr lang="en-US" altLang="zh-CN" sz="1800" kern="1200" dirty="0">
                          <a:solidFill>
                            <a:schemeClr val="dk1"/>
                          </a:solidFill>
                          <a:effectLst/>
                          <a:latin typeface="+mn-lt"/>
                          <a:ea typeface="+mn-ea"/>
                          <a:cs typeface="+mn-cs"/>
                        </a:rPr>
                        <a:t>.</a:t>
                      </a:r>
                      <a:r>
                        <a:rPr lang="en-GB" sz="1800" kern="1200" dirty="0">
                          <a:solidFill>
                            <a:schemeClr val="dk1"/>
                          </a:solidFill>
                          <a:effectLst/>
                          <a:latin typeface="+mn-lt"/>
                          <a:ea typeface="+mn-ea"/>
                          <a:cs typeface="+mn-cs"/>
                        </a:rPr>
                        <a:t>183</a:t>
                      </a:r>
                      <a:r>
                        <a:rPr lang="en-US" altLang="zh-CN" sz="1800" kern="1200" dirty="0">
                          <a:solidFill>
                            <a:schemeClr val="dk1"/>
                          </a:solidFill>
                          <a:effectLst/>
                          <a:latin typeface="+mn-lt"/>
                          <a:ea typeface="+mn-ea"/>
                          <a:cs typeface="+mn-cs"/>
                        </a:rPr>
                        <a:t>3</a:t>
                      </a:r>
                      <a:endParaRPr lang="en-GB" sz="1800" kern="1200" dirty="0">
                        <a:solidFill>
                          <a:schemeClr val="dk1"/>
                        </a:solidFill>
                        <a:effectLst/>
                        <a:latin typeface="+mn-lt"/>
                        <a:ea typeface="+mn-ea"/>
                        <a:cs typeface="+mn-cs"/>
                      </a:endParaRPr>
                    </a:p>
                    <a:p>
                      <a:endParaRPr lang="en-GB" sz="18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14.8943</a:t>
                      </a:r>
                    </a:p>
                  </a:txBody>
                  <a:tcPr/>
                </a:tc>
                <a:extLst>
                  <a:ext uri="{0D108BD9-81ED-4DB2-BD59-A6C34878D82A}">
                    <a16:rowId xmlns:a16="http://schemas.microsoft.com/office/drawing/2014/main" val="183035276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AES-GCM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Confidential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18.8247</a:t>
                      </a:r>
                    </a:p>
                  </a:txBody>
                  <a:tcPr/>
                </a:tc>
                <a:tc>
                  <a:txBody>
                    <a:bodyPr/>
                    <a:lstStyle/>
                    <a:p>
                      <a:r>
                        <a:rPr lang="en-GB" sz="1800" kern="1200" dirty="0">
                          <a:solidFill>
                            <a:schemeClr val="dk1"/>
                          </a:solidFill>
                          <a:effectLst/>
                          <a:latin typeface="+mn-lt"/>
                          <a:ea typeface="+mn-ea"/>
                          <a:cs typeface="+mn-cs"/>
                        </a:rPr>
                        <a:t>20</a:t>
                      </a:r>
                      <a:r>
                        <a:rPr lang="en-US" altLang="zh-CN" sz="1800" kern="1200" dirty="0">
                          <a:solidFill>
                            <a:schemeClr val="dk1"/>
                          </a:solidFill>
                          <a:effectLst/>
                          <a:latin typeface="+mn-lt"/>
                          <a:ea typeface="+mn-ea"/>
                          <a:cs typeface="+mn-cs"/>
                        </a:rPr>
                        <a:t>.</a:t>
                      </a:r>
                      <a:r>
                        <a:rPr lang="en-GB" sz="1800" kern="1200" dirty="0">
                          <a:solidFill>
                            <a:schemeClr val="dk1"/>
                          </a:solidFill>
                          <a:effectLst/>
                          <a:latin typeface="+mn-lt"/>
                          <a:ea typeface="+mn-ea"/>
                          <a:cs typeface="+mn-cs"/>
                        </a:rPr>
                        <a:t>6957</a:t>
                      </a:r>
                    </a:p>
                  </a:txBody>
                  <a:tcPr/>
                </a:tc>
                <a:tc>
                  <a:txBody>
                    <a:bodyPr/>
                    <a:lstStyle/>
                    <a:p>
                      <a:r>
                        <a:rPr lang="en-GB" sz="1800" kern="1200" dirty="0">
                          <a:solidFill>
                            <a:schemeClr val="dk1"/>
                          </a:solidFill>
                          <a:effectLst/>
                          <a:latin typeface="+mn-lt"/>
                          <a:ea typeface="+mn-ea"/>
                          <a:cs typeface="+mn-cs"/>
                        </a:rPr>
                        <a:t>16.583</a:t>
                      </a:r>
                      <a:r>
                        <a:rPr lang="en-US" altLang="zh-CN" sz="1800" kern="1200" dirty="0">
                          <a:solidFill>
                            <a:schemeClr val="dk1"/>
                          </a:solidFill>
                          <a:effectLst/>
                          <a:latin typeface="+mn-lt"/>
                          <a:ea typeface="+mn-ea"/>
                          <a:cs typeface="+mn-cs"/>
                        </a:rPr>
                        <a:t>7</a:t>
                      </a:r>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107514597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ChaCha20 </a:t>
                      </a:r>
                      <a:endParaRPr lang="en-GB" sz="18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18.7692</a:t>
                      </a:r>
                    </a:p>
                  </a:txBody>
                  <a:tcPr/>
                </a:tc>
                <a:tc>
                  <a:txBody>
                    <a:bodyPr/>
                    <a:lstStyle/>
                    <a:p>
                      <a:r>
                        <a:rPr lang="en-GB" sz="1800" kern="1200" dirty="0">
                          <a:solidFill>
                            <a:schemeClr val="dk1"/>
                          </a:solidFill>
                          <a:effectLst/>
                          <a:latin typeface="+mn-lt"/>
                          <a:ea typeface="+mn-ea"/>
                          <a:cs typeface="+mn-cs"/>
                        </a:rPr>
                        <a:t>20</a:t>
                      </a:r>
                      <a:r>
                        <a:rPr lang="en-US" altLang="zh-CN" sz="1800" kern="1200" dirty="0">
                          <a:solidFill>
                            <a:schemeClr val="dk1"/>
                          </a:solidFill>
                          <a:effectLst/>
                          <a:latin typeface="+mn-lt"/>
                          <a:ea typeface="+mn-ea"/>
                          <a:cs typeface="+mn-cs"/>
                        </a:rPr>
                        <a:t>.</a:t>
                      </a:r>
                      <a:r>
                        <a:rPr lang="en-GB" sz="1800" kern="1200" dirty="0">
                          <a:solidFill>
                            <a:schemeClr val="dk1"/>
                          </a:solidFill>
                          <a:effectLst/>
                          <a:latin typeface="+mn-lt"/>
                          <a:ea typeface="+mn-ea"/>
                          <a:cs typeface="+mn-cs"/>
                        </a:rPr>
                        <a:t>265</a:t>
                      </a:r>
                      <a:r>
                        <a:rPr lang="en-US" altLang="zh-CN" sz="1800" kern="1200" dirty="0">
                          <a:solidFill>
                            <a:schemeClr val="dk1"/>
                          </a:solidFill>
                          <a:effectLst/>
                          <a:latin typeface="+mn-lt"/>
                          <a:ea typeface="+mn-ea"/>
                          <a:cs typeface="+mn-cs"/>
                        </a:rPr>
                        <a:t>8</a:t>
                      </a:r>
                      <a:endParaRPr lang="en-GB" sz="18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14.9650</a:t>
                      </a:r>
                    </a:p>
                  </a:txBody>
                  <a:tcPr/>
                </a:tc>
                <a:extLst>
                  <a:ext uri="{0D108BD9-81ED-4DB2-BD59-A6C34878D82A}">
                    <a16:rowId xmlns:a16="http://schemas.microsoft.com/office/drawing/2014/main" val="2334964058"/>
                  </a:ext>
                </a:extLst>
              </a:tr>
              <a:tr h="212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ChaCha20 </a:t>
                      </a:r>
                      <a:endParaRPr lang="en-GB" sz="18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Confidential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18.7151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20</a:t>
                      </a:r>
                      <a:r>
                        <a:rPr lang="en-US" altLang="zh-CN" sz="1800" kern="1200" dirty="0">
                          <a:solidFill>
                            <a:schemeClr val="dk1"/>
                          </a:solidFill>
                          <a:effectLst/>
                          <a:latin typeface="+mn-lt"/>
                          <a:ea typeface="+mn-ea"/>
                          <a:cs typeface="+mn-cs"/>
                        </a:rPr>
                        <a:t>.</a:t>
                      </a:r>
                      <a:r>
                        <a:rPr lang="en-GB" sz="1800" kern="1200" dirty="0">
                          <a:solidFill>
                            <a:schemeClr val="dk1"/>
                          </a:solidFill>
                          <a:effectLst/>
                          <a:latin typeface="+mn-lt"/>
                          <a:ea typeface="+mn-ea"/>
                          <a:cs typeface="+mn-cs"/>
                        </a:rPr>
                        <a:t>6962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a:tc>
                <a:tc>
                  <a:txBody>
                    <a:bodyPr/>
                    <a:lstStyle/>
                    <a:p>
                      <a:r>
                        <a:rPr lang="en-GB" sz="1800" kern="1200" dirty="0">
                          <a:solidFill>
                            <a:schemeClr val="dk1"/>
                          </a:solidFill>
                          <a:effectLst/>
                          <a:latin typeface="+mn-lt"/>
                          <a:ea typeface="+mn-ea"/>
                          <a:cs typeface="+mn-cs"/>
                        </a:rPr>
                        <a:t>16.6273</a:t>
                      </a:r>
                    </a:p>
                  </a:txBody>
                  <a:tcPr/>
                </a:tc>
                <a:extLst>
                  <a:ext uri="{0D108BD9-81ED-4DB2-BD59-A6C34878D82A}">
                    <a16:rowId xmlns:a16="http://schemas.microsoft.com/office/drawing/2014/main" val="2170254071"/>
                  </a:ext>
                </a:extLst>
              </a:tr>
            </a:tbl>
          </a:graphicData>
        </a:graphic>
      </p:graphicFrame>
      <p:sp>
        <p:nvSpPr>
          <p:cNvPr id="8" name="TextBox 7">
            <a:extLst>
              <a:ext uri="{FF2B5EF4-FFF2-40B4-BE49-F238E27FC236}">
                <a16:creationId xmlns:a16="http://schemas.microsoft.com/office/drawing/2014/main" id="{8B9D4C5E-C541-4AE9-F56D-19CD2E0A10FC}"/>
              </a:ext>
            </a:extLst>
          </p:cNvPr>
          <p:cNvSpPr txBox="1"/>
          <p:nvPr/>
        </p:nvSpPr>
        <p:spPr>
          <a:xfrm>
            <a:off x="838198" y="5974765"/>
            <a:ext cx="10515599" cy="369332"/>
          </a:xfrm>
          <a:prstGeom prst="rect">
            <a:avLst/>
          </a:prstGeom>
          <a:noFill/>
        </p:spPr>
        <p:txBody>
          <a:bodyPr wrap="square">
            <a:spAutoFit/>
          </a:bodyPr>
          <a:lstStyle/>
          <a:p>
            <a:r>
              <a:rPr lang="zh-CN" altLang="en-US" dirty="0"/>
              <a:t> </a:t>
            </a:r>
            <a:r>
              <a:rPr lang="en-GB" b="1" dirty="0">
                <a:solidFill>
                  <a:srgbClr val="000000"/>
                </a:solidFill>
              </a:rPr>
              <a:t>The current data suggests encryption is not the main bottleneck</a:t>
            </a:r>
            <a:endParaRPr lang="en-US" dirty="0"/>
          </a:p>
        </p:txBody>
      </p:sp>
    </p:spTree>
    <p:extLst>
      <p:ext uri="{BB962C8B-B14F-4D97-AF65-F5344CB8AC3E}">
        <p14:creationId xmlns:p14="http://schemas.microsoft.com/office/powerpoint/2010/main" val="3984260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67EF5-FC6F-7792-41C5-2D2216A74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31E1F-4DC1-E802-793B-E81DE612C316}"/>
              </a:ext>
            </a:extLst>
          </p:cNvPr>
          <p:cNvSpPr>
            <a:spLocks noGrp="1"/>
          </p:cNvSpPr>
          <p:nvPr>
            <p:ph type="title"/>
          </p:nvPr>
        </p:nvSpPr>
        <p:spPr/>
        <p:txBody>
          <a:bodyPr/>
          <a:lstStyle/>
          <a:p>
            <a:r>
              <a:rPr lang="en-US" dirty="0"/>
              <a:t>Metrics – CPU </a:t>
            </a:r>
            <a:r>
              <a:rPr lang="en-GB" dirty="0"/>
              <a:t>time</a:t>
            </a:r>
            <a:br>
              <a:rPr lang="en-GB" dirty="0"/>
            </a:br>
            <a:r>
              <a:rPr lang="en-US" dirty="0"/>
              <a:t> </a:t>
            </a:r>
          </a:p>
        </p:txBody>
      </p:sp>
      <p:graphicFrame>
        <p:nvGraphicFramePr>
          <p:cNvPr id="4" name="Content Placeholder 3">
            <a:extLst>
              <a:ext uri="{FF2B5EF4-FFF2-40B4-BE49-F238E27FC236}">
                <a16:creationId xmlns:a16="http://schemas.microsoft.com/office/drawing/2014/main" id="{954E03B5-1DE7-31B9-E397-7DFA3548B25B}"/>
              </a:ext>
            </a:extLst>
          </p:cNvPr>
          <p:cNvGraphicFramePr>
            <a:graphicFrameLocks noGrp="1"/>
          </p:cNvGraphicFramePr>
          <p:nvPr>
            <p:ph idx="1"/>
            <p:extLst>
              <p:ext uri="{D42A27DB-BD31-4B8C-83A1-F6EECF244321}">
                <p14:modId xmlns:p14="http://schemas.microsoft.com/office/powerpoint/2010/main" val="340832973"/>
              </p:ext>
            </p:extLst>
          </p:nvPr>
        </p:nvGraphicFramePr>
        <p:xfrm>
          <a:off x="838200" y="1151255"/>
          <a:ext cx="10146030" cy="3205480"/>
        </p:xfrm>
        <a:graphic>
          <a:graphicData uri="http://schemas.openxmlformats.org/drawingml/2006/table">
            <a:tbl>
              <a:tblPr firstRow="1" bandRow="1">
                <a:tableStyleId>{5C22544A-7EE6-4342-B048-85BDC9FD1C3A}</a:tableStyleId>
              </a:tblPr>
              <a:tblGrid>
                <a:gridCol w="2785919">
                  <a:extLst>
                    <a:ext uri="{9D8B030D-6E8A-4147-A177-3AD203B41FA5}">
                      <a16:colId xmlns:a16="http://schemas.microsoft.com/office/drawing/2014/main" val="3983936188"/>
                    </a:ext>
                  </a:extLst>
                </a:gridCol>
                <a:gridCol w="7360111">
                  <a:extLst>
                    <a:ext uri="{9D8B030D-6E8A-4147-A177-3AD203B41FA5}">
                      <a16:colId xmlns:a16="http://schemas.microsoft.com/office/drawing/2014/main" val="387435946"/>
                    </a:ext>
                  </a:extLst>
                </a:gridCol>
              </a:tblGrid>
              <a:tr h="370840">
                <a:tc>
                  <a:txBody>
                    <a:bodyPr/>
                    <a:lstStyle/>
                    <a:p>
                      <a:r>
                        <a:rPr lang="en-US" dirty="0"/>
                        <a:t>name</a:t>
                      </a:r>
                    </a:p>
                  </a:txBody>
                  <a:tcPr/>
                </a:tc>
                <a:tc>
                  <a:txBody>
                    <a:bodyPr/>
                    <a:lstStyle/>
                    <a:p>
                      <a:r>
                        <a:rPr lang="en-US" dirty="0"/>
                        <a:t>Latency</a:t>
                      </a:r>
                    </a:p>
                  </a:txBody>
                  <a:tcPr/>
                </a:tc>
                <a:extLst>
                  <a:ext uri="{0D108BD9-81ED-4DB2-BD59-A6C34878D82A}">
                    <a16:rowId xmlns:a16="http://schemas.microsoft.com/office/drawing/2014/main" val="22029203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Local VLM inference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Local CPU time = edge embedding CPU time + local text generation CPU time</a:t>
                      </a:r>
                      <a:endParaRPr lang="en-US" dirty="0"/>
                    </a:p>
                  </a:txBody>
                  <a:tcPr/>
                </a:tc>
                <a:extLst>
                  <a:ext uri="{0D108BD9-81ED-4DB2-BD59-A6C34878D82A}">
                    <a16:rowId xmlns:a16="http://schemas.microsoft.com/office/drawing/2014/main" val="3667667293"/>
                  </a:ext>
                </a:extLst>
              </a:tr>
              <a:tr h="370840">
                <a:tc>
                  <a:txBody>
                    <a:bodyPr/>
                    <a:lstStyle/>
                    <a:p>
                      <a:r>
                        <a:rPr lang="en-GB" dirty="0"/>
                        <a:t>Split VLM inference</a:t>
                      </a:r>
                    </a:p>
                    <a:p>
                      <a:r>
                        <a:rPr lang="en-US" altLang="zh-CN" dirty="0"/>
                        <a:t>(</a:t>
                      </a:r>
                      <a:r>
                        <a:rPr lang="en-GB" dirty="0"/>
                        <a:t>plaintext transport</a:t>
                      </a:r>
                      <a:r>
                        <a:rPr lang="en-US" altLang="zh-CN" dirty="0"/>
                        <a:t>)</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Split CPU time = edge embedding CPU time + transfer CPU time + cloud text generation CPU time</a:t>
                      </a:r>
                      <a:endParaRPr lang="en-US" dirty="0"/>
                    </a:p>
                  </a:txBody>
                  <a:tcPr/>
                </a:tc>
                <a:extLst>
                  <a:ext uri="{0D108BD9-81ED-4DB2-BD59-A6C34878D82A}">
                    <a16:rowId xmlns:a16="http://schemas.microsoft.com/office/drawing/2014/main" val="482539662"/>
                  </a:ext>
                </a:extLst>
              </a:tr>
              <a:tr h="370840">
                <a:tc>
                  <a:txBody>
                    <a:bodyPr/>
                    <a:lstStyle/>
                    <a:p>
                      <a:r>
                        <a:rPr lang="en-GB" dirty="0"/>
                        <a:t>Split VLM inference</a:t>
                      </a:r>
                    </a:p>
                    <a:p>
                      <a:r>
                        <a:rPr lang="en-US" dirty="0"/>
                        <a:t>(secure </a:t>
                      </a:r>
                      <a:r>
                        <a:rPr lang="en-GB" dirty="0"/>
                        <a:t>transmission</a:t>
                      </a:r>
                      <a:r>
                        <a:rPr 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Secure split CPU time = edge embedding CPU time + encrypted transfer CPU time + cloud text generation CPU time</a:t>
                      </a:r>
                      <a:endParaRPr lang="en-US" dirty="0"/>
                    </a:p>
                  </a:txBody>
                  <a:tcPr/>
                </a:tc>
                <a:extLst>
                  <a:ext uri="{0D108BD9-81ED-4DB2-BD59-A6C34878D82A}">
                    <a16:rowId xmlns:a16="http://schemas.microsoft.com/office/drawing/2014/main" val="34708215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Split VLM inference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GB" dirty="0"/>
                        <a:t>secure transmission</a:t>
                      </a:r>
                      <a:r>
                        <a:rPr lang="zh-CN" altLang="en-US" dirty="0"/>
                        <a:t> </a:t>
                      </a:r>
                      <a:r>
                        <a:rPr lang="en-US" dirty="0"/>
                        <a:t>+ TDX)</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Secure split + TDX CPU time = edge embedding CPU time + encrypted transfer CPU time + TDX cloud text generation CPU time</a:t>
                      </a:r>
                      <a:endParaRPr lang="en-US" dirty="0"/>
                    </a:p>
                  </a:txBody>
                  <a:tcPr/>
                </a:tc>
                <a:extLst>
                  <a:ext uri="{0D108BD9-81ED-4DB2-BD59-A6C34878D82A}">
                    <a16:rowId xmlns:a16="http://schemas.microsoft.com/office/drawing/2014/main" val="659282111"/>
                  </a:ext>
                </a:extLst>
              </a:tr>
            </a:tbl>
          </a:graphicData>
        </a:graphic>
      </p:graphicFrame>
    </p:spTree>
    <p:extLst>
      <p:ext uri="{BB962C8B-B14F-4D97-AF65-F5344CB8AC3E}">
        <p14:creationId xmlns:p14="http://schemas.microsoft.com/office/powerpoint/2010/main" val="1369336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856F0-5759-69BE-CE0E-C7C075FD5D08}"/>
              </a:ext>
            </a:extLst>
          </p:cNvPr>
          <p:cNvSpPr>
            <a:spLocks noGrp="1"/>
          </p:cNvSpPr>
          <p:nvPr>
            <p:ph type="title"/>
          </p:nvPr>
        </p:nvSpPr>
        <p:spPr>
          <a:xfrm>
            <a:off x="838200" y="136525"/>
            <a:ext cx="10515600" cy="1325563"/>
          </a:xfrm>
        </p:spPr>
        <p:txBody>
          <a:bodyPr/>
          <a:lstStyle/>
          <a:p>
            <a:r>
              <a:rPr lang="en-US" dirty="0"/>
              <a:t>Metrics – CPU </a:t>
            </a:r>
            <a:r>
              <a:rPr lang="en-GB" dirty="0"/>
              <a:t>time</a:t>
            </a:r>
            <a:endParaRPr lang="en-US" dirty="0"/>
          </a:p>
        </p:txBody>
      </p:sp>
      <p:graphicFrame>
        <p:nvGraphicFramePr>
          <p:cNvPr id="4" name="Table 3">
            <a:extLst>
              <a:ext uri="{FF2B5EF4-FFF2-40B4-BE49-F238E27FC236}">
                <a16:creationId xmlns:a16="http://schemas.microsoft.com/office/drawing/2014/main" id="{10467F80-6FE1-AAA0-5934-C061F3323B4C}"/>
              </a:ext>
            </a:extLst>
          </p:cNvPr>
          <p:cNvGraphicFramePr>
            <a:graphicFrameLocks noGrp="1"/>
          </p:cNvGraphicFramePr>
          <p:nvPr>
            <p:extLst>
              <p:ext uri="{D42A27DB-BD31-4B8C-83A1-F6EECF244321}">
                <p14:modId xmlns:p14="http://schemas.microsoft.com/office/powerpoint/2010/main" val="3837771908"/>
              </p:ext>
            </p:extLst>
          </p:nvPr>
        </p:nvGraphicFramePr>
        <p:xfrm>
          <a:off x="838200" y="1143635"/>
          <a:ext cx="10223377" cy="4480560"/>
        </p:xfrm>
        <a:graphic>
          <a:graphicData uri="http://schemas.openxmlformats.org/drawingml/2006/table">
            <a:tbl>
              <a:tblPr firstRow="1" bandRow="1">
                <a:tableStyleId>{5C22544A-7EE6-4342-B048-85BDC9FD1C3A}</a:tableStyleId>
              </a:tblPr>
              <a:tblGrid>
                <a:gridCol w="1299686">
                  <a:extLst>
                    <a:ext uri="{9D8B030D-6E8A-4147-A177-3AD203B41FA5}">
                      <a16:colId xmlns:a16="http://schemas.microsoft.com/office/drawing/2014/main" val="133070762"/>
                    </a:ext>
                  </a:extLst>
                </a:gridCol>
                <a:gridCol w="1792191">
                  <a:extLst>
                    <a:ext uri="{9D8B030D-6E8A-4147-A177-3AD203B41FA5}">
                      <a16:colId xmlns:a16="http://schemas.microsoft.com/office/drawing/2014/main" val="338111334"/>
                    </a:ext>
                  </a:extLst>
                </a:gridCol>
                <a:gridCol w="1512111">
                  <a:extLst>
                    <a:ext uri="{9D8B030D-6E8A-4147-A177-3AD203B41FA5}">
                      <a16:colId xmlns:a16="http://schemas.microsoft.com/office/drawing/2014/main" val="916780342"/>
                    </a:ext>
                  </a:extLst>
                </a:gridCol>
                <a:gridCol w="2066492">
                  <a:extLst>
                    <a:ext uri="{9D8B030D-6E8A-4147-A177-3AD203B41FA5}">
                      <a16:colId xmlns:a16="http://schemas.microsoft.com/office/drawing/2014/main" val="758625885"/>
                    </a:ext>
                  </a:extLst>
                </a:gridCol>
                <a:gridCol w="1478079">
                  <a:extLst>
                    <a:ext uri="{9D8B030D-6E8A-4147-A177-3AD203B41FA5}">
                      <a16:colId xmlns:a16="http://schemas.microsoft.com/office/drawing/2014/main" val="3221669214"/>
                    </a:ext>
                  </a:extLst>
                </a:gridCol>
                <a:gridCol w="2074818">
                  <a:extLst>
                    <a:ext uri="{9D8B030D-6E8A-4147-A177-3AD203B41FA5}">
                      <a16:colId xmlns:a16="http://schemas.microsoft.com/office/drawing/2014/main" val="1495561191"/>
                    </a:ext>
                  </a:extLst>
                </a:gridCol>
              </a:tblGrid>
              <a:tr h="411480">
                <a:tc>
                  <a:txBody>
                    <a:bodyPr/>
                    <a:lstStyle/>
                    <a:p>
                      <a:r>
                        <a:rPr lang="en-US" dirty="0"/>
                        <a:t>name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cloud type</a:t>
                      </a:r>
                    </a:p>
                  </a:txBody>
                  <a:tcPr/>
                </a:tc>
                <a:tc>
                  <a:txBody>
                    <a:bodyPr/>
                    <a:lstStyle/>
                    <a:p>
                      <a:r>
                        <a:rPr lang="en-US" dirty="0"/>
                        <a:t>embedding</a:t>
                      </a:r>
                      <a:r>
                        <a:rPr lang="zh-CN" altLang="en-US" dirty="0"/>
                        <a:t> </a:t>
                      </a:r>
                      <a:r>
                        <a:rPr lang="en-US" altLang="zh-CN" dirty="0" err="1"/>
                        <a:t>cpu</a:t>
                      </a:r>
                      <a:r>
                        <a:rPr lang="zh-CN" altLang="en-US" dirty="0"/>
                        <a:t> </a:t>
                      </a:r>
                      <a:r>
                        <a:rPr lang="en-US" altLang="zh-CN" dirty="0"/>
                        <a:t>time (s)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lt1"/>
                          </a:solidFill>
                          <a:effectLst/>
                          <a:latin typeface="+mn-lt"/>
                          <a:ea typeface="+mn-ea"/>
                          <a:cs typeface="+mn-cs"/>
                        </a:rPr>
                        <a:t>edge</a:t>
                      </a:r>
                      <a:r>
                        <a:rPr lang="zh-CN" altLang="en-US" sz="1800" b="1" kern="1200" dirty="0">
                          <a:solidFill>
                            <a:schemeClr val="lt1"/>
                          </a:solidFill>
                          <a:effectLst/>
                          <a:latin typeface="+mn-lt"/>
                          <a:ea typeface="+mn-ea"/>
                          <a:cs typeface="+mn-cs"/>
                        </a:rPr>
                        <a:t> </a:t>
                      </a:r>
                      <a:r>
                        <a:rPr lang="en-GB" sz="1800" b="1" kern="1200" dirty="0">
                          <a:solidFill>
                            <a:schemeClr val="lt1"/>
                          </a:solidFill>
                          <a:effectLst/>
                          <a:latin typeface="+mn-lt"/>
                          <a:ea typeface="+mn-ea"/>
                          <a:cs typeface="+mn-cs"/>
                        </a:rPr>
                        <a:t>transfer</a:t>
                      </a:r>
                      <a:r>
                        <a:rPr lang="zh-CN" altLang="en-US" sz="1800" b="1" kern="1200" dirty="0">
                          <a:solidFill>
                            <a:schemeClr val="lt1"/>
                          </a:solidFill>
                          <a:effectLst/>
                          <a:latin typeface="+mn-lt"/>
                          <a:ea typeface="+mn-ea"/>
                          <a:cs typeface="+mn-cs"/>
                        </a:rPr>
                        <a:t> </a:t>
                      </a:r>
                      <a:r>
                        <a:rPr lang="en-GB" sz="1800" b="1" kern="1200" dirty="0" err="1">
                          <a:solidFill>
                            <a:schemeClr val="lt1"/>
                          </a:solidFill>
                          <a:effectLst/>
                          <a:latin typeface="+mn-lt"/>
                          <a:ea typeface="+mn-ea"/>
                          <a:cs typeface="+mn-cs"/>
                        </a:rPr>
                        <a:t>cpu</a:t>
                      </a:r>
                      <a:r>
                        <a:rPr lang="zh-CN" altLang="en-US" sz="1800" b="1" kern="1200" dirty="0">
                          <a:solidFill>
                            <a:schemeClr val="lt1"/>
                          </a:solidFill>
                          <a:effectLst/>
                          <a:latin typeface="+mn-lt"/>
                          <a:ea typeface="+mn-ea"/>
                          <a:cs typeface="+mn-cs"/>
                        </a:rPr>
                        <a:t> </a:t>
                      </a:r>
                      <a:r>
                        <a:rPr lang="en-US" altLang="zh-CN" sz="1800" b="1" kern="1200" dirty="0">
                          <a:solidFill>
                            <a:schemeClr val="lt1"/>
                          </a:solidFill>
                          <a:effectLst/>
                          <a:latin typeface="+mn-lt"/>
                          <a:ea typeface="+mn-ea"/>
                          <a:cs typeface="+mn-cs"/>
                        </a:rPr>
                        <a:t>time (</a:t>
                      </a:r>
                      <a:r>
                        <a:rPr lang="en-US" altLang="zh-CN" sz="1800" b="1" kern="1200" dirty="0" err="1">
                          <a:solidFill>
                            <a:schemeClr val="lt1"/>
                          </a:solidFill>
                          <a:effectLst/>
                          <a:latin typeface="+mn-lt"/>
                          <a:ea typeface="+mn-ea"/>
                          <a:cs typeface="+mn-cs"/>
                        </a:rPr>
                        <a:t>ms</a:t>
                      </a:r>
                      <a:r>
                        <a:rPr lang="en-US" altLang="zh-CN" sz="1800" b="1" kern="1200" dirty="0">
                          <a:solidFill>
                            <a:schemeClr val="lt1"/>
                          </a:solidFill>
                          <a:effectLst/>
                          <a:latin typeface="+mn-lt"/>
                          <a:ea typeface="+mn-ea"/>
                          <a:cs typeface="+mn-cs"/>
                        </a:rPr>
                        <a:t>)</a:t>
                      </a:r>
                      <a:endParaRPr lang="en-GB" sz="1800" b="1" kern="1200" dirty="0">
                        <a:solidFill>
                          <a:schemeClr val="lt1"/>
                        </a:solidFill>
                        <a:effectLst/>
                        <a:latin typeface="+mn-lt"/>
                        <a:ea typeface="+mn-ea"/>
                        <a:cs typeface="+mn-cs"/>
                      </a:endParaRPr>
                    </a:p>
                  </a:txBody>
                  <a:tcPr/>
                </a:tc>
                <a:tc>
                  <a:txBody>
                    <a:bodyPr/>
                    <a:lstStyle/>
                    <a:p>
                      <a:r>
                        <a:rPr lang="en-GB" sz="1800" b="1" kern="1200" dirty="0">
                          <a:solidFill>
                            <a:schemeClr val="lt1"/>
                          </a:solidFill>
                          <a:effectLst/>
                          <a:latin typeface="+mn-lt"/>
                          <a:ea typeface="+mn-ea"/>
                          <a:cs typeface="+mn-cs"/>
                        </a:rPr>
                        <a:t>cloud</a:t>
                      </a:r>
                      <a:r>
                        <a:rPr lang="zh-CN" altLang="en-US" sz="1800" b="1" kern="1200" dirty="0">
                          <a:solidFill>
                            <a:schemeClr val="lt1"/>
                          </a:solidFill>
                          <a:effectLst/>
                          <a:latin typeface="+mn-lt"/>
                          <a:ea typeface="+mn-ea"/>
                          <a:cs typeface="+mn-cs"/>
                        </a:rPr>
                        <a:t> </a:t>
                      </a:r>
                      <a:r>
                        <a:rPr lang="en-GB" sz="1800" b="1" kern="1200" dirty="0" err="1">
                          <a:solidFill>
                            <a:schemeClr val="lt1"/>
                          </a:solidFill>
                          <a:effectLst/>
                          <a:latin typeface="+mn-lt"/>
                          <a:ea typeface="+mn-ea"/>
                          <a:cs typeface="+mn-cs"/>
                        </a:rPr>
                        <a:t>cpu</a:t>
                      </a:r>
                      <a:r>
                        <a:rPr lang="zh-CN" altLang="en-US" sz="1800" b="1" kern="1200" dirty="0">
                          <a:solidFill>
                            <a:schemeClr val="lt1"/>
                          </a:solidFill>
                          <a:effectLst/>
                          <a:latin typeface="+mn-lt"/>
                          <a:ea typeface="+mn-ea"/>
                          <a:cs typeface="+mn-cs"/>
                        </a:rPr>
                        <a:t> </a:t>
                      </a:r>
                      <a:r>
                        <a:rPr lang="en-US" altLang="zh-CN" sz="1800" b="1" kern="1200" dirty="0">
                          <a:solidFill>
                            <a:schemeClr val="lt1"/>
                          </a:solidFill>
                          <a:effectLst/>
                          <a:latin typeface="+mn-lt"/>
                          <a:ea typeface="+mn-ea"/>
                          <a:cs typeface="+mn-cs"/>
                        </a:rPr>
                        <a:t>time (s)</a:t>
                      </a:r>
                      <a:endParaRPr lang="en-GB" sz="1800" b="1" kern="1200" dirty="0">
                        <a:solidFill>
                          <a:schemeClr val="lt1"/>
                        </a:solidFill>
                        <a:effectLst/>
                        <a:latin typeface="+mn-lt"/>
                        <a:ea typeface="+mn-ea"/>
                        <a:cs typeface="+mn-cs"/>
                      </a:endParaRPr>
                    </a:p>
                  </a:txBody>
                  <a:tcPr/>
                </a:tc>
                <a:tc>
                  <a:txBody>
                    <a:bodyPr/>
                    <a:lstStyle/>
                    <a:p>
                      <a:r>
                        <a:rPr lang="en-GB" sz="1800" b="1" kern="1200" dirty="0">
                          <a:solidFill>
                            <a:schemeClr val="lt1"/>
                          </a:solidFill>
                          <a:effectLst/>
                          <a:latin typeface="+mn-lt"/>
                          <a:ea typeface="+mn-ea"/>
                          <a:cs typeface="+mn-cs"/>
                        </a:rPr>
                        <a:t>cloud performance drop</a:t>
                      </a:r>
                    </a:p>
                  </a:txBody>
                  <a:tcPr/>
                </a:tc>
                <a:extLst>
                  <a:ext uri="{0D108BD9-81ED-4DB2-BD59-A6C34878D82A}">
                    <a16:rowId xmlns:a16="http://schemas.microsoft.com/office/drawing/2014/main" val="133714048"/>
                  </a:ext>
                </a:extLst>
              </a:tr>
              <a:tr h="377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mn-lt"/>
                          <a:ea typeface="+mn-ea"/>
                          <a:cs typeface="+mn-cs"/>
                        </a:rPr>
                        <a:t> </a:t>
                      </a:r>
                      <a:r>
                        <a:rPr lang="en-GB" sz="1800" kern="1200" dirty="0">
                          <a:solidFill>
                            <a:schemeClr val="dk1"/>
                          </a:solidFill>
                          <a:latin typeface="+mn-lt"/>
                          <a:ea typeface="+mn-ea"/>
                          <a:cs typeface="+mn-cs"/>
                        </a:rPr>
                        <a:t>Plain HTTP baseline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tc>
                  <a:txBody>
                    <a:bodyPr/>
                    <a:lstStyle/>
                    <a:p>
                      <a:r>
                        <a:rPr lang="en-GB" sz="1800" kern="1200" dirty="0">
                          <a:solidFill>
                            <a:schemeClr val="dk1"/>
                          </a:solidFill>
                          <a:effectLst/>
                          <a:latin typeface="+mn-lt"/>
                          <a:ea typeface="+mn-ea"/>
                          <a:cs typeface="+mn-cs"/>
                        </a:rPr>
                        <a:t>37.997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3.00</a:t>
                      </a:r>
                    </a:p>
                  </a:txBody>
                  <a:tcPr/>
                </a:tc>
                <a:tc>
                  <a:txBody>
                    <a:bodyPr/>
                    <a:lstStyle/>
                    <a:p>
                      <a:r>
                        <a:rPr lang="en-GB" sz="1800" kern="1200" dirty="0">
                          <a:solidFill>
                            <a:schemeClr val="dk1"/>
                          </a:solidFill>
                          <a:effectLst/>
                          <a:latin typeface="+mn-lt"/>
                          <a:ea typeface="+mn-ea"/>
                          <a:cs typeface="+mn-cs"/>
                        </a:rPr>
                        <a:t>29.628</a:t>
                      </a:r>
                    </a:p>
                  </a:txBody>
                  <a:tcPr/>
                </a:tc>
                <a:tc>
                  <a:txBody>
                    <a:bodyPr/>
                    <a:lstStyle/>
                    <a:p>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1099923632"/>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latin typeface="+mn-lt"/>
                          <a:ea typeface="+mn-ea"/>
                          <a:cs typeface="+mn-cs"/>
                        </a:rPr>
                        <a:t>Plain HTTP baseline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Confidential VM</a:t>
                      </a:r>
                      <a:endParaRPr lang="en-US" dirty="0"/>
                    </a:p>
                  </a:txBody>
                  <a:tcPr/>
                </a:tc>
                <a:tc>
                  <a:txBody>
                    <a:bodyPr/>
                    <a:lstStyle/>
                    <a:p>
                      <a:r>
                        <a:rPr lang="en-GB" sz="1800" kern="1200" dirty="0">
                          <a:solidFill>
                            <a:schemeClr val="dk1"/>
                          </a:solidFill>
                          <a:effectLst/>
                          <a:latin typeface="+mn-lt"/>
                          <a:ea typeface="+mn-ea"/>
                          <a:cs typeface="+mn-cs"/>
                        </a:rPr>
                        <a:t>37.871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3.00</a:t>
                      </a:r>
                    </a:p>
                  </a:txBody>
                  <a:tcPr/>
                </a:tc>
                <a:tc>
                  <a:txBody>
                    <a:bodyPr/>
                    <a:lstStyle/>
                    <a:p>
                      <a:r>
                        <a:rPr lang="en-GB" sz="1800" kern="1200" dirty="0">
                          <a:solidFill>
                            <a:schemeClr val="dk1"/>
                          </a:solidFill>
                          <a:effectLst/>
                          <a:latin typeface="+mn-lt"/>
                          <a:ea typeface="+mn-ea"/>
                          <a:cs typeface="+mn-cs"/>
                        </a:rPr>
                        <a:t>32.926</a:t>
                      </a:r>
                    </a:p>
                  </a:txBody>
                  <a:tcPr/>
                </a:tc>
                <a:tc>
                  <a:txBody>
                    <a:bodyPr/>
                    <a:lstStyle/>
                    <a:p>
                      <a:r>
                        <a:rPr lang="en-GB" dirty="0"/>
                        <a:t>+11.13%</a:t>
                      </a:r>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3551534745"/>
                  </a:ext>
                </a:extLst>
              </a:tr>
              <a:tr h="3086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AES-GCM </a:t>
                      </a:r>
                      <a:endParaRPr lang="en-GB" sz="18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tc>
                  <a:txBody>
                    <a:bodyPr/>
                    <a:lstStyle/>
                    <a:p>
                      <a:r>
                        <a:rPr lang="en-GB" sz="1800" kern="1200" dirty="0">
                          <a:solidFill>
                            <a:schemeClr val="dk1"/>
                          </a:solidFill>
                          <a:effectLst/>
                          <a:latin typeface="+mn-lt"/>
                          <a:ea typeface="+mn-ea"/>
                          <a:cs typeface="+mn-cs"/>
                        </a:rPr>
                        <a:t>37.648</a:t>
                      </a:r>
                    </a:p>
                  </a:txBody>
                  <a:tcPr/>
                </a:tc>
                <a:tc>
                  <a:txBody>
                    <a:bodyPr/>
                    <a:lstStyle/>
                    <a:p>
                      <a:r>
                        <a:rPr lang="en-GB" sz="1800" kern="1200" dirty="0">
                          <a:solidFill>
                            <a:schemeClr val="dk1"/>
                          </a:solidFill>
                          <a:effectLst/>
                          <a:latin typeface="+mn-lt"/>
                          <a:ea typeface="+mn-ea"/>
                          <a:cs typeface="+mn-cs"/>
                        </a:rPr>
                        <a:t>12.00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29.787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183035276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AES-GCM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Confidential VM</a:t>
                      </a:r>
                      <a:endParaRPr lang="en-US" dirty="0"/>
                    </a:p>
                  </a:txBody>
                  <a:tcPr/>
                </a:tc>
                <a:tc>
                  <a:txBody>
                    <a:bodyPr/>
                    <a:lstStyle/>
                    <a:p>
                      <a:r>
                        <a:rPr lang="en-GB" sz="1800" kern="1200" dirty="0">
                          <a:solidFill>
                            <a:schemeClr val="dk1"/>
                          </a:solidFill>
                          <a:effectLst/>
                          <a:latin typeface="+mn-lt"/>
                          <a:ea typeface="+mn-ea"/>
                          <a:cs typeface="+mn-cs"/>
                        </a:rPr>
                        <a:t>37.724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33.163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+11.33%</a:t>
                      </a:r>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107514597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ChaCha20 </a:t>
                      </a:r>
                      <a:endParaRPr lang="en-GB" sz="18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tc>
                  <a:txBody>
                    <a:bodyPr/>
                    <a:lstStyle/>
                    <a:p>
                      <a:r>
                        <a:rPr lang="en-GB" sz="1800" kern="1200" dirty="0">
                          <a:solidFill>
                            <a:schemeClr val="dk1"/>
                          </a:solidFill>
                          <a:effectLst/>
                          <a:latin typeface="+mn-lt"/>
                          <a:ea typeface="+mn-ea"/>
                          <a:cs typeface="+mn-cs"/>
                        </a:rPr>
                        <a:t>37.507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11.00</a:t>
                      </a:r>
                    </a:p>
                  </a:txBody>
                  <a:tcPr/>
                </a:tc>
                <a:tc>
                  <a:txBody>
                    <a:bodyPr/>
                    <a:lstStyle/>
                    <a:p>
                      <a:r>
                        <a:rPr lang="en-GB" sz="1800" kern="1200" dirty="0">
                          <a:solidFill>
                            <a:schemeClr val="dk1"/>
                          </a:solidFill>
                          <a:effectLst/>
                          <a:latin typeface="+mn-lt"/>
                          <a:ea typeface="+mn-ea"/>
                          <a:cs typeface="+mn-cs"/>
                        </a:rPr>
                        <a:t>29.932</a:t>
                      </a:r>
                    </a:p>
                  </a:txBody>
                  <a:tcPr/>
                </a:tc>
                <a:tc>
                  <a:txBody>
                    <a:bodyPr/>
                    <a:lstStyle/>
                    <a:p>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2334964058"/>
                  </a:ext>
                </a:extLst>
              </a:tr>
              <a:tr h="212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ChaCha20 </a:t>
                      </a:r>
                      <a:endParaRPr lang="en-GB" sz="18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Confidential VM</a:t>
                      </a:r>
                      <a:endParaRPr lang="en-US" dirty="0"/>
                    </a:p>
                  </a:txBody>
                  <a:tcPr/>
                </a:tc>
                <a:tc>
                  <a:txBody>
                    <a:bodyPr/>
                    <a:lstStyle/>
                    <a:p>
                      <a:r>
                        <a:rPr lang="en-GB" sz="1800" kern="1200" dirty="0">
                          <a:solidFill>
                            <a:schemeClr val="dk1"/>
                          </a:solidFill>
                          <a:effectLst/>
                          <a:latin typeface="+mn-lt"/>
                          <a:ea typeface="+mn-ea"/>
                          <a:cs typeface="+mn-cs"/>
                        </a:rPr>
                        <a:t>37.597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11.00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33.246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+11.07%</a:t>
                      </a:r>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2170254071"/>
                  </a:ext>
                </a:extLst>
              </a:tr>
            </a:tbl>
          </a:graphicData>
        </a:graphic>
      </p:graphicFrame>
    </p:spTree>
    <p:extLst>
      <p:ext uri="{BB962C8B-B14F-4D97-AF65-F5344CB8AC3E}">
        <p14:creationId xmlns:p14="http://schemas.microsoft.com/office/powerpoint/2010/main" val="3987597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2DAA5-9D7D-7892-E745-7D2A1F30F67D}"/>
              </a:ext>
            </a:extLst>
          </p:cNvPr>
          <p:cNvSpPr>
            <a:spLocks noGrp="1"/>
          </p:cNvSpPr>
          <p:nvPr>
            <p:ph type="title"/>
          </p:nvPr>
        </p:nvSpPr>
        <p:spPr/>
        <p:txBody>
          <a:bodyPr/>
          <a:lstStyle/>
          <a:p>
            <a:r>
              <a:rPr lang="en-US" dirty="0"/>
              <a:t>Metrics – </a:t>
            </a:r>
            <a:r>
              <a:rPr lang="en-GB" dirty="0"/>
              <a:t>Throughput Degradation</a:t>
            </a:r>
            <a:endParaRPr lang="en-US" dirty="0"/>
          </a:p>
        </p:txBody>
      </p:sp>
      <p:sp>
        <p:nvSpPr>
          <p:cNvPr id="3" name="Content Placeholder 2">
            <a:extLst>
              <a:ext uri="{FF2B5EF4-FFF2-40B4-BE49-F238E27FC236}">
                <a16:creationId xmlns:a16="http://schemas.microsoft.com/office/drawing/2014/main" id="{BFE19E9F-E266-AE5D-5498-A94CB0208C7F}"/>
              </a:ext>
            </a:extLst>
          </p:cNvPr>
          <p:cNvSpPr>
            <a:spLocks noGrp="1"/>
          </p:cNvSpPr>
          <p:nvPr>
            <p:ph idx="1"/>
          </p:nvPr>
        </p:nvSpPr>
        <p:spPr/>
        <p:txBody>
          <a:bodyPr/>
          <a:lstStyle/>
          <a:p>
            <a:r>
              <a:rPr lang="en-GB" dirty="0"/>
              <a:t>Throughput measures how many images the system can process within a minute.</a:t>
            </a:r>
          </a:p>
          <a:p>
            <a:r>
              <a:rPr lang="en-GB" dirty="0"/>
              <a:t>Throughput = Number of processed images / Total batch time × 60</a:t>
            </a:r>
          </a:p>
          <a:p>
            <a:endParaRPr lang="en-US" dirty="0"/>
          </a:p>
        </p:txBody>
      </p:sp>
      <p:graphicFrame>
        <p:nvGraphicFramePr>
          <p:cNvPr id="4" name="Table 3">
            <a:extLst>
              <a:ext uri="{FF2B5EF4-FFF2-40B4-BE49-F238E27FC236}">
                <a16:creationId xmlns:a16="http://schemas.microsoft.com/office/drawing/2014/main" id="{ECFA8844-C062-716A-2D62-AB5CFBEC373B}"/>
              </a:ext>
            </a:extLst>
          </p:cNvPr>
          <p:cNvGraphicFramePr>
            <a:graphicFrameLocks noGrp="1"/>
          </p:cNvGraphicFramePr>
          <p:nvPr>
            <p:extLst>
              <p:ext uri="{D42A27DB-BD31-4B8C-83A1-F6EECF244321}">
                <p14:modId xmlns:p14="http://schemas.microsoft.com/office/powerpoint/2010/main" val="4084726235"/>
              </p:ext>
            </p:extLst>
          </p:nvPr>
        </p:nvGraphicFramePr>
        <p:xfrm>
          <a:off x="838200" y="3421743"/>
          <a:ext cx="10515600" cy="2617470"/>
        </p:xfrm>
        <a:graphic>
          <a:graphicData uri="http://schemas.openxmlformats.org/drawingml/2006/table">
            <a:tbl>
              <a:tblPr firstRow="1" bandRow="1">
                <a:tableStyleId>{5C22544A-7EE6-4342-B048-85BDC9FD1C3A}</a:tableStyleId>
              </a:tblPr>
              <a:tblGrid>
                <a:gridCol w="2259954">
                  <a:extLst>
                    <a:ext uri="{9D8B030D-6E8A-4147-A177-3AD203B41FA5}">
                      <a16:colId xmlns:a16="http://schemas.microsoft.com/office/drawing/2014/main" val="133070762"/>
                    </a:ext>
                  </a:extLst>
                </a:gridCol>
                <a:gridCol w="2259954">
                  <a:extLst>
                    <a:ext uri="{9D8B030D-6E8A-4147-A177-3AD203B41FA5}">
                      <a16:colId xmlns:a16="http://schemas.microsoft.com/office/drawing/2014/main" val="338111334"/>
                    </a:ext>
                  </a:extLst>
                </a:gridCol>
                <a:gridCol w="3968772">
                  <a:extLst>
                    <a:ext uri="{9D8B030D-6E8A-4147-A177-3AD203B41FA5}">
                      <a16:colId xmlns:a16="http://schemas.microsoft.com/office/drawing/2014/main" val="2038141888"/>
                    </a:ext>
                  </a:extLst>
                </a:gridCol>
                <a:gridCol w="2026920">
                  <a:extLst>
                    <a:ext uri="{9D8B030D-6E8A-4147-A177-3AD203B41FA5}">
                      <a16:colId xmlns:a16="http://schemas.microsoft.com/office/drawing/2014/main" val="3221669214"/>
                    </a:ext>
                  </a:extLst>
                </a:gridCol>
              </a:tblGrid>
              <a:tr h="411480">
                <a:tc>
                  <a:txBody>
                    <a:bodyPr/>
                    <a:lstStyle/>
                    <a:p>
                      <a:r>
                        <a:rPr lang="en-US" dirty="0"/>
                        <a:t>name</a:t>
                      </a:r>
                    </a:p>
                  </a:txBody>
                  <a:tcPr/>
                </a:tc>
                <a:tc>
                  <a:txBody>
                    <a:bodyPr/>
                    <a:lstStyle/>
                    <a:p>
                      <a:r>
                        <a:rPr lang="en-US" dirty="0"/>
                        <a:t>cloud type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lt1"/>
                          </a:solidFill>
                          <a:effectLst/>
                          <a:latin typeface="+mn-lt"/>
                          <a:ea typeface="+mn-ea"/>
                          <a:cs typeface="+mn-cs"/>
                        </a:rPr>
                        <a:t>throughput</a:t>
                      </a:r>
                      <a:r>
                        <a:rPr lang="zh-CN" altLang="en-US" sz="1800" b="1" kern="1200" dirty="0">
                          <a:solidFill>
                            <a:schemeClr val="lt1"/>
                          </a:solidFill>
                          <a:effectLst/>
                          <a:latin typeface="+mn-lt"/>
                          <a:ea typeface="+mn-ea"/>
                          <a:cs typeface="+mn-cs"/>
                        </a:rPr>
                        <a:t> </a:t>
                      </a:r>
                      <a:r>
                        <a:rPr lang="en-GB" sz="1800" b="1" kern="1200" dirty="0">
                          <a:solidFill>
                            <a:schemeClr val="lt1"/>
                          </a:solidFill>
                          <a:effectLst/>
                          <a:latin typeface="+mn-lt"/>
                          <a:ea typeface="+mn-ea"/>
                          <a:cs typeface="+mn-cs"/>
                        </a:rPr>
                        <a:t>images</a:t>
                      </a:r>
                      <a:r>
                        <a:rPr lang="zh-CN" altLang="en-US" sz="1800" b="1" kern="1200" dirty="0">
                          <a:solidFill>
                            <a:schemeClr val="lt1"/>
                          </a:solidFill>
                          <a:effectLst/>
                          <a:latin typeface="+mn-lt"/>
                          <a:ea typeface="+mn-ea"/>
                          <a:cs typeface="+mn-cs"/>
                        </a:rPr>
                        <a:t> </a:t>
                      </a:r>
                      <a:r>
                        <a:rPr lang="en-GB" sz="1800" b="1" kern="1200" dirty="0">
                          <a:solidFill>
                            <a:schemeClr val="lt1"/>
                          </a:solidFill>
                          <a:effectLst/>
                          <a:latin typeface="+mn-lt"/>
                          <a:ea typeface="+mn-ea"/>
                          <a:cs typeface="+mn-cs"/>
                        </a:rPr>
                        <a:t>per</a:t>
                      </a:r>
                      <a:r>
                        <a:rPr lang="zh-CN" altLang="en-US" sz="1800" b="1" kern="1200" dirty="0">
                          <a:solidFill>
                            <a:schemeClr val="lt1"/>
                          </a:solidFill>
                          <a:effectLst/>
                          <a:latin typeface="+mn-lt"/>
                          <a:ea typeface="+mn-ea"/>
                          <a:cs typeface="+mn-cs"/>
                        </a:rPr>
                        <a:t> </a:t>
                      </a:r>
                      <a:r>
                        <a:rPr lang="en-GB" sz="1800" b="1" kern="1200" dirty="0">
                          <a:solidFill>
                            <a:schemeClr val="lt1"/>
                          </a:solidFill>
                          <a:effectLst/>
                          <a:latin typeface="+mn-lt"/>
                          <a:ea typeface="+mn-ea"/>
                          <a:cs typeface="+mn-cs"/>
                        </a:rPr>
                        <a:t>minute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lt1"/>
                          </a:solidFill>
                          <a:effectLst/>
                          <a:latin typeface="+mn-lt"/>
                          <a:ea typeface="+mn-ea"/>
                          <a:cs typeface="+mn-cs"/>
                        </a:rPr>
                        <a:t>drop</a:t>
                      </a:r>
                    </a:p>
                  </a:txBody>
                  <a:tcPr/>
                </a:tc>
                <a:extLst>
                  <a:ext uri="{0D108BD9-81ED-4DB2-BD59-A6C34878D82A}">
                    <a16:rowId xmlns:a16="http://schemas.microsoft.com/office/drawing/2014/main" val="133714048"/>
                  </a:ext>
                </a:extLst>
              </a:tr>
              <a:tr h="377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latin typeface="+mn-lt"/>
                          <a:ea typeface="+mn-ea"/>
                          <a:cs typeface="+mn-cs"/>
                        </a:rPr>
                        <a:t>Plain HTTP baseline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1.76997238624327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1099923632"/>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latin typeface="+mn-lt"/>
                          <a:ea typeface="+mn-ea"/>
                          <a:cs typeface="+mn-cs"/>
                        </a:rPr>
                        <a:t>Plain HTTP baseline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Confidential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1.69051662292464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4.48%</a:t>
                      </a:r>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3551534745"/>
                  </a:ext>
                </a:extLst>
              </a:tr>
              <a:tr h="3086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AES-GCM </a:t>
                      </a:r>
                      <a:endParaRPr lang="en-GB" sz="18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tc>
                  <a:txBody>
                    <a:bodyPr/>
                    <a:lstStyle/>
                    <a:p>
                      <a:r>
                        <a:rPr lang="en-GB" sz="1800" kern="1200" dirty="0">
                          <a:solidFill>
                            <a:schemeClr val="dk1"/>
                          </a:solidFill>
                          <a:effectLst/>
                          <a:latin typeface="+mn-lt"/>
                          <a:ea typeface="+mn-ea"/>
                          <a:cs typeface="+mn-cs"/>
                        </a:rPr>
                        <a:t>1.77413555660911</a:t>
                      </a:r>
                    </a:p>
                  </a:txBody>
                  <a:tcPr/>
                </a:tc>
                <a:tc>
                  <a:txBody>
                    <a:bodyPr/>
                    <a:lstStyle/>
                    <a:p>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183035276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AES-GCM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Confidential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1.68790460978989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4.86%</a:t>
                      </a:r>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107514597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ChaCha20 </a:t>
                      </a:r>
                      <a:endParaRPr lang="en-GB" sz="18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Normal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1.77429268607655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2334964058"/>
                  </a:ext>
                </a:extLst>
              </a:tr>
              <a:tr h="212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 + ChaCha20 </a:t>
                      </a:r>
                      <a:endParaRPr lang="en-GB" sz="18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Confidential VM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1.68847058281644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4.84%</a:t>
                      </a:r>
                      <a:endParaRPr lang="en-GB" sz="1800" kern="1200" dirty="0">
                        <a:solidFill>
                          <a:schemeClr val="dk1"/>
                        </a:solidFill>
                        <a:effectLst/>
                        <a:latin typeface="+mn-lt"/>
                        <a:ea typeface="+mn-ea"/>
                        <a:cs typeface="+mn-cs"/>
                      </a:endParaRPr>
                    </a:p>
                  </a:txBody>
                  <a:tcPr/>
                </a:tc>
                <a:extLst>
                  <a:ext uri="{0D108BD9-81ED-4DB2-BD59-A6C34878D82A}">
                    <a16:rowId xmlns:a16="http://schemas.microsoft.com/office/drawing/2014/main" val="2170254071"/>
                  </a:ext>
                </a:extLst>
              </a:tr>
            </a:tbl>
          </a:graphicData>
        </a:graphic>
      </p:graphicFrame>
    </p:spTree>
    <p:extLst>
      <p:ext uri="{BB962C8B-B14F-4D97-AF65-F5344CB8AC3E}">
        <p14:creationId xmlns:p14="http://schemas.microsoft.com/office/powerpoint/2010/main" val="843060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B80BFE-289F-ADE3-54D2-93B8F7E142B9}"/>
              </a:ext>
            </a:extLst>
          </p:cNvPr>
          <p:cNvGraphicFramePr>
            <a:graphicFrameLocks noGrp="1"/>
          </p:cNvGraphicFramePr>
          <p:nvPr>
            <p:ph idx="1"/>
            <p:extLst>
              <p:ext uri="{D42A27DB-BD31-4B8C-83A1-F6EECF244321}">
                <p14:modId xmlns:p14="http://schemas.microsoft.com/office/powerpoint/2010/main" val="88779050"/>
              </p:ext>
            </p:extLst>
          </p:nvPr>
        </p:nvGraphicFramePr>
        <p:xfrm>
          <a:off x="643467" y="715629"/>
          <a:ext cx="10905068" cy="5426746"/>
        </p:xfrm>
        <a:graphic>
          <a:graphicData uri="http://schemas.openxmlformats.org/drawingml/2006/table">
            <a:tbl>
              <a:tblPr>
                <a:solidFill>
                  <a:schemeClr val="bg1"/>
                </a:solidFill>
              </a:tblPr>
              <a:tblGrid>
                <a:gridCol w="2700969">
                  <a:extLst>
                    <a:ext uri="{9D8B030D-6E8A-4147-A177-3AD203B41FA5}">
                      <a16:colId xmlns:a16="http://schemas.microsoft.com/office/drawing/2014/main" val="1890354758"/>
                    </a:ext>
                  </a:extLst>
                </a:gridCol>
                <a:gridCol w="2700969">
                  <a:extLst>
                    <a:ext uri="{9D8B030D-6E8A-4147-A177-3AD203B41FA5}">
                      <a16:colId xmlns:a16="http://schemas.microsoft.com/office/drawing/2014/main" val="29958505"/>
                    </a:ext>
                  </a:extLst>
                </a:gridCol>
                <a:gridCol w="2700969">
                  <a:extLst>
                    <a:ext uri="{9D8B030D-6E8A-4147-A177-3AD203B41FA5}">
                      <a16:colId xmlns:a16="http://schemas.microsoft.com/office/drawing/2014/main" val="2983349330"/>
                    </a:ext>
                  </a:extLst>
                </a:gridCol>
                <a:gridCol w="2802161">
                  <a:extLst>
                    <a:ext uri="{9D8B030D-6E8A-4147-A177-3AD203B41FA5}">
                      <a16:colId xmlns:a16="http://schemas.microsoft.com/office/drawing/2014/main" val="3504488511"/>
                    </a:ext>
                  </a:extLst>
                </a:gridCol>
              </a:tblGrid>
              <a:tr h="402191">
                <a:tc>
                  <a:txBody>
                    <a:bodyPr/>
                    <a:lstStyle/>
                    <a:p>
                      <a:pPr>
                        <a:buNone/>
                      </a:pPr>
                      <a:r>
                        <a:rPr lang="en-GB" sz="1300" cap="none" spc="0">
                          <a:solidFill>
                            <a:schemeClr val="tx1"/>
                          </a:solidFill>
                        </a:rPr>
                        <a:t>Item</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no-TDX</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TDX</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Conclusion</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160067734"/>
                  </a:ext>
                </a:extLst>
              </a:tr>
              <a:tr h="402191">
                <a:tc>
                  <a:txBody>
                    <a:bodyPr/>
                    <a:lstStyle/>
                    <a:p>
                      <a:pPr>
                        <a:buNone/>
                      </a:pPr>
                      <a:r>
                        <a:rPr lang="en-GB" sz="1300" cap="none" spc="0">
                          <a:solidFill>
                            <a:schemeClr val="tx1"/>
                          </a:solidFill>
                        </a:rPr>
                        <a:t>OS</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Ubuntu 26.04 LTS</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Ubuntu 26.04 LTS</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607859651"/>
                  </a:ext>
                </a:extLst>
              </a:tr>
              <a:tr h="402191">
                <a:tc>
                  <a:txBody>
                    <a:bodyPr/>
                    <a:lstStyle/>
                    <a:p>
                      <a:pPr>
                        <a:buNone/>
                      </a:pPr>
                      <a:r>
                        <a:rPr lang="en-GB" sz="1300" cap="none" spc="0">
                          <a:solidFill>
                            <a:schemeClr val="tx1"/>
                          </a:solidFill>
                        </a:rPr>
                        <a:t>Kernel</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latin typeface="Courier New" panose="02070309020205020404" pitchFamily="49" charset="0"/>
                        </a:rPr>
                        <a:t>7.0.0-1005-gcp</a:t>
                      </a:r>
                      <a:endParaRPr lang="en-GB" sz="1300" cap="none" spc="0">
                        <a:solidFill>
                          <a:schemeClr val="tx1"/>
                        </a:solidFill>
                      </a:endParaRP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latin typeface="Courier New" panose="02070309020205020404" pitchFamily="49" charset="0"/>
                        </a:rPr>
                        <a:t>7.0.0-1005-gcp</a:t>
                      </a:r>
                      <a:endParaRPr lang="en-GB" sz="1300" cap="none" spc="0">
                        <a:solidFill>
                          <a:schemeClr val="tx1"/>
                        </a:solidFill>
                      </a:endParaRP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243143090"/>
                  </a:ext>
                </a:extLst>
              </a:tr>
              <a:tr h="402191">
                <a:tc>
                  <a:txBody>
                    <a:bodyPr/>
                    <a:lstStyle/>
                    <a:p>
                      <a:pPr>
                        <a:buNone/>
                      </a:pPr>
                      <a:r>
                        <a:rPr lang="en-GB" sz="1300" cap="none" spc="0">
                          <a:solidFill>
                            <a:schemeClr val="tx1"/>
                          </a:solidFill>
                        </a:rPr>
                        <a:t>Architecture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latin typeface="Courier New" panose="02070309020205020404" pitchFamily="49" charset="0"/>
                        </a:rPr>
                        <a:t>x86_64</a:t>
                      </a:r>
                      <a:endParaRPr lang="en-GB" sz="1300" cap="none" spc="0">
                        <a:solidFill>
                          <a:schemeClr val="tx1"/>
                        </a:solidFill>
                      </a:endParaRP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latin typeface="Courier New" panose="02070309020205020404" pitchFamily="49" charset="0"/>
                        </a:rPr>
                        <a:t>x86_64</a:t>
                      </a:r>
                      <a:endParaRPr lang="en-GB" sz="1300" cap="none" spc="0">
                        <a:solidFill>
                          <a:schemeClr val="tx1"/>
                        </a:solidFill>
                      </a:endParaRP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742090167"/>
                  </a:ext>
                </a:extLst>
              </a:tr>
              <a:tr h="402191">
                <a:tc>
                  <a:txBody>
                    <a:bodyPr/>
                    <a:lstStyle/>
                    <a:p>
                      <a:pPr>
                        <a:buNone/>
                      </a:pPr>
                      <a:r>
                        <a:rPr lang="en-GB" sz="1300" cap="none" spc="0" dirty="0">
                          <a:solidFill>
                            <a:schemeClr val="tx1"/>
                          </a:solidFill>
                        </a:rPr>
                        <a:t>vCPU count</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4</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4</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095937979"/>
                  </a:ext>
                </a:extLst>
              </a:tr>
              <a:tr h="402191">
                <a:tc>
                  <a:txBody>
                    <a:bodyPr/>
                    <a:lstStyle/>
                    <a:p>
                      <a:pPr>
                        <a:buNone/>
                      </a:pPr>
                      <a:r>
                        <a:rPr lang="en-GB" sz="1300" cap="none" spc="0" dirty="0">
                          <a:solidFill>
                            <a:schemeClr val="tx1"/>
                          </a:solidFill>
                        </a:rPr>
                        <a:t>CPU family/model</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family 6, model 143</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family 6, model 143</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 CPU generation</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866309192"/>
                  </a:ext>
                </a:extLst>
              </a:tr>
              <a:tr h="600454">
                <a:tc>
                  <a:txBody>
                    <a:bodyPr/>
                    <a:lstStyle/>
                    <a:p>
                      <a:pPr>
                        <a:buNone/>
                      </a:pPr>
                      <a:r>
                        <a:rPr lang="en-GB" sz="1300" cap="none" spc="0" dirty="0">
                          <a:solidFill>
                            <a:schemeClr val="tx1"/>
                          </a:solidFill>
                        </a:rPr>
                        <a:t>Topology</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dirty="0">
                          <a:solidFill>
                            <a:schemeClr val="tx1"/>
                          </a:solidFill>
                        </a:rPr>
                        <a:t>1 socket, 2 cores/socket, 2 threads/core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684481475"/>
                  </a:ext>
                </a:extLst>
              </a:tr>
              <a:tr h="402191">
                <a:tc>
                  <a:txBody>
                    <a:bodyPr/>
                    <a:lstStyle/>
                    <a:p>
                      <a:pPr>
                        <a:buNone/>
                      </a:pPr>
                      <a:r>
                        <a:rPr lang="en-GB" sz="1300" cap="none" spc="0">
                          <a:solidFill>
                            <a:schemeClr val="tx1"/>
                          </a:solidFill>
                        </a:rPr>
                        <a:t>Hypervisor</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KVM / Google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KVM / Google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 cloud virtualization layer</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587993015"/>
                  </a:ext>
                </a:extLst>
              </a:tr>
              <a:tr h="402191">
                <a:tc>
                  <a:txBody>
                    <a:bodyPr/>
                    <a:lstStyle/>
                    <a:p>
                      <a:pPr>
                        <a:buNone/>
                      </a:pPr>
                      <a:r>
                        <a:rPr lang="en-GB" sz="1300" cap="none" spc="0">
                          <a:solidFill>
                            <a:schemeClr val="tx1"/>
                          </a:solidFill>
                        </a:rPr>
                        <a:t>Python</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Python 3.14.4</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Python 3.14.4</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518826726"/>
                  </a:ext>
                </a:extLst>
              </a:tr>
              <a:tr h="402191">
                <a:tc>
                  <a:txBody>
                    <a:bodyPr/>
                    <a:lstStyle/>
                    <a:p>
                      <a:pPr>
                        <a:buNone/>
                      </a:pPr>
                      <a:r>
                        <a:rPr lang="en-GB" sz="1300" cap="none" spc="0">
                          <a:solidFill>
                            <a:schemeClr val="tx1"/>
                          </a:solidFill>
                        </a:rPr>
                        <a:t>pip version</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pip 25.1.1</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pip 25.1.1</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787782381"/>
                  </a:ext>
                </a:extLst>
              </a:tr>
              <a:tr h="402191">
                <a:tc>
                  <a:txBody>
                    <a:bodyPr/>
                    <a:lstStyle/>
                    <a:p>
                      <a:pPr>
                        <a:buNone/>
                      </a:pPr>
                      <a:r>
                        <a:rPr lang="en-GB" sz="1300" cap="none" spc="0">
                          <a:solidFill>
                            <a:schemeClr val="tx1"/>
                          </a:solidFill>
                        </a:rPr>
                        <a:t>pip packages</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85 packages</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85 packages</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Exact same package list</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041163946"/>
                  </a:ext>
                </a:extLst>
              </a:tr>
              <a:tr h="402191">
                <a:tc>
                  <a:txBody>
                    <a:bodyPr/>
                    <a:lstStyle/>
                    <a:p>
                      <a:pPr>
                        <a:buNone/>
                      </a:pPr>
                      <a:r>
                        <a:rPr lang="en-GB" sz="1300" cap="none" spc="0">
                          <a:solidFill>
                            <a:schemeClr val="tx1"/>
                          </a:solidFill>
                        </a:rPr>
                        <a:t>OpenSSL</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OpenSSL 3.5.5</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OpenSSL 3.5.5</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GB" sz="1300" cap="none" spc="0">
                          <a:solidFill>
                            <a:schemeClr val="tx1"/>
                          </a:solidFill>
                        </a:rPr>
                        <a:t>Same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186028640"/>
                  </a:ext>
                </a:extLst>
              </a:tr>
              <a:tr h="402191">
                <a:tc>
                  <a:txBody>
                    <a:bodyPr/>
                    <a:lstStyle/>
                    <a:p>
                      <a:pPr>
                        <a:buNone/>
                      </a:pPr>
                      <a:r>
                        <a:rPr lang="en-GB" sz="1300" cap="none" spc="0">
                          <a:solidFill>
                            <a:schemeClr val="tx1"/>
                          </a:solidFill>
                        </a:rPr>
                        <a:t>GCC</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GB" sz="1300" cap="none" spc="0">
                          <a:solidFill>
                            <a:schemeClr val="tx1"/>
                          </a:solidFill>
                        </a:rPr>
                        <a:t>GCC 15.2.0</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GB" sz="1300" cap="none" spc="0">
                          <a:solidFill>
                            <a:schemeClr val="tx1"/>
                          </a:solidFill>
                        </a:rPr>
                        <a:t>GCC 15.2.0</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GB" sz="1300" cap="none" spc="0" dirty="0">
                          <a:solidFill>
                            <a:schemeClr val="tx1"/>
                          </a:solidFill>
                        </a:rPr>
                        <a:t>Same</a:t>
                      </a:r>
                    </a:p>
                  </a:txBody>
                  <a:tcPr marL="110461" marR="66286" marT="84970" marB="8497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2335499150"/>
                  </a:ext>
                </a:extLst>
              </a:tr>
            </a:tbl>
          </a:graphicData>
        </a:graphic>
      </p:graphicFrame>
    </p:spTree>
    <p:extLst>
      <p:ext uri="{BB962C8B-B14F-4D97-AF65-F5344CB8AC3E}">
        <p14:creationId xmlns:p14="http://schemas.microsoft.com/office/powerpoint/2010/main" val="3182603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310519-7DB3-8B15-FDE6-83961ADC5753}"/>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100" kern="1200" dirty="0">
                <a:solidFill>
                  <a:schemeClr val="tx1"/>
                </a:solidFill>
                <a:latin typeface="+mj-lt"/>
                <a:ea typeface="+mj-ea"/>
                <a:cs typeface="+mj-cs"/>
              </a:rPr>
              <a:t>Benchmark </a:t>
            </a:r>
            <a:r>
              <a:rPr lang="en-US" sz="6100" kern="1200" dirty="0" err="1">
                <a:solidFill>
                  <a:schemeClr val="tx1"/>
                </a:solidFill>
                <a:latin typeface="+mj-lt"/>
                <a:ea typeface="+mj-ea"/>
                <a:cs typeface="+mj-cs"/>
              </a:rPr>
              <a:t>syscall</a:t>
            </a:r>
            <a:r>
              <a:rPr lang="en-US" sz="6100" kern="1200" dirty="0">
                <a:solidFill>
                  <a:schemeClr val="tx1"/>
                </a:solidFill>
                <a:latin typeface="+mj-lt"/>
                <a:ea typeface="+mj-ea"/>
                <a:cs typeface="+mj-cs"/>
              </a:rPr>
              <a:t> comparison</a:t>
            </a:r>
          </a:p>
        </p:txBody>
      </p:sp>
      <p:sp>
        <p:nvSpPr>
          <p:cNvPr id="2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E0EF4C3C-51A6-7822-E573-4247207C59FD}"/>
              </a:ext>
            </a:extLst>
          </p:cNvPr>
          <p:cNvGraphicFramePr>
            <a:graphicFrameLocks noGrp="1"/>
          </p:cNvGraphicFramePr>
          <p:nvPr>
            <p:ph idx="1"/>
            <p:extLst>
              <p:ext uri="{D42A27DB-BD31-4B8C-83A1-F6EECF244321}">
                <p14:modId xmlns:p14="http://schemas.microsoft.com/office/powerpoint/2010/main" val="3219507110"/>
              </p:ext>
            </p:extLst>
          </p:nvPr>
        </p:nvGraphicFramePr>
        <p:xfrm>
          <a:off x="480719" y="2633472"/>
          <a:ext cx="11227515" cy="3586355"/>
        </p:xfrm>
        <a:graphic>
          <a:graphicData uri="http://schemas.openxmlformats.org/drawingml/2006/table">
            <a:tbl>
              <a:tblPr>
                <a:tableStyleId>{9D7B26C5-4107-4FEC-AEDC-1716B250A1EF}</a:tableStyleId>
              </a:tblPr>
              <a:tblGrid>
                <a:gridCol w="3083134">
                  <a:extLst>
                    <a:ext uri="{9D8B030D-6E8A-4147-A177-3AD203B41FA5}">
                      <a16:colId xmlns:a16="http://schemas.microsoft.com/office/drawing/2014/main" val="519202029"/>
                    </a:ext>
                  </a:extLst>
                </a:gridCol>
                <a:gridCol w="2657102">
                  <a:extLst>
                    <a:ext uri="{9D8B030D-6E8A-4147-A177-3AD203B41FA5}">
                      <a16:colId xmlns:a16="http://schemas.microsoft.com/office/drawing/2014/main" val="1851494399"/>
                    </a:ext>
                  </a:extLst>
                </a:gridCol>
                <a:gridCol w="2657102">
                  <a:extLst>
                    <a:ext uri="{9D8B030D-6E8A-4147-A177-3AD203B41FA5}">
                      <a16:colId xmlns:a16="http://schemas.microsoft.com/office/drawing/2014/main" val="2490220524"/>
                    </a:ext>
                  </a:extLst>
                </a:gridCol>
                <a:gridCol w="2830177">
                  <a:extLst>
                    <a:ext uri="{9D8B030D-6E8A-4147-A177-3AD203B41FA5}">
                      <a16:colId xmlns:a16="http://schemas.microsoft.com/office/drawing/2014/main" val="2404871289"/>
                    </a:ext>
                  </a:extLst>
                </a:gridCol>
              </a:tblGrid>
              <a:tr h="717271">
                <a:tc>
                  <a:txBody>
                    <a:bodyPr/>
                    <a:lstStyle/>
                    <a:p>
                      <a:pPr>
                        <a:buNone/>
                      </a:pPr>
                      <a:r>
                        <a:rPr lang="en-GB" sz="2600" cap="none" spc="0">
                          <a:solidFill>
                            <a:schemeClr val="tx1"/>
                          </a:solidFill>
                        </a:rPr>
                        <a:t>syscall benchmark</a:t>
                      </a:r>
                    </a:p>
                  </a:txBody>
                  <a:tcPr marL="134200" marR="95857" marT="95857" marB="191714" anchor="ctr"/>
                </a:tc>
                <a:tc>
                  <a:txBody>
                    <a:bodyPr/>
                    <a:lstStyle/>
                    <a:p>
                      <a:pPr>
                        <a:buNone/>
                      </a:pPr>
                      <a:r>
                        <a:rPr lang="en-GB" sz="2600" cap="none" spc="0">
                          <a:solidFill>
                            <a:schemeClr val="tx1"/>
                          </a:solidFill>
                        </a:rPr>
                        <a:t>no-TDX</a:t>
                      </a:r>
                    </a:p>
                  </a:txBody>
                  <a:tcPr marL="134200" marR="95857" marT="95857" marB="191714" anchor="ctr"/>
                </a:tc>
                <a:tc>
                  <a:txBody>
                    <a:bodyPr/>
                    <a:lstStyle/>
                    <a:p>
                      <a:pPr>
                        <a:buNone/>
                      </a:pPr>
                      <a:r>
                        <a:rPr lang="en-GB" sz="2600" cap="none" spc="0">
                          <a:solidFill>
                            <a:schemeClr val="tx1"/>
                          </a:solidFill>
                        </a:rPr>
                        <a:t>TDX</a:t>
                      </a:r>
                    </a:p>
                  </a:txBody>
                  <a:tcPr marL="134200" marR="95857" marT="95857" marB="191714" anchor="ctr"/>
                </a:tc>
                <a:tc>
                  <a:txBody>
                    <a:bodyPr/>
                    <a:lstStyle/>
                    <a:p>
                      <a:pPr>
                        <a:buNone/>
                      </a:pPr>
                      <a:r>
                        <a:rPr lang="en-GB" sz="2600" cap="none" spc="0" dirty="0">
                          <a:solidFill>
                            <a:schemeClr val="tx1"/>
                          </a:solidFill>
                        </a:rPr>
                        <a:t>TDX overhead</a:t>
                      </a:r>
                    </a:p>
                  </a:txBody>
                  <a:tcPr marL="134200" marR="95857" marT="95857" marB="191714" anchor="ctr"/>
                </a:tc>
                <a:extLst>
                  <a:ext uri="{0D108BD9-81ED-4DB2-BD59-A6C34878D82A}">
                    <a16:rowId xmlns:a16="http://schemas.microsoft.com/office/drawing/2014/main" val="1409735662"/>
                  </a:ext>
                </a:extLst>
              </a:tr>
              <a:tr h="717271">
                <a:tc>
                  <a:txBody>
                    <a:bodyPr/>
                    <a:lstStyle/>
                    <a:p>
                      <a:pPr>
                        <a:buNone/>
                      </a:pPr>
                      <a:r>
                        <a:rPr lang="en-GB" sz="2600" cap="none" spc="0">
                          <a:solidFill>
                            <a:schemeClr val="tx1"/>
                          </a:solidFill>
                        </a:rPr>
                        <a:t>getppid()</a:t>
                      </a:r>
                    </a:p>
                  </a:txBody>
                  <a:tcPr marL="134200" marR="95857" marT="95857" marB="191714" anchor="ctr"/>
                </a:tc>
                <a:tc>
                  <a:txBody>
                    <a:bodyPr/>
                    <a:lstStyle/>
                    <a:p>
                      <a:pPr>
                        <a:buNone/>
                      </a:pPr>
                      <a:r>
                        <a:rPr lang="en-GB" sz="2600" cap="none" spc="0">
                          <a:solidFill>
                            <a:schemeClr val="tx1"/>
                          </a:solidFill>
                        </a:rPr>
                        <a:t>0.108074 us/op</a:t>
                      </a:r>
                    </a:p>
                  </a:txBody>
                  <a:tcPr marL="134200" marR="95857" marT="95857" marB="191714" anchor="ctr"/>
                </a:tc>
                <a:tc>
                  <a:txBody>
                    <a:bodyPr/>
                    <a:lstStyle/>
                    <a:p>
                      <a:pPr>
                        <a:buNone/>
                      </a:pPr>
                      <a:r>
                        <a:rPr lang="en-GB" sz="2600" cap="none" spc="0">
                          <a:solidFill>
                            <a:schemeClr val="tx1"/>
                          </a:solidFill>
                        </a:rPr>
                        <a:t>0.111182 us/op</a:t>
                      </a:r>
                    </a:p>
                  </a:txBody>
                  <a:tcPr marL="134200" marR="95857" marT="95857" marB="191714" anchor="ctr"/>
                </a:tc>
                <a:tc>
                  <a:txBody>
                    <a:bodyPr/>
                    <a:lstStyle/>
                    <a:p>
                      <a:pPr>
                        <a:buNone/>
                      </a:pPr>
                      <a:r>
                        <a:rPr lang="en-GB" sz="2600" b="1" cap="none" spc="0" dirty="0">
                          <a:solidFill>
                            <a:schemeClr val="tx1"/>
                          </a:solidFill>
                        </a:rPr>
                        <a:t>+2.88% slower</a:t>
                      </a:r>
                      <a:endParaRPr lang="en-GB" sz="2600" cap="none" spc="0" dirty="0">
                        <a:solidFill>
                          <a:schemeClr val="tx1"/>
                        </a:solidFill>
                      </a:endParaRPr>
                    </a:p>
                  </a:txBody>
                  <a:tcPr marL="134200" marR="95857" marT="95857" marB="191714" anchor="ctr"/>
                </a:tc>
                <a:extLst>
                  <a:ext uri="{0D108BD9-81ED-4DB2-BD59-A6C34878D82A}">
                    <a16:rowId xmlns:a16="http://schemas.microsoft.com/office/drawing/2014/main" val="1333790937"/>
                  </a:ext>
                </a:extLst>
              </a:tr>
              <a:tr h="717271">
                <a:tc>
                  <a:txBody>
                    <a:bodyPr/>
                    <a:lstStyle/>
                    <a:p>
                      <a:pPr>
                        <a:buNone/>
                      </a:pPr>
                      <a:r>
                        <a:rPr lang="en-GB" sz="2600" cap="none" spc="0">
                          <a:solidFill>
                            <a:schemeClr val="tx1"/>
                          </a:solidFill>
                        </a:rPr>
                        <a:t>getpgid()</a:t>
                      </a:r>
                    </a:p>
                  </a:txBody>
                  <a:tcPr marL="134200" marR="95857" marT="95857" marB="191714" anchor="ctr"/>
                </a:tc>
                <a:tc>
                  <a:txBody>
                    <a:bodyPr/>
                    <a:lstStyle/>
                    <a:p>
                      <a:pPr>
                        <a:buNone/>
                      </a:pPr>
                      <a:r>
                        <a:rPr lang="en-GB" sz="2600" cap="none" spc="0">
                          <a:solidFill>
                            <a:schemeClr val="tx1"/>
                          </a:solidFill>
                        </a:rPr>
                        <a:t>0.108646 us/op</a:t>
                      </a:r>
                    </a:p>
                  </a:txBody>
                  <a:tcPr marL="134200" marR="95857" marT="95857" marB="191714" anchor="ctr"/>
                </a:tc>
                <a:tc>
                  <a:txBody>
                    <a:bodyPr/>
                    <a:lstStyle/>
                    <a:p>
                      <a:pPr>
                        <a:buNone/>
                      </a:pPr>
                      <a:r>
                        <a:rPr lang="en-GB" sz="2600" cap="none" spc="0">
                          <a:solidFill>
                            <a:schemeClr val="tx1"/>
                          </a:solidFill>
                        </a:rPr>
                        <a:t>0.110998 us/op</a:t>
                      </a:r>
                    </a:p>
                  </a:txBody>
                  <a:tcPr marL="134200" marR="95857" marT="95857" marB="191714" anchor="ctr"/>
                </a:tc>
                <a:tc>
                  <a:txBody>
                    <a:bodyPr/>
                    <a:lstStyle/>
                    <a:p>
                      <a:pPr>
                        <a:buNone/>
                      </a:pPr>
                      <a:r>
                        <a:rPr lang="en-GB" sz="2600" b="1" cap="none" spc="0" dirty="0">
                          <a:solidFill>
                            <a:schemeClr val="tx1"/>
                          </a:solidFill>
                        </a:rPr>
                        <a:t>+2.17% slower</a:t>
                      </a:r>
                      <a:endParaRPr lang="en-GB" sz="2600" cap="none" spc="0" dirty="0">
                        <a:solidFill>
                          <a:schemeClr val="tx1"/>
                        </a:solidFill>
                      </a:endParaRPr>
                    </a:p>
                  </a:txBody>
                  <a:tcPr marL="134200" marR="95857" marT="95857" marB="191714" anchor="ctr"/>
                </a:tc>
                <a:extLst>
                  <a:ext uri="{0D108BD9-81ED-4DB2-BD59-A6C34878D82A}">
                    <a16:rowId xmlns:a16="http://schemas.microsoft.com/office/drawing/2014/main" val="1164792447"/>
                  </a:ext>
                </a:extLst>
              </a:tr>
              <a:tr h="717271">
                <a:tc>
                  <a:txBody>
                    <a:bodyPr/>
                    <a:lstStyle/>
                    <a:p>
                      <a:pPr>
                        <a:buNone/>
                      </a:pPr>
                      <a:r>
                        <a:rPr lang="en-GB" sz="2600" cap="none" spc="0">
                          <a:solidFill>
                            <a:schemeClr val="tx1"/>
                          </a:solidFill>
                        </a:rPr>
                        <a:t>fork()</a:t>
                      </a:r>
                    </a:p>
                  </a:txBody>
                  <a:tcPr marL="134200" marR="95857" marT="95857" marB="191714" anchor="ctr"/>
                </a:tc>
                <a:tc>
                  <a:txBody>
                    <a:bodyPr/>
                    <a:lstStyle/>
                    <a:p>
                      <a:pPr>
                        <a:buNone/>
                      </a:pPr>
                      <a:r>
                        <a:rPr lang="en-GB" sz="2600" cap="none" spc="0">
                          <a:solidFill>
                            <a:schemeClr val="tx1"/>
                          </a:solidFill>
                        </a:rPr>
                        <a:t>2024.88 us/op</a:t>
                      </a:r>
                    </a:p>
                  </a:txBody>
                  <a:tcPr marL="134200" marR="95857" marT="95857" marB="191714" anchor="ctr"/>
                </a:tc>
                <a:tc>
                  <a:txBody>
                    <a:bodyPr/>
                    <a:lstStyle/>
                    <a:p>
                      <a:pPr>
                        <a:buNone/>
                      </a:pPr>
                      <a:r>
                        <a:rPr lang="en-GB" sz="2600" cap="none" spc="0" dirty="0">
                          <a:solidFill>
                            <a:schemeClr val="tx1"/>
                          </a:solidFill>
                        </a:rPr>
                        <a:t>2256.69 us/op</a:t>
                      </a:r>
                    </a:p>
                  </a:txBody>
                  <a:tcPr marL="134200" marR="95857" marT="95857" marB="191714" anchor="ctr"/>
                </a:tc>
                <a:tc>
                  <a:txBody>
                    <a:bodyPr/>
                    <a:lstStyle/>
                    <a:p>
                      <a:pPr>
                        <a:buNone/>
                      </a:pPr>
                      <a:r>
                        <a:rPr lang="en-GB" sz="2600" b="1" cap="none" spc="0" dirty="0">
                          <a:solidFill>
                            <a:schemeClr val="tx1"/>
                          </a:solidFill>
                        </a:rPr>
                        <a:t>+11.45% slower</a:t>
                      </a:r>
                      <a:endParaRPr lang="en-GB" sz="2600" cap="none" spc="0" dirty="0">
                        <a:solidFill>
                          <a:schemeClr val="tx1"/>
                        </a:solidFill>
                      </a:endParaRPr>
                    </a:p>
                  </a:txBody>
                  <a:tcPr marL="134200" marR="95857" marT="95857" marB="191714" anchor="ctr"/>
                </a:tc>
                <a:extLst>
                  <a:ext uri="{0D108BD9-81ED-4DB2-BD59-A6C34878D82A}">
                    <a16:rowId xmlns:a16="http://schemas.microsoft.com/office/drawing/2014/main" val="358912632"/>
                  </a:ext>
                </a:extLst>
              </a:tr>
              <a:tr h="717271">
                <a:tc>
                  <a:txBody>
                    <a:bodyPr/>
                    <a:lstStyle/>
                    <a:p>
                      <a:pPr>
                        <a:buNone/>
                      </a:pPr>
                      <a:r>
                        <a:rPr lang="en-GB" sz="2600" cap="none" spc="0">
                          <a:solidFill>
                            <a:schemeClr val="tx1"/>
                          </a:solidFill>
                        </a:rPr>
                        <a:t>execve()</a:t>
                      </a:r>
                    </a:p>
                  </a:txBody>
                  <a:tcPr marL="134200" marR="95857" marT="95857" marB="191714" anchor="ctr"/>
                </a:tc>
                <a:tc>
                  <a:txBody>
                    <a:bodyPr/>
                    <a:lstStyle/>
                    <a:p>
                      <a:pPr>
                        <a:buNone/>
                      </a:pPr>
                      <a:r>
                        <a:rPr lang="en-GB" sz="2600" cap="none" spc="0">
                          <a:solidFill>
                            <a:schemeClr val="tx1"/>
                          </a:solidFill>
                        </a:rPr>
                        <a:t>860.26 us/op</a:t>
                      </a:r>
                    </a:p>
                  </a:txBody>
                  <a:tcPr marL="134200" marR="95857" marT="95857" marB="191714" anchor="ctr"/>
                </a:tc>
                <a:tc>
                  <a:txBody>
                    <a:bodyPr/>
                    <a:lstStyle/>
                    <a:p>
                      <a:pPr>
                        <a:buNone/>
                      </a:pPr>
                      <a:r>
                        <a:rPr lang="en-GB" sz="2600" cap="none" spc="0">
                          <a:solidFill>
                            <a:schemeClr val="tx1"/>
                          </a:solidFill>
                        </a:rPr>
                        <a:t>956.19 us/op</a:t>
                      </a:r>
                    </a:p>
                  </a:txBody>
                  <a:tcPr marL="134200" marR="95857" marT="95857" marB="191714" anchor="ctr"/>
                </a:tc>
                <a:tc>
                  <a:txBody>
                    <a:bodyPr/>
                    <a:lstStyle/>
                    <a:p>
                      <a:pPr>
                        <a:buNone/>
                      </a:pPr>
                      <a:r>
                        <a:rPr lang="en-GB" sz="2600" b="1" cap="none" spc="0" dirty="0">
                          <a:solidFill>
                            <a:schemeClr val="tx1"/>
                          </a:solidFill>
                        </a:rPr>
                        <a:t>+11.15% slower</a:t>
                      </a:r>
                      <a:endParaRPr lang="en-GB" sz="2600" cap="none" spc="0" dirty="0">
                        <a:solidFill>
                          <a:schemeClr val="tx1"/>
                        </a:solidFill>
                      </a:endParaRPr>
                    </a:p>
                  </a:txBody>
                  <a:tcPr marL="134200" marR="95857" marT="95857" marB="191714" anchor="ctr"/>
                </a:tc>
                <a:extLst>
                  <a:ext uri="{0D108BD9-81ED-4DB2-BD59-A6C34878D82A}">
                    <a16:rowId xmlns:a16="http://schemas.microsoft.com/office/drawing/2014/main" val="3807797679"/>
                  </a:ext>
                </a:extLst>
              </a:tr>
            </a:tbl>
          </a:graphicData>
        </a:graphic>
      </p:graphicFrame>
    </p:spTree>
    <p:extLst>
      <p:ext uri="{BB962C8B-B14F-4D97-AF65-F5344CB8AC3E}">
        <p14:creationId xmlns:p14="http://schemas.microsoft.com/office/powerpoint/2010/main" val="3029205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97CE99-2782-252B-1086-278D83E2CC13}"/>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dirty="0">
                <a:solidFill>
                  <a:schemeClr val="tx1"/>
                </a:solidFill>
                <a:latin typeface="+mj-lt"/>
                <a:ea typeface="+mj-ea"/>
                <a:cs typeface="+mj-cs"/>
              </a:rPr>
              <a:t>Benchmark sched </a:t>
            </a:r>
            <a:r>
              <a:rPr lang="en-US" sz="6600" dirty="0"/>
              <a:t>comparison</a:t>
            </a:r>
            <a:endParaRPr lang="en-US" sz="6600" kern="1200" dirty="0">
              <a:solidFill>
                <a:schemeClr val="tx1"/>
              </a:solidFill>
              <a:latin typeface="+mj-lt"/>
              <a:ea typeface="+mj-ea"/>
              <a:cs typeface="+mj-cs"/>
            </a:endParaRP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4D855A2E-63D8-8C9A-A2DB-6D57E155C7D2}"/>
              </a:ext>
            </a:extLst>
          </p:cNvPr>
          <p:cNvGraphicFramePr>
            <a:graphicFrameLocks noGrp="1"/>
          </p:cNvGraphicFramePr>
          <p:nvPr>
            <p:ph idx="1"/>
            <p:extLst>
              <p:ext uri="{D42A27DB-BD31-4B8C-83A1-F6EECF244321}">
                <p14:modId xmlns:p14="http://schemas.microsoft.com/office/powerpoint/2010/main" val="2683789606"/>
              </p:ext>
            </p:extLst>
          </p:nvPr>
        </p:nvGraphicFramePr>
        <p:xfrm>
          <a:off x="724286" y="2633472"/>
          <a:ext cx="10740384" cy="3586358"/>
        </p:xfrm>
        <a:graphic>
          <a:graphicData uri="http://schemas.openxmlformats.org/drawingml/2006/table">
            <a:tbl>
              <a:tblPr>
                <a:tableStyleId>{9D7B26C5-4107-4FEC-AEDC-1716B250A1EF}</a:tableStyleId>
              </a:tblPr>
              <a:tblGrid>
                <a:gridCol w="2685096">
                  <a:extLst>
                    <a:ext uri="{9D8B030D-6E8A-4147-A177-3AD203B41FA5}">
                      <a16:colId xmlns:a16="http://schemas.microsoft.com/office/drawing/2014/main" val="2151126935"/>
                    </a:ext>
                  </a:extLst>
                </a:gridCol>
                <a:gridCol w="2685096">
                  <a:extLst>
                    <a:ext uri="{9D8B030D-6E8A-4147-A177-3AD203B41FA5}">
                      <a16:colId xmlns:a16="http://schemas.microsoft.com/office/drawing/2014/main" val="1541493912"/>
                    </a:ext>
                  </a:extLst>
                </a:gridCol>
                <a:gridCol w="2685096">
                  <a:extLst>
                    <a:ext uri="{9D8B030D-6E8A-4147-A177-3AD203B41FA5}">
                      <a16:colId xmlns:a16="http://schemas.microsoft.com/office/drawing/2014/main" val="3881589559"/>
                    </a:ext>
                  </a:extLst>
                </a:gridCol>
                <a:gridCol w="2685096">
                  <a:extLst>
                    <a:ext uri="{9D8B030D-6E8A-4147-A177-3AD203B41FA5}">
                      <a16:colId xmlns:a16="http://schemas.microsoft.com/office/drawing/2014/main" val="1988492692"/>
                    </a:ext>
                  </a:extLst>
                </a:gridCol>
              </a:tblGrid>
              <a:tr h="410937">
                <a:tc>
                  <a:txBody>
                    <a:bodyPr/>
                    <a:lstStyle/>
                    <a:p>
                      <a:pPr>
                        <a:buNone/>
                      </a:pPr>
                      <a:r>
                        <a:rPr lang="en-GB" sz="1800"/>
                        <a:t>sched benchmark</a:t>
                      </a:r>
                    </a:p>
                  </a:txBody>
                  <a:tcPr marL="93395" marR="93395" marT="46697" marB="46697" anchor="ctr"/>
                </a:tc>
                <a:tc>
                  <a:txBody>
                    <a:bodyPr/>
                    <a:lstStyle/>
                    <a:p>
                      <a:pPr>
                        <a:buNone/>
                      </a:pPr>
                      <a:r>
                        <a:rPr lang="en-GB" sz="1800"/>
                        <a:t>no-TDX</a:t>
                      </a:r>
                    </a:p>
                  </a:txBody>
                  <a:tcPr marL="93395" marR="93395" marT="46697" marB="46697" anchor="ctr"/>
                </a:tc>
                <a:tc>
                  <a:txBody>
                    <a:bodyPr/>
                    <a:lstStyle/>
                    <a:p>
                      <a:pPr>
                        <a:buNone/>
                      </a:pPr>
                      <a:r>
                        <a:rPr lang="en-GB" sz="1800"/>
                        <a:t>TDX</a:t>
                      </a:r>
                    </a:p>
                  </a:txBody>
                  <a:tcPr marL="93395" marR="93395" marT="46697" marB="46697" anchor="ctr"/>
                </a:tc>
                <a:tc>
                  <a:txBody>
                    <a:bodyPr/>
                    <a:lstStyle/>
                    <a:p>
                      <a:pPr>
                        <a:buNone/>
                      </a:pPr>
                      <a:r>
                        <a:rPr lang="en-GB" sz="1800"/>
                        <a:t>TDX overhead</a:t>
                      </a:r>
                    </a:p>
                  </a:txBody>
                  <a:tcPr marL="93395" marR="93395" marT="46697" marB="46697" anchor="ctr"/>
                </a:tc>
                <a:extLst>
                  <a:ext uri="{0D108BD9-81ED-4DB2-BD59-A6C34878D82A}">
                    <a16:rowId xmlns:a16="http://schemas.microsoft.com/office/drawing/2014/main" val="2009869925"/>
                  </a:ext>
                </a:extLst>
              </a:tr>
              <a:tr h="691121">
                <a:tc>
                  <a:txBody>
                    <a:bodyPr/>
                    <a:lstStyle/>
                    <a:p>
                      <a:pPr>
                        <a:buNone/>
                      </a:pPr>
                      <a:r>
                        <a:rPr lang="en-GB" sz="1800"/>
                        <a:t>sched/messaging total time</a:t>
                      </a:r>
                    </a:p>
                  </a:txBody>
                  <a:tcPr marL="93395" marR="93395" marT="46697" marB="46697" anchor="ctr"/>
                </a:tc>
                <a:tc>
                  <a:txBody>
                    <a:bodyPr/>
                    <a:lstStyle/>
                    <a:p>
                      <a:pPr>
                        <a:buNone/>
                      </a:pPr>
                      <a:r>
                        <a:rPr lang="en-GB" sz="1800"/>
                        <a:t>0.485 s</a:t>
                      </a:r>
                    </a:p>
                  </a:txBody>
                  <a:tcPr marL="93395" marR="93395" marT="46697" marB="46697" anchor="ctr"/>
                </a:tc>
                <a:tc>
                  <a:txBody>
                    <a:bodyPr/>
                    <a:lstStyle/>
                    <a:p>
                      <a:pPr>
                        <a:buNone/>
                      </a:pPr>
                      <a:r>
                        <a:rPr lang="en-GB" sz="1800"/>
                        <a:t>0.521 s</a:t>
                      </a:r>
                    </a:p>
                  </a:txBody>
                  <a:tcPr marL="93395" marR="93395" marT="46697" marB="46697" anchor="ctr"/>
                </a:tc>
                <a:tc>
                  <a:txBody>
                    <a:bodyPr/>
                    <a:lstStyle/>
                    <a:p>
                      <a:pPr>
                        <a:buNone/>
                      </a:pPr>
                      <a:r>
                        <a:rPr lang="en-GB" sz="1800" b="1"/>
                        <a:t>+7.42% slower</a:t>
                      </a:r>
                      <a:endParaRPr lang="en-GB" sz="1800"/>
                    </a:p>
                  </a:txBody>
                  <a:tcPr marL="93395" marR="93395" marT="46697" marB="46697" anchor="ctr"/>
                </a:tc>
                <a:extLst>
                  <a:ext uri="{0D108BD9-81ED-4DB2-BD59-A6C34878D82A}">
                    <a16:rowId xmlns:a16="http://schemas.microsoft.com/office/drawing/2014/main" val="4007679574"/>
                  </a:ext>
                </a:extLst>
              </a:tr>
              <a:tr h="410937">
                <a:tc>
                  <a:txBody>
                    <a:bodyPr/>
                    <a:lstStyle/>
                    <a:p>
                      <a:pPr>
                        <a:buNone/>
                      </a:pPr>
                      <a:r>
                        <a:rPr lang="en-GB" sz="1800"/>
                        <a:t>sched/pipe time/op</a:t>
                      </a:r>
                    </a:p>
                  </a:txBody>
                  <a:tcPr marL="93395" marR="93395" marT="46697" marB="46697" anchor="ctr"/>
                </a:tc>
                <a:tc>
                  <a:txBody>
                    <a:bodyPr/>
                    <a:lstStyle/>
                    <a:p>
                      <a:pPr>
                        <a:buNone/>
                      </a:pPr>
                      <a:r>
                        <a:rPr lang="en-GB" sz="1800"/>
                        <a:t>3.005 us/op</a:t>
                      </a:r>
                    </a:p>
                  </a:txBody>
                  <a:tcPr marL="93395" marR="93395" marT="46697" marB="46697" anchor="ctr"/>
                </a:tc>
                <a:tc>
                  <a:txBody>
                    <a:bodyPr/>
                    <a:lstStyle/>
                    <a:p>
                      <a:pPr>
                        <a:buNone/>
                      </a:pPr>
                      <a:r>
                        <a:rPr lang="en-GB" sz="1800"/>
                        <a:t>4.285 us/op</a:t>
                      </a:r>
                    </a:p>
                  </a:txBody>
                  <a:tcPr marL="93395" marR="93395" marT="46697" marB="46697" anchor="ctr"/>
                </a:tc>
                <a:tc>
                  <a:txBody>
                    <a:bodyPr/>
                    <a:lstStyle/>
                    <a:p>
                      <a:pPr>
                        <a:buNone/>
                      </a:pPr>
                      <a:r>
                        <a:rPr lang="en-GB" sz="1800" b="1"/>
                        <a:t>+42.57% slower</a:t>
                      </a:r>
                      <a:endParaRPr lang="en-GB" sz="1800"/>
                    </a:p>
                  </a:txBody>
                  <a:tcPr marL="93395" marR="93395" marT="46697" marB="46697" anchor="ctr"/>
                </a:tc>
                <a:extLst>
                  <a:ext uri="{0D108BD9-81ED-4DB2-BD59-A6C34878D82A}">
                    <a16:rowId xmlns:a16="http://schemas.microsoft.com/office/drawing/2014/main" val="152347130"/>
                  </a:ext>
                </a:extLst>
              </a:tr>
              <a:tr h="691121">
                <a:tc>
                  <a:txBody>
                    <a:bodyPr/>
                    <a:lstStyle/>
                    <a:p>
                      <a:pPr>
                        <a:buNone/>
                      </a:pPr>
                      <a:r>
                        <a:rPr lang="en-GB" sz="1800"/>
                        <a:t>sched/pipe throughput</a:t>
                      </a:r>
                    </a:p>
                  </a:txBody>
                  <a:tcPr marL="93395" marR="93395" marT="46697" marB="46697" anchor="ctr"/>
                </a:tc>
                <a:tc>
                  <a:txBody>
                    <a:bodyPr/>
                    <a:lstStyle/>
                    <a:p>
                      <a:pPr>
                        <a:buNone/>
                      </a:pPr>
                      <a:r>
                        <a:rPr lang="en-GB" sz="1800"/>
                        <a:t>332,747 ops/sec</a:t>
                      </a:r>
                    </a:p>
                  </a:txBody>
                  <a:tcPr marL="93395" marR="93395" marT="46697" marB="46697" anchor="ctr"/>
                </a:tc>
                <a:tc>
                  <a:txBody>
                    <a:bodyPr/>
                    <a:lstStyle/>
                    <a:p>
                      <a:pPr>
                        <a:buNone/>
                      </a:pPr>
                      <a:r>
                        <a:rPr lang="en-GB" sz="1800"/>
                        <a:t>233,389 ops/sec</a:t>
                      </a:r>
                    </a:p>
                  </a:txBody>
                  <a:tcPr marL="93395" marR="93395" marT="46697" marB="46697" anchor="ctr"/>
                </a:tc>
                <a:tc>
                  <a:txBody>
                    <a:bodyPr/>
                    <a:lstStyle/>
                    <a:p>
                      <a:pPr>
                        <a:buNone/>
                      </a:pPr>
                      <a:r>
                        <a:rPr lang="en-GB" sz="1800" b="1"/>
                        <a:t>-29.86% throughput</a:t>
                      </a:r>
                      <a:endParaRPr lang="en-GB" sz="1800"/>
                    </a:p>
                  </a:txBody>
                  <a:tcPr marL="93395" marR="93395" marT="46697" marB="46697" anchor="ctr"/>
                </a:tc>
                <a:extLst>
                  <a:ext uri="{0D108BD9-81ED-4DB2-BD59-A6C34878D82A}">
                    <a16:rowId xmlns:a16="http://schemas.microsoft.com/office/drawing/2014/main" val="3035957025"/>
                  </a:ext>
                </a:extLst>
              </a:tr>
              <a:tr h="691121">
                <a:tc>
                  <a:txBody>
                    <a:bodyPr/>
                    <a:lstStyle/>
                    <a:p>
                      <a:pPr>
                        <a:buNone/>
                      </a:pPr>
                      <a:r>
                        <a:rPr lang="en-GB" sz="1800"/>
                        <a:t>sched/seccomp-notify time/op</a:t>
                      </a:r>
                    </a:p>
                  </a:txBody>
                  <a:tcPr marL="93395" marR="93395" marT="46697" marB="46697" anchor="ctr"/>
                </a:tc>
                <a:tc>
                  <a:txBody>
                    <a:bodyPr/>
                    <a:lstStyle/>
                    <a:p>
                      <a:pPr>
                        <a:buNone/>
                      </a:pPr>
                      <a:r>
                        <a:rPr lang="en-GB" sz="1800"/>
                        <a:t>10.056 us/op</a:t>
                      </a:r>
                    </a:p>
                  </a:txBody>
                  <a:tcPr marL="93395" marR="93395" marT="46697" marB="46697" anchor="ctr"/>
                </a:tc>
                <a:tc>
                  <a:txBody>
                    <a:bodyPr/>
                    <a:lstStyle/>
                    <a:p>
                      <a:pPr>
                        <a:buNone/>
                      </a:pPr>
                      <a:r>
                        <a:rPr lang="en-GB" sz="1800"/>
                        <a:t>31.990 us/op</a:t>
                      </a:r>
                    </a:p>
                  </a:txBody>
                  <a:tcPr marL="93395" marR="93395" marT="46697" marB="46697" anchor="ctr"/>
                </a:tc>
                <a:tc>
                  <a:txBody>
                    <a:bodyPr/>
                    <a:lstStyle/>
                    <a:p>
                      <a:pPr>
                        <a:buNone/>
                      </a:pPr>
                      <a:r>
                        <a:rPr lang="en-GB" sz="1800" b="1"/>
                        <a:t>+218.11% slower</a:t>
                      </a:r>
                      <a:endParaRPr lang="en-GB" sz="1800"/>
                    </a:p>
                  </a:txBody>
                  <a:tcPr marL="93395" marR="93395" marT="46697" marB="46697" anchor="ctr"/>
                </a:tc>
                <a:extLst>
                  <a:ext uri="{0D108BD9-81ED-4DB2-BD59-A6C34878D82A}">
                    <a16:rowId xmlns:a16="http://schemas.microsoft.com/office/drawing/2014/main" val="3600307753"/>
                  </a:ext>
                </a:extLst>
              </a:tr>
              <a:tr h="691121">
                <a:tc>
                  <a:txBody>
                    <a:bodyPr/>
                    <a:lstStyle/>
                    <a:p>
                      <a:pPr>
                        <a:buNone/>
                      </a:pPr>
                      <a:r>
                        <a:rPr lang="en-GB" sz="1800"/>
                        <a:t>sched/seccomp-notify throughput</a:t>
                      </a:r>
                    </a:p>
                  </a:txBody>
                  <a:tcPr marL="93395" marR="93395" marT="46697" marB="46697" anchor="ctr"/>
                </a:tc>
                <a:tc>
                  <a:txBody>
                    <a:bodyPr/>
                    <a:lstStyle/>
                    <a:p>
                      <a:pPr>
                        <a:buNone/>
                      </a:pPr>
                      <a:r>
                        <a:rPr lang="en-GB" sz="1800"/>
                        <a:t>99,441 ops/sec</a:t>
                      </a:r>
                    </a:p>
                  </a:txBody>
                  <a:tcPr marL="93395" marR="93395" marT="46697" marB="46697" anchor="ctr"/>
                </a:tc>
                <a:tc>
                  <a:txBody>
                    <a:bodyPr/>
                    <a:lstStyle/>
                    <a:p>
                      <a:pPr>
                        <a:buNone/>
                      </a:pPr>
                      <a:r>
                        <a:rPr lang="en-GB" sz="1800"/>
                        <a:t>31,259 ops/sec</a:t>
                      </a:r>
                    </a:p>
                  </a:txBody>
                  <a:tcPr marL="93395" marR="93395" marT="46697" marB="46697" anchor="ctr"/>
                </a:tc>
                <a:tc>
                  <a:txBody>
                    <a:bodyPr/>
                    <a:lstStyle/>
                    <a:p>
                      <a:pPr>
                        <a:buNone/>
                      </a:pPr>
                      <a:r>
                        <a:rPr lang="en-GB" sz="1800" b="1"/>
                        <a:t>-68.56% throughput</a:t>
                      </a:r>
                      <a:endParaRPr lang="en-GB" sz="1800"/>
                    </a:p>
                  </a:txBody>
                  <a:tcPr marL="93395" marR="93395" marT="46697" marB="46697" anchor="ctr"/>
                </a:tc>
                <a:extLst>
                  <a:ext uri="{0D108BD9-81ED-4DB2-BD59-A6C34878D82A}">
                    <a16:rowId xmlns:a16="http://schemas.microsoft.com/office/drawing/2014/main" val="1636955321"/>
                  </a:ext>
                </a:extLst>
              </a:tr>
            </a:tbl>
          </a:graphicData>
        </a:graphic>
      </p:graphicFrame>
    </p:spTree>
    <p:extLst>
      <p:ext uri="{BB962C8B-B14F-4D97-AF65-F5344CB8AC3E}">
        <p14:creationId xmlns:p14="http://schemas.microsoft.com/office/powerpoint/2010/main" val="2973739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6B8BFDA-D843-0DBC-ABF2-72EB79FCAB53}"/>
              </a:ext>
            </a:extLst>
          </p:cNvPr>
          <p:cNvSpPr>
            <a:spLocks noGrp="1"/>
          </p:cNvSpPr>
          <p:nvPr>
            <p:ph type="title"/>
          </p:nvPr>
        </p:nvSpPr>
        <p:spPr>
          <a:xfrm>
            <a:off x="638882" y="0"/>
            <a:ext cx="10909640" cy="1832654"/>
          </a:xfrm>
        </p:spPr>
        <p:txBody>
          <a:bodyPr vert="horz" lIns="91440" tIns="45720" rIns="91440" bIns="45720" rtlCol="0" anchor="b">
            <a:normAutofit/>
          </a:bodyPr>
          <a:lstStyle/>
          <a:p>
            <a:pPr algn="ctr"/>
            <a:r>
              <a:rPr lang="en-US" sz="6100" kern="1200" dirty="0">
                <a:solidFill>
                  <a:schemeClr val="tx1"/>
                </a:solidFill>
                <a:latin typeface="+mj-lt"/>
                <a:ea typeface="+mj-ea"/>
                <a:cs typeface="+mj-cs"/>
              </a:rPr>
              <a:t>Benchmark memory comparison</a:t>
            </a:r>
          </a:p>
        </p:txBody>
      </p:sp>
      <p:sp>
        <p:nvSpPr>
          <p:cNvPr id="24"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AEC26B20-D474-CDC3-2CF4-FC146E61D01C}"/>
              </a:ext>
            </a:extLst>
          </p:cNvPr>
          <p:cNvGraphicFramePr>
            <a:graphicFrameLocks noGrp="1"/>
          </p:cNvGraphicFramePr>
          <p:nvPr>
            <p:ph idx="1"/>
            <p:extLst>
              <p:ext uri="{D42A27DB-BD31-4B8C-83A1-F6EECF244321}">
                <p14:modId xmlns:p14="http://schemas.microsoft.com/office/powerpoint/2010/main" val="3975511825"/>
              </p:ext>
            </p:extLst>
          </p:nvPr>
        </p:nvGraphicFramePr>
        <p:xfrm>
          <a:off x="320040" y="2713274"/>
          <a:ext cx="11548874" cy="3507561"/>
        </p:xfrm>
        <a:graphic>
          <a:graphicData uri="http://schemas.openxmlformats.org/drawingml/2006/table">
            <a:tbl>
              <a:tblPr>
                <a:tableStyleId>{3B4B98B0-60AC-42C2-AFA5-B58CD77FA1E5}</a:tableStyleId>
              </a:tblPr>
              <a:tblGrid>
                <a:gridCol w="4063616">
                  <a:extLst>
                    <a:ext uri="{9D8B030D-6E8A-4147-A177-3AD203B41FA5}">
                      <a16:colId xmlns:a16="http://schemas.microsoft.com/office/drawing/2014/main" val="2319152874"/>
                    </a:ext>
                  </a:extLst>
                </a:gridCol>
                <a:gridCol w="2452289">
                  <a:extLst>
                    <a:ext uri="{9D8B030D-6E8A-4147-A177-3AD203B41FA5}">
                      <a16:colId xmlns:a16="http://schemas.microsoft.com/office/drawing/2014/main" val="1832446709"/>
                    </a:ext>
                  </a:extLst>
                </a:gridCol>
                <a:gridCol w="2452289">
                  <a:extLst>
                    <a:ext uri="{9D8B030D-6E8A-4147-A177-3AD203B41FA5}">
                      <a16:colId xmlns:a16="http://schemas.microsoft.com/office/drawing/2014/main" val="4256218095"/>
                    </a:ext>
                  </a:extLst>
                </a:gridCol>
                <a:gridCol w="2580680">
                  <a:extLst>
                    <a:ext uri="{9D8B030D-6E8A-4147-A177-3AD203B41FA5}">
                      <a16:colId xmlns:a16="http://schemas.microsoft.com/office/drawing/2014/main" val="3828481390"/>
                    </a:ext>
                  </a:extLst>
                </a:gridCol>
              </a:tblGrid>
              <a:tr h="389729">
                <a:tc>
                  <a:txBody>
                    <a:bodyPr/>
                    <a:lstStyle/>
                    <a:p>
                      <a:pPr>
                        <a:buNone/>
                      </a:pPr>
                      <a:r>
                        <a:rPr lang="en-GB" sz="1500"/>
                        <a:t>Benchmark</a:t>
                      </a:r>
                    </a:p>
                  </a:txBody>
                  <a:tcPr marL="76780" marR="76780" marT="38390" marB="38390" anchor="ctr"/>
                </a:tc>
                <a:tc>
                  <a:txBody>
                    <a:bodyPr/>
                    <a:lstStyle/>
                    <a:p>
                      <a:pPr>
                        <a:buNone/>
                      </a:pPr>
                      <a:r>
                        <a:rPr lang="en-GB" sz="1500" dirty="0"/>
                        <a:t>no-TDX</a:t>
                      </a:r>
                    </a:p>
                  </a:txBody>
                  <a:tcPr marL="76780" marR="76780" marT="38390" marB="38390" anchor="ctr"/>
                </a:tc>
                <a:tc>
                  <a:txBody>
                    <a:bodyPr/>
                    <a:lstStyle/>
                    <a:p>
                      <a:pPr>
                        <a:buNone/>
                      </a:pPr>
                      <a:r>
                        <a:rPr lang="en-GB" sz="1500"/>
                        <a:t>TDX</a:t>
                      </a:r>
                    </a:p>
                  </a:txBody>
                  <a:tcPr marL="76780" marR="76780" marT="38390" marB="38390" anchor="ctr"/>
                </a:tc>
                <a:tc>
                  <a:txBody>
                    <a:bodyPr/>
                    <a:lstStyle/>
                    <a:p>
                      <a:pPr>
                        <a:buNone/>
                      </a:pPr>
                      <a:r>
                        <a:rPr lang="en-GB" sz="1500"/>
                        <a:t>TDX change</a:t>
                      </a:r>
                    </a:p>
                  </a:txBody>
                  <a:tcPr marL="76780" marR="76780" marT="38390" marB="38390" anchor="ctr"/>
                </a:tc>
                <a:extLst>
                  <a:ext uri="{0D108BD9-81ED-4DB2-BD59-A6C34878D82A}">
                    <a16:rowId xmlns:a16="http://schemas.microsoft.com/office/drawing/2014/main" val="1824156852"/>
                  </a:ext>
                </a:extLst>
              </a:tr>
              <a:tr h="389729">
                <a:tc>
                  <a:txBody>
                    <a:bodyPr/>
                    <a:lstStyle/>
                    <a:p>
                      <a:pPr>
                        <a:buNone/>
                      </a:pPr>
                      <a:r>
                        <a:rPr lang="en-GB" sz="1500"/>
                        <a:t>memcpy default</a:t>
                      </a:r>
                    </a:p>
                  </a:txBody>
                  <a:tcPr marL="76780" marR="76780" marT="38390" marB="38390" anchor="ctr"/>
                </a:tc>
                <a:tc>
                  <a:txBody>
                    <a:bodyPr/>
                    <a:lstStyle/>
                    <a:p>
                      <a:pPr>
                        <a:buNone/>
                      </a:pPr>
                      <a:r>
                        <a:rPr lang="en-GB" sz="1500"/>
                        <a:t>21.70 GB/s</a:t>
                      </a:r>
                    </a:p>
                  </a:txBody>
                  <a:tcPr marL="76780" marR="76780" marT="38390" marB="38390" anchor="ctr"/>
                </a:tc>
                <a:tc>
                  <a:txBody>
                    <a:bodyPr/>
                    <a:lstStyle/>
                    <a:p>
                      <a:pPr>
                        <a:buNone/>
                      </a:pPr>
                      <a:r>
                        <a:rPr lang="en-GB" sz="1500"/>
                        <a:t>19.53 GB/s</a:t>
                      </a:r>
                    </a:p>
                  </a:txBody>
                  <a:tcPr marL="76780" marR="76780" marT="38390" marB="38390" anchor="ctr"/>
                </a:tc>
                <a:tc>
                  <a:txBody>
                    <a:bodyPr/>
                    <a:lstStyle/>
                    <a:p>
                      <a:pPr>
                        <a:buNone/>
                      </a:pPr>
                      <a:r>
                        <a:rPr lang="en-GB" sz="1500" b="1"/>
                        <a:t>-10.00%</a:t>
                      </a:r>
                      <a:endParaRPr lang="en-GB" sz="1500"/>
                    </a:p>
                  </a:txBody>
                  <a:tcPr marL="76780" marR="76780" marT="38390" marB="38390" anchor="ctr"/>
                </a:tc>
                <a:extLst>
                  <a:ext uri="{0D108BD9-81ED-4DB2-BD59-A6C34878D82A}">
                    <a16:rowId xmlns:a16="http://schemas.microsoft.com/office/drawing/2014/main" val="668637247"/>
                  </a:ext>
                </a:extLst>
              </a:tr>
              <a:tr h="389729">
                <a:tc>
                  <a:txBody>
                    <a:bodyPr/>
                    <a:lstStyle/>
                    <a:p>
                      <a:pPr>
                        <a:buNone/>
                      </a:pPr>
                      <a:r>
                        <a:rPr lang="en-GB" sz="1500"/>
                        <a:t>memcpy x86-64-unrolled</a:t>
                      </a:r>
                    </a:p>
                  </a:txBody>
                  <a:tcPr marL="76780" marR="76780" marT="38390" marB="38390" anchor="ctr"/>
                </a:tc>
                <a:tc>
                  <a:txBody>
                    <a:bodyPr/>
                    <a:lstStyle/>
                    <a:p>
                      <a:pPr>
                        <a:buNone/>
                      </a:pPr>
                      <a:r>
                        <a:rPr lang="en-GB" sz="1500"/>
                        <a:t>15.26 GB/s</a:t>
                      </a:r>
                    </a:p>
                  </a:txBody>
                  <a:tcPr marL="76780" marR="76780" marT="38390" marB="38390" anchor="ctr"/>
                </a:tc>
                <a:tc>
                  <a:txBody>
                    <a:bodyPr/>
                    <a:lstStyle/>
                    <a:p>
                      <a:pPr>
                        <a:buNone/>
                      </a:pPr>
                      <a:r>
                        <a:rPr lang="en-GB" sz="1500"/>
                        <a:t>15.75 GB/s</a:t>
                      </a:r>
                    </a:p>
                  </a:txBody>
                  <a:tcPr marL="76780" marR="76780" marT="38390" marB="38390" anchor="ctr"/>
                </a:tc>
                <a:tc>
                  <a:txBody>
                    <a:bodyPr/>
                    <a:lstStyle/>
                    <a:p>
                      <a:pPr>
                        <a:buNone/>
                      </a:pPr>
                      <a:r>
                        <a:rPr lang="en-GB" sz="1500" b="1"/>
                        <a:t>+3.23%</a:t>
                      </a:r>
                      <a:endParaRPr lang="en-GB" sz="1500"/>
                    </a:p>
                  </a:txBody>
                  <a:tcPr marL="76780" marR="76780" marT="38390" marB="38390" anchor="ctr"/>
                </a:tc>
                <a:extLst>
                  <a:ext uri="{0D108BD9-81ED-4DB2-BD59-A6C34878D82A}">
                    <a16:rowId xmlns:a16="http://schemas.microsoft.com/office/drawing/2014/main" val="2604325188"/>
                  </a:ext>
                </a:extLst>
              </a:tr>
              <a:tr h="389729">
                <a:tc>
                  <a:txBody>
                    <a:bodyPr/>
                    <a:lstStyle/>
                    <a:p>
                      <a:pPr>
                        <a:buNone/>
                      </a:pPr>
                      <a:r>
                        <a:rPr lang="en-GB" sz="1500"/>
                        <a:t>memcpy x86-64-movsq</a:t>
                      </a:r>
                    </a:p>
                  </a:txBody>
                  <a:tcPr marL="76780" marR="76780" marT="38390" marB="38390" anchor="ctr"/>
                </a:tc>
                <a:tc>
                  <a:txBody>
                    <a:bodyPr/>
                    <a:lstStyle/>
                    <a:p>
                      <a:pPr>
                        <a:buNone/>
                      </a:pPr>
                      <a:r>
                        <a:rPr lang="en-GB" sz="1500"/>
                        <a:t>23.25 GB/s</a:t>
                      </a:r>
                    </a:p>
                  </a:txBody>
                  <a:tcPr marL="76780" marR="76780" marT="38390" marB="38390" anchor="ctr"/>
                </a:tc>
                <a:tc>
                  <a:txBody>
                    <a:bodyPr/>
                    <a:lstStyle/>
                    <a:p>
                      <a:pPr>
                        <a:buNone/>
                      </a:pPr>
                      <a:r>
                        <a:rPr lang="en-GB" sz="1500"/>
                        <a:t>22.19 GB/s</a:t>
                      </a:r>
                    </a:p>
                  </a:txBody>
                  <a:tcPr marL="76780" marR="76780" marT="38390" marB="38390" anchor="ctr"/>
                </a:tc>
                <a:tc>
                  <a:txBody>
                    <a:bodyPr/>
                    <a:lstStyle/>
                    <a:p>
                      <a:pPr>
                        <a:buNone/>
                      </a:pPr>
                      <a:r>
                        <a:rPr lang="en-GB" sz="1500" b="1"/>
                        <a:t>-4.55%</a:t>
                      </a:r>
                      <a:endParaRPr lang="en-GB" sz="1500"/>
                    </a:p>
                  </a:txBody>
                  <a:tcPr marL="76780" marR="76780" marT="38390" marB="38390" anchor="ctr"/>
                </a:tc>
                <a:extLst>
                  <a:ext uri="{0D108BD9-81ED-4DB2-BD59-A6C34878D82A}">
                    <a16:rowId xmlns:a16="http://schemas.microsoft.com/office/drawing/2014/main" val="3626596241"/>
                  </a:ext>
                </a:extLst>
              </a:tr>
              <a:tr h="389729">
                <a:tc>
                  <a:txBody>
                    <a:bodyPr/>
                    <a:lstStyle/>
                    <a:p>
                      <a:pPr>
                        <a:buNone/>
                      </a:pPr>
                      <a:r>
                        <a:rPr lang="en-GB" sz="1500"/>
                        <a:t>memset default</a:t>
                      </a:r>
                    </a:p>
                  </a:txBody>
                  <a:tcPr marL="76780" marR="76780" marT="38390" marB="38390" anchor="ctr"/>
                </a:tc>
                <a:tc>
                  <a:txBody>
                    <a:bodyPr/>
                    <a:lstStyle/>
                    <a:p>
                      <a:pPr>
                        <a:buNone/>
                      </a:pPr>
                      <a:r>
                        <a:rPr lang="en-GB" sz="1500"/>
                        <a:t>39.06 GB/s</a:t>
                      </a:r>
                    </a:p>
                  </a:txBody>
                  <a:tcPr marL="76780" marR="76780" marT="38390" marB="38390" anchor="ctr"/>
                </a:tc>
                <a:tc>
                  <a:txBody>
                    <a:bodyPr/>
                    <a:lstStyle/>
                    <a:p>
                      <a:pPr>
                        <a:buNone/>
                      </a:pPr>
                      <a:r>
                        <a:rPr lang="en-GB" sz="1500"/>
                        <a:t>44.39 GB/s</a:t>
                      </a:r>
                    </a:p>
                  </a:txBody>
                  <a:tcPr marL="76780" marR="76780" marT="38390" marB="38390" anchor="ctr"/>
                </a:tc>
                <a:tc>
                  <a:txBody>
                    <a:bodyPr/>
                    <a:lstStyle/>
                    <a:p>
                      <a:pPr>
                        <a:buNone/>
                      </a:pPr>
                      <a:r>
                        <a:rPr lang="en-GB" sz="1500" b="1"/>
                        <a:t>+13.64%</a:t>
                      </a:r>
                      <a:endParaRPr lang="en-GB" sz="1500"/>
                    </a:p>
                  </a:txBody>
                  <a:tcPr marL="76780" marR="76780" marT="38390" marB="38390" anchor="ctr"/>
                </a:tc>
                <a:extLst>
                  <a:ext uri="{0D108BD9-81ED-4DB2-BD59-A6C34878D82A}">
                    <a16:rowId xmlns:a16="http://schemas.microsoft.com/office/drawing/2014/main" val="34300897"/>
                  </a:ext>
                </a:extLst>
              </a:tr>
              <a:tr h="389729">
                <a:tc>
                  <a:txBody>
                    <a:bodyPr/>
                    <a:lstStyle/>
                    <a:p>
                      <a:pPr>
                        <a:buNone/>
                      </a:pPr>
                      <a:r>
                        <a:rPr lang="en-GB" sz="1500"/>
                        <a:t>memset x86-64-unrolled</a:t>
                      </a:r>
                    </a:p>
                  </a:txBody>
                  <a:tcPr marL="76780" marR="76780" marT="38390" marB="38390" anchor="ctr"/>
                </a:tc>
                <a:tc>
                  <a:txBody>
                    <a:bodyPr/>
                    <a:lstStyle/>
                    <a:p>
                      <a:pPr>
                        <a:buNone/>
                      </a:pPr>
                      <a:r>
                        <a:rPr lang="en-GB" sz="1500"/>
                        <a:t>28.72 GB/s</a:t>
                      </a:r>
                    </a:p>
                  </a:txBody>
                  <a:tcPr marL="76780" marR="76780" marT="38390" marB="38390" anchor="ctr"/>
                </a:tc>
                <a:tc>
                  <a:txBody>
                    <a:bodyPr/>
                    <a:lstStyle/>
                    <a:p>
                      <a:pPr>
                        <a:buNone/>
                      </a:pPr>
                      <a:r>
                        <a:rPr lang="en-GB" sz="1500"/>
                        <a:t>33.67 GB/s</a:t>
                      </a:r>
                    </a:p>
                  </a:txBody>
                  <a:tcPr marL="76780" marR="76780" marT="38390" marB="38390" anchor="ctr"/>
                </a:tc>
                <a:tc>
                  <a:txBody>
                    <a:bodyPr/>
                    <a:lstStyle/>
                    <a:p>
                      <a:pPr>
                        <a:buNone/>
                      </a:pPr>
                      <a:r>
                        <a:rPr lang="en-GB" sz="1500" b="1"/>
                        <a:t>+17.24%</a:t>
                      </a:r>
                      <a:endParaRPr lang="en-GB" sz="1500"/>
                    </a:p>
                  </a:txBody>
                  <a:tcPr marL="76780" marR="76780" marT="38390" marB="38390" anchor="ctr"/>
                </a:tc>
                <a:extLst>
                  <a:ext uri="{0D108BD9-81ED-4DB2-BD59-A6C34878D82A}">
                    <a16:rowId xmlns:a16="http://schemas.microsoft.com/office/drawing/2014/main" val="88053595"/>
                  </a:ext>
                </a:extLst>
              </a:tr>
              <a:tr h="389729">
                <a:tc>
                  <a:txBody>
                    <a:bodyPr/>
                    <a:lstStyle/>
                    <a:p>
                      <a:pPr>
                        <a:buNone/>
                      </a:pPr>
                      <a:r>
                        <a:rPr lang="en-GB" sz="1500"/>
                        <a:t>memset x86-64-stosq</a:t>
                      </a:r>
                    </a:p>
                  </a:txBody>
                  <a:tcPr marL="76780" marR="76780" marT="38390" marB="38390" anchor="ctr"/>
                </a:tc>
                <a:tc>
                  <a:txBody>
                    <a:bodyPr/>
                    <a:lstStyle/>
                    <a:p>
                      <a:pPr>
                        <a:buNone/>
                      </a:pPr>
                      <a:r>
                        <a:rPr lang="en-GB" sz="1500"/>
                        <a:t>40.69 GB/s</a:t>
                      </a:r>
                    </a:p>
                  </a:txBody>
                  <a:tcPr marL="76780" marR="76780" marT="38390" marB="38390" anchor="ctr"/>
                </a:tc>
                <a:tc>
                  <a:txBody>
                    <a:bodyPr/>
                    <a:lstStyle/>
                    <a:p>
                      <a:pPr>
                        <a:buNone/>
                      </a:pPr>
                      <a:r>
                        <a:rPr lang="en-GB" sz="1500"/>
                        <a:t>44.39 GB/s</a:t>
                      </a:r>
                    </a:p>
                  </a:txBody>
                  <a:tcPr marL="76780" marR="76780" marT="38390" marB="38390" anchor="ctr"/>
                </a:tc>
                <a:tc>
                  <a:txBody>
                    <a:bodyPr/>
                    <a:lstStyle/>
                    <a:p>
                      <a:pPr>
                        <a:buNone/>
                      </a:pPr>
                      <a:r>
                        <a:rPr lang="en-GB" sz="1500" b="1"/>
                        <a:t>+9.09%</a:t>
                      </a:r>
                      <a:endParaRPr lang="en-GB" sz="1500"/>
                    </a:p>
                  </a:txBody>
                  <a:tcPr marL="76780" marR="76780" marT="38390" marB="38390" anchor="ctr"/>
                </a:tc>
                <a:extLst>
                  <a:ext uri="{0D108BD9-81ED-4DB2-BD59-A6C34878D82A}">
                    <a16:rowId xmlns:a16="http://schemas.microsoft.com/office/drawing/2014/main" val="586885540"/>
                  </a:ext>
                </a:extLst>
              </a:tr>
              <a:tr h="389729">
                <a:tc>
                  <a:txBody>
                    <a:bodyPr/>
                    <a:lstStyle/>
                    <a:p>
                      <a:pPr>
                        <a:buNone/>
                      </a:pPr>
                      <a:r>
                        <a:rPr lang="en-GB" sz="1500"/>
                        <a:t>mmap demand</a:t>
                      </a:r>
                    </a:p>
                  </a:txBody>
                  <a:tcPr marL="76780" marR="76780" marT="38390" marB="38390" anchor="ctr"/>
                </a:tc>
                <a:tc>
                  <a:txBody>
                    <a:bodyPr/>
                    <a:lstStyle/>
                    <a:p>
                      <a:pPr>
                        <a:buNone/>
                      </a:pPr>
                      <a:r>
                        <a:rPr lang="en-GB" sz="1500"/>
                        <a:t>2.19 GB/s</a:t>
                      </a:r>
                    </a:p>
                  </a:txBody>
                  <a:tcPr marL="76780" marR="76780" marT="38390" marB="38390" anchor="ctr"/>
                </a:tc>
                <a:tc>
                  <a:txBody>
                    <a:bodyPr/>
                    <a:lstStyle/>
                    <a:p>
                      <a:pPr>
                        <a:buNone/>
                      </a:pPr>
                      <a:r>
                        <a:rPr lang="en-GB" sz="1500"/>
                        <a:t>1.87 GB/s</a:t>
                      </a:r>
                    </a:p>
                  </a:txBody>
                  <a:tcPr marL="76780" marR="76780" marT="38390" marB="38390" anchor="ctr"/>
                </a:tc>
                <a:tc>
                  <a:txBody>
                    <a:bodyPr/>
                    <a:lstStyle/>
                    <a:p>
                      <a:pPr>
                        <a:buNone/>
                      </a:pPr>
                      <a:r>
                        <a:rPr lang="en-GB" sz="1500" b="1"/>
                        <a:t>-14.40%</a:t>
                      </a:r>
                      <a:endParaRPr lang="en-GB" sz="1500"/>
                    </a:p>
                  </a:txBody>
                  <a:tcPr marL="76780" marR="76780" marT="38390" marB="38390" anchor="ctr"/>
                </a:tc>
                <a:extLst>
                  <a:ext uri="{0D108BD9-81ED-4DB2-BD59-A6C34878D82A}">
                    <a16:rowId xmlns:a16="http://schemas.microsoft.com/office/drawing/2014/main" val="466616105"/>
                  </a:ext>
                </a:extLst>
              </a:tr>
              <a:tr h="389729">
                <a:tc>
                  <a:txBody>
                    <a:bodyPr/>
                    <a:lstStyle/>
                    <a:p>
                      <a:pPr>
                        <a:buNone/>
                      </a:pPr>
                      <a:r>
                        <a:rPr lang="en-GB" sz="1500"/>
                        <a:t>mmap populate</a:t>
                      </a:r>
                    </a:p>
                  </a:txBody>
                  <a:tcPr marL="76780" marR="76780" marT="38390" marB="38390" anchor="ctr"/>
                </a:tc>
                <a:tc>
                  <a:txBody>
                    <a:bodyPr/>
                    <a:lstStyle/>
                    <a:p>
                      <a:pPr>
                        <a:buNone/>
                      </a:pPr>
                      <a:r>
                        <a:rPr lang="en-GB" sz="1500"/>
                        <a:t>6.03 GB/s</a:t>
                      </a:r>
                    </a:p>
                  </a:txBody>
                  <a:tcPr marL="76780" marR="76780" marT="38390" marB="38390" anchor="ctr"/>
                </a:tc>
                <a:tc>
                  <a:txBody>
                    <a:bodyPr/>
                    <a:lstStyle/>
                    <a:p>
                      <a:pPr>
                        <a:buNone/>
                      </a:pPr>
                      <a:r>
                        <a:rPr lang="en-GB" sz="1500"/>
                        <a:t>4.81 GB/s</a:t>
                      </a:r>
                    </a:p>
                  </a:txBody>
                  <a:tcPr marL="76780" marR="76780" marT="38390" marB="38390" anchor="ctr"/>
                </a:tc>
                <a:tc>
                  <a:txBody>
                    <a:bodyPr/>
                    <a:lstStyle/>
                    <a:p>
                      <a:pPr>
                        <a:buNone/>
                      </a:pPr>
                      <a:r>
                        <a:rPr lang="en-GB" sz="1500" b="1" dirty="0"/>
                        <a:t>-20.20%</a:t>
                      </a:r>
                      <a:endParaRPr lang="en-GB" sz="1500" dirty="0"/>
                    </a:p>
                  </a:txBody>
                  <a:tcPr marL="76780" marR="76780" marT="38390" marB="38390" anchor="ctr"/>
                </a:tc>
                <a:extLst>
                  <a:ext uri="{0D108BD9-81ED-4DB2-BD59-A6C34878D82A}">
                    <a16:rowId xmlns:a16="http://schemas.microsoft.com/office/drawing/2014/main" val="3199973384"/>
                  </a:ext>
                </a:extLst>
              </a:tr>
            </a:tbl>
          </a:graphicData>
        </a:graphic>
      </p:graphicFrame>
    </p:spTree>
    <p:extLst>
      <p:ext uri="{BB962C8B-B14F-4D97-AF65-F5344CB8AC3E}">
        <p14:creationId xmlns:p14="http://schemas.microsoft.com/office/powerpoint/2010/main" val="1406360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1FA44-6518-D491-231E-5C210026D9DD}"/>
              </a:ext>
            </a:extLst>
          </p:cNvPr>
          <p:cNvSpPr>
            <a:spLocks noGrp="1"/>
          </p:cNvSpPr>
          <p:nvPr>
            <p:ph type="title"/>
          </p:nvPr>
        </p:nvSpPr>
        <p:spPr>
          <a:xfrm>
            <a:off x="838200" y="365125"/>
            <a:ext cx="10515600" cy="1040765"/>
          </a:xfrm>
        </p:spPr>
        <p:txBody>
          <a:bodyPr/>
          <a:lstStyle/>
          <a:p>
            <a:pPr>
              <a:defRPr sz="2925" b="1">
                <a:solidFill>
                  <a:srgbClr val="000000"/>
                </a:solidFill>
              </a:defRPr>
            </a:pPr>
            <a:r>
              <a:rPr lang="en-GB" b="1" dirty="0">
                <a:solidFill>
                  <a:srgbClr val="000000"/>
                </a:solidFill>
              </a:rPr>
              <a:t>The findings are still interim</a:t>
            </a:r>
          </a:p>
        </p:txBody>
      </p:sp>
      <p:sp>
        <p:nvSpPr>
          <p:cNvPr id="3" name="Content Placeholder 2">
            <a:extLst>
              <a:ext uri="{FF2B5EF4-FFF2-40B4-BE49-F238E27FC236}">
                <a16:creationId xmlns:a16="http://schemas.microsoft.com/office/drawing/2014/main" id="{D9C9F56C-6339-EAB7-E2B2-93D86532DF89}"/>
              </a:ext>
            </a:extLst>
          </p:cNvPr>
          <p:cNvSpPr>
            <a:spLocks noGrp="1"/>
          </p:cNvSpPr>
          <p:nvPr>
            <p:ph idx="1"/>
          </p:nvPr>
        </p:nvSpPr>
        <p:spPr>
          <a:xfrm>
            <a:off x="838200" y="1512888"/>
            <a:ext cx="10515600" cy="2574925"/>
          </a:xfrm>
        </p:spPr>
        <p:txBody>
          <a:bodyPr>
            <a:normAutofit lnSpcReduction="10000"/>
          </a:bodyPr>
          <a:lstStyle/>
          <a:p>
            <a:pPr>
              <a:defRPr sz="1350" b="0">
                <a:solidFill>
                  <a:srgbClr val="000000"/>
                </a:solidFill>
              </a:defRPr>
            </a:pPr>
            <a:r>
              <a:rPr lang="en-GB" sz="2000" dirty="0">
                <a:solidFill>
                  <a:srgbClr val="000000"/>
                </a:solidFill>
              </a:rPr>
              <a:t>HTTPS AES-GCM and ChaCha20 do not create a visible end-to-end latency penalty in the current runs.</a:t>
            </a:r>
          </a:p>
          <a:p>
            <a:pPr>
              <a:defRPr sz="1350" b="0">
                <a:solidFill>
                  <a:srgbClr val="000000"/>
                </a:solidFill>
              </a:defRPr>
            </a:pPr>
            <a:endParaRPr lang="en-GB" sz="2000" dirty="0">
              <a:solidFill>
                <a:srgbClr val="000000"/>
              </a:solidFill>
            </a:endParaRPr>
          </a:p>
          <a:p>
            <a:pPr>
              <a:defRPr sz="1350" b="0">
                <a:solidFill>
                  <a:srgbClr val="000000"/>
                </a:solidFill>
              </a:defRPr>
            </a:pPr>
            <a:r>
              <a:rPr lang="en-GB" sz="2000" dirty="0">
                <a:solidFill>
                  <a:srgbClr val="000000"/>
                </a:solidFill>
              </a:rPr>
              <a:t>TDX has a larger measurable cost than the encryption protocol choice, especially on cloud-side CPU time.</a:t>
            </a:r>
          </a:p>
          <a:p>
            <a:pPr>
              <a:defRPr sz="1350" b="0">
                <a:solidFill>
                  <a:srgbClr val="000000"/>
                </a:solidFill>
              </a:defRPr>
            </a:pPr>
            <a:endParaRPr lang="en-GB" sz="2000" dirty="0">
              <a:solidFill>
                <a:srgbClr val="000000"/>
              </a:solidFill>
            </a:endParaRPr>
          </a:p>
          <a:p>
            <a:r>
              <a:rPr lang="en-GB" sz="2000" dirty="0"/>
              <a:t>The current split inference pipeline is dominated by model computation rather than transport protocol overhead.</a:t>
            </a:r>
            <a:endParaRPr lang="en-GB" sz="2000" dirty="0">
              <a:solidFill>
                <a:srgbClr val="000000"/>
              </a:solidFill>
            </a:endParaRPr>
          </a:p>
          <a:p>
            <a:pPr>
              <a:defRPr sz="1350" b="0">
                <a:solidFill>
                  <a:srgbClr val="000000"/>
                </a:solidFill>
              </a:defRPr>
            </a:pPr>
            <a:endParaRPr lang="en-GB" sz="2000" dirty="0">
              <a:solidFill>
                <a:srgbClr val="000000"/>
              </a:solidFill>
            </a:endParaRPr>
          </a:p>
        </p:txBody>
      </p:sp>
      <p:sp>
        <p:nvSpPr>
          <p:cNvPr id="4" name="Rectangle 3">
            <a:extLst>
              <a:ext uri="{FF2B5EF4-FFF2-40B4-BE49-F238E27FC236}">
                <a16:creationId xmlns:a16="http://schemas.microsoft.com/office/drawing/2014/main" id="{658CD96B-3D57-C90F-0289-2787945FF76C}"/>
              </a:ext>
            </a:extLst>
          </p:cNvPr>
          <p:cNvSpPr>
            <a:spLocks noGrp="1"/>
          </p:cNvSpPr>
          <p:nvPr/>
        </p:nvSpPr>
        <p:spPr>
          <a:xfrm>
            <a:off x="838200" y="4194811"/>
            <a:ext cx="3429000" cy="819149"/>
          </a:xfrm>
          <a:prstGeom prst="rect">
            <a:avLst/>
          </a:prstGeom>
          <a:noFill/>
          <a:ln w="0">
            <a:noFill/>
            <a:prstDash val="solid"/>
          </a:ln>
        </p:spPr>
        <p:txBody>
          <a:bodyPr/>
          <a:lstStyle/>
          <a:p>
            <a:pPr>
              <a:defRPr sz="2100" b="1">
                <a:solidFill>
                  <a:srgbClr val="000000"/>
                </a:solidFill>
              </a:defRPr>
            </a:pPr>
            <a:r>
              <a:rPr lang="en-GB" sz="2100" b="1" dirty="0"/>
              <a:t>Current limitations</a:t>
            </a:r>
            <a:br>
              <a:rPr lang="en-GB" sz="2100" b="1" dirty="0"/>
            </a:br>
            <a:endParaRPr sz="2100" b="1" dirty="0">
              <a:solidFill>
                <a:srgbClr val="000000"/>
              </a:solidFill>
            </a:endParaRPr>
          </a:p>
        </p:txBody>
      </p:sp>
      <p:sp>
        <p:nvSpPr>
          <p:cNvPr id="5" name="Rectangle 4">
            <a:extLst>
              <a:ext uri="{FF2B5EF4-FFF2-40B4-BE49-F238E27FC236}">
                <a16:creationId xmlns:a16="http://schemas.microsoft.com/office/drawing/2014/main" id="{F9EA4119-B15C-9896-4B50-A9E39BA50D81}"/>
              </a:ext>
            </a:extLst>
          </p:cNvPr>
          <p:cNvSpPr>
            <a:spLocks noGrp="1"/>
          </p:cNvSpPr>
          <p:nvPr/>
        </p:nvSpPr>
        <p:spPr>
          <a:xfrm>
            <a:off x="838200" y="4792662"/>
            <a:ext cx="10287000" cy="1104900"/>
          </a:xfrm>
          <a:prstGeom prst="rect">
            <a:avLst/>
          </a:prstGeom>
          <a:noFill/>
          <a:ln w="0">
            <a:noFill/>
            <a:prstDash val="solid"/>
          </a:ln>
        </p:spPr>
        <p:txBody>
          <a:bodyPr/>
          <a:lstStyle/>
          <a:p>
            <a:pPr marL="285750" indent="-285750">
              <a:buFont typeface="Arial" panose="020B0604020202020204" pitchFamily="34" charset="0"/>
              <a:buChar char="•"/>
            </a:pPr>
            <a:r>
              <a:rPr lang="en-GB" sz="1600" dirty="0"/>
              <a:t>The TDX and non-TDX runs used different VM instances. Hardware configuration, OS level, and software libraries were checked and confirmed to match, but minor instance-level variation may still remain.</a:t>
            </a:r>
          </a:p>
          <a:p>
            <a:pPr marL="285750" indent="-285750" algn="l">
              <a:buFont typeface="Arial" panose="020B0604020202020204" pitchFamily="34" charset="0"/>
              <a:buChar char="•"/>
              <a:defRPr sz="1650" b="0">
                <a:solidFill>
                  <a:srgbClr val="000000"/>
                </a:solidFill>
              </a:defRPr>
            </a:pPr>
            <a:r>
              <a:rPr sz="1650" b="0" dirty="0">
                <a:solidFill>
                  <a:srgbClr val="000000"/>
                </a:solidFill>
              </a:rPr>
              <a:t>Encryption, decryption, TLS setup, and key exchange should be timed separately instead of being folded into request latency.</a:t>
            </a:r>
            <a:endParaRPr lang="en-GB" sz="1650" b="0" dirty="0">
              <a:solidFill>
                <a:srgbClr val="000000"/>
              </a:solidFill>
            </a:endParaRPr>
          </a:p>
          <a:p>
            <a:pPr marL="285750" indent="-285750">
              <a:buFont typeface="Arial" panose="020B0604020202020204" pitchFamily="34" charset="0"/>
              <a:buChar char="•"/>
              <a:defRPr sz="1650" b="0">
                <a:solidFill>
                  <a:srgbClr val="000000"/>
                </a:solidFill>
              </a:defRPr>
            </a:pPr>
            <a:r>
              <a:rPr lang="en-GB" sz="1650" dirty="0"/>
              <a:t>The current results mainly report average latency and CPU time. </a:t>
            </a:r>
            <a:endParaRPr sz="1650" b="0" dirty="0">
              <a:solidFill>
                <a:srgbClr val="000000"/>
              </a:solidFill>
            </a:endParaRPr>
          </a:p>
        </p:txBody>
      </p:sp>
    </p:spTree>
    <p:extLst>
      <p:ext uri="{BB962C8B-B14F-4D97-AF65-F5344CB8AC3E}">
        <p14:creationId xmlns:p14="http://schemas.microsoft.com/office/powerpoint/2010/main" val="995147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8FB34-AE3F-5B39-CAFD-BEF0A95A1903}"/>
              </a:ext>
            </a:extLst>
          </p:cNvPr>
          <p:cNvSpPr>
            <a:spLocks noGrp="1"/>
          </p:cNvSpPr>
          <p:nvPr>
            <p:ph type="title"/>
          </p:nvPr>
        </p:nvSpPr>
        <p:spPr/>
        <p:txBody>
          <a:bodyPr/>
          <a:lstStyle/>
          <a:p>
            <a:r>
              <a:rPr lang="en-GB" b="1"/>
              <a:t>Additional Optimisation and Performance Analysis</a:t>
            </a:r>
            <a:endParaRPr lang="en-GB"/>
          </a:p>
        </p:txBody>
      </p:sp>
      <p:sp>
        <p:nvSpPr>
          <p:cNvPr id="3" name="Content Placeholder 2">
            <a:extLst>
              <a:ext uri="{FF2B5EF4-FFF2-40B4-BE49-F238E27FC236}">
                <a16:creationId xmlns:a16="http://schemas.microsoft.com/office/drawing/2014/main" id="{24441C4C-8342-36F0-69F2-CCE953A89809}"/>
              </a:ext>
            </a:extLst>
          </p:cNvPr>
          <p:cNvSpPr>
            <a:spLocks noGrp="1"/>
          </p:cNvSpPr>
          <p:nvPr>
            <p:ph idx="1"/>
          </p:nvPr>
        </p:nvSpPr>
        <p:spPr/>
        <p:txBody>
          <a:bodyPr>
            <a:normAutofit lnSpcReduction="10000"/>
          </a:bodyPr>
          <a:lstStyle/>
          <a:p>
            <a:r>
              <a:rPr lang="en-US" altLang="zh-CN" b="1"/>
              <a:t>Additional</a:t>
            </a:r>
            <a:r>
              <a:rPr lang="zh-CN" altLang="en-US" b="1"/>
              <a:t> </a:t>
            </a:r>
            <a:r>
              <a:rPr lang="en-US" altLang="zh-CN" b="1"/>
              <a:t>Optimisation:</a:t>
            </a:r>
            <a:r>
              <a:rPr lang="zh-CN" altLang="en-US" b="1"/>
              <a:t> </a:t>
            </a:r>
            <a:endParaRPr lang="en-US" altLang="zh-CN" b="1"/>
          </a:p>
          <a:p>
            <a:r>
              <a:rPr lang="en-US" altLang="zh-CN"/>
              <a:t>1.</a:t>
            </a:r>
            <a:r>
              <a:rPr lang="zh-CN" altLang="en-US"/>
              <a:t> </a:t>
            </a:r>
            <a:r>
              <a:rPr lang="en-GB"/>
              <a:t>Persistent connection and TLS overhead isolation</a:t>
            </a:r>
          </a:p>
          <a:p>
            <a:r>
              <a:rPr lang="en-US" altLang="zh-CN"/>
              <a:t>2.</a:t>
            </a:r>
            <a:r>
              <a:rPr lang="zh-CN" altLang="en-US"/>
              <a:t> </a:t>
            </a:r>
            <a:r>
              <a:rPr lang="en-GB"/>
              <a:t>Model preloading</a:t>
            </a:r>
          </a:p>
          <a:p>
            <a:r>
              <a:rPr lang="en-US" altLang="zh-CN"/>
              <a:t>3.</a:t>
            </a:r>
            <a:r>
              <a:rPr lang="zh-CN" altLang="en-US"/>
              <a:t> </a:t>
            </a:r>
            <a:r>
              <a:rPr lang="en-GB"/>
              <a:t>Prompt token caching</a:t>
            </a:r>
          </a:p>
          <a:p>
            <a:r>
              <a:rPr lang="en-US" altLang="zh-CN"/>
              <a:t>4.</a:t>
            </a:r>
            <a:r>
              <a:rPr lang="zh-CN" altLang="en-US"/>
              <a:t> </a:t>
            </a:r>
            <a:r>
              <a:rPr lang="en-GB"/>
              <a:t>Request buffer reuse / memory allocation reduction</a:t>
            </a:r>
          </a:p>
          <a:p>
            <a:pPr marL="0" indent="0">
              <a:buNone/>
            </a:pPr>
            <a:r>
              <a:rPr lang="en-GB" b="1"/>
              <a:t>Performance</a:t>
            </a:r>
            <a:r>
              <a:rPr lang="zh-CN" altLang="en-US" b="1"/>
              <a:t> </a:t>
            </a:r>
            <a:r>
              <a:rPr lang="en-US" altLang="zh-CN" b="1"/>
              <a:t>Analysis:</a:t>
            </a:r>
            <a:endParaRPr lang="en-GB" b="1"/>
          </a:p>
          <a:p>
            <a:r>
              <a:rPr lang="en-US" altLang="zh-CN"/>
              <a:t>1.</a:t>
            </a:r>
            <a:r>
              <a:rPr lang="zh-CN" altLang="en-US"/>
              <a:t> </a:t>
            </a:r>
            <a:r>
              <a:rPr lang="en-GB"/>
              <a:t>EOS early stop and token count measurement</a:t>
            </a:r>
          </a:p>
          <a:p>
            <a:r>
              <a:rPr lang="en-US" altLang="zh-CN"/>
              <a:t>2.</a:t>
            </a:r>
            <a:r>
              <a:rPr lang="zh-CN" altLang="en-US"/>
              <a:t> </a:t>
            </a:r>
            <a:r>
              <a:rPr lang="en-GB"/>
              <a:t>Staged cloud timing</a:t>
            </a:r>
          </a:p>
          <a:p>
            <a:r>
              <a:rPr lang="en-US" altLang="zh-CN"/>
              <a:t>3.</a:t>
            </a:r>
            <a:r>
              <a:rPr lang="zh-CN" altLang="en-US"/>
              <a:t> </a:t>
            </a:r>
            <a:r>
              <a:rPr lang="en-GB"/>
              <a:t>Bottleneck attribution</a:t>
            </a:r>
            <a:r>
              <a:rPr lang="zh-CN" altLang="en-US"/>
              <a:t> </a:t>
            </a:r>
            <a:r>
              <a:rPr lang="en-US" altLang="zh-CN"/>
              <a:t>(</a:t>
            </a:r>
            <a:r>
              <a:rPr lang="en-GB"/>
              <a:t>Internal decoder profiling</a:t>
            </a:r>
            <a:r>
              <a:rPr lang="en-US" altLang="zh-CN"/>
              <a:t>)</a:t>
            </a:r>
            <a:endParaRPr lang="en-GB"/>
          </a:p>
          <a:p>
            <a:endParaRPr lang="en-US"/>
          </a:p>
        </p:txBody>
      </p:sp>
    </p:spTree>
    <p:extLst>
      <p:ext uri="{BB962C8B-B14F-4D97-AF65-F5344CB8AC3E}">
        <p14:creationId xmlns:p14="http://schemas.microsoft.com/office/powerpoint/2010/main" val="3308869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6527C-61B7-23EE-6617-61AC80BE6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456CD-C7F4-AF8F-4ECD-C598B4BE52E5}"/>
              </a:ext>
            </a:extLst>
          </p:cNvPr>
          <p:cNvSpPr>
            <a:spLocks noGrp="1"/>
          </p:cNvSpPr>
          <p:nvPr>
            <p:ph type="title"/>
          </p:nvPr>
        </p:nvSpPr>
        <p:spPr/>
        <p:txBody>
          <a:bodyPr>
            <a:normAutofit/>
          </a:bodyPr>
          <a:lstStyle/>
          <a:p>
            <a:r>
              <a:rPr lang="en-GB" sz="4000"/>
              <a:t>Using</a:t>
            </a:r>
            <a:r>
              <a:rPr lang="zh-CN" altLang="en-US" sz="4000"/>
              <a:t> </a:t>
            </a:r>
            <a:r>
              <a:rPr lang="en-US" altLang="zh-CN" sz="4000"/>
              <a:t>a</a:t>
            </a:r>
            <a:r>
              <a:rPr lang="zh-CN" altLang="en-US" sz="4000"/>
              <a:t> </a:t>
            </a:r>
            <a:r>
              <a:rPr lang="en-GB" altLang="zh-CN" sz="4000"/>
              <a:t>p</a:t>
            </a:r>
            <a:r>
              <a:rPr lang="en-GB" sz="4000"/>
              <a:t>ersistent connection to</a:t>
            </a:r>
            <a:r>
              <a:rPr lang="zh-CN" altLang="en-US" sz="4000"/>
              <a:t> </a:t>
            </a:r>
            <a:r>
              <a:rPr lang="en-US" altLang="zh-CN" sz="4000"/>
              <a:t>isolate</a:t>
            </a:r>
            <a:r>
              <a:rPr lang="en-GB" sz="4000"/>
              <a:t> TLS handshakes</a:t>
            </a:r>
            <a:r>
              <a:rPr lang="zh-CN" altLang="en-US" sz="4000"/>
              <a:t> </a:t>
            </a:r>
            <a:r>
              <a:rPr lang="en-GB" sz="4000"/>
              <a:t>overhead</a:t>
            </a:r>
            <a:r>
              <a:rPr lang="en-US" altLang="zh-CN" sz="4000"/>
              <a:t>.</a:t>
            </a:r>
            <a:endParaRPr lang="en-GB" sz="4000"/>
          </a:p>
        </p:txBody>
      </p:sp>
      <p:sp>
        <p:nvSpPr>
          <p:cNvPr id="4" name="Rounded Rectangle 3">
            <a:extLst>
              <a:ext uri="{FF2B5EF4-FFF2-40B4-BE49-F238E27FC236}">
                <a16:creationId xmlns:a16="http://schemas.microsoft.com/office/drawing/2014/main" id="{F09D3B43-04F7-AA12-C85F-50EA5DD2B225}"/>
              </a:ext>
            </a:extLst>
          </p:cNvPr>
          <p:cNvSpPr/>
          <p:nvPr/>
        </p:nvSpPr>
        <p:spPr>
          <a:xfrm>
            <a:off x="3364458" y="4658060"/>
            <a:ext cx="1760666" cy="1592132"/>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t>edge</a:t>
            </a:r>
          </a:p>
        </p:txBody>
      </p:sp>
      <p:sp>
        <p:nvSpPr>
          <p:cNvPr id="5" name="Rounded Rectangle 4">
            <a:extLst>
              <a:ext uri="{FF2B5EF4-FFF2-40B4-BE49-F238E27FC236}">
                <a16:creationId xmlns:a16="http://schemas.microsoft.com/office/drawing/2014/main" id="{6B21A11F-BC19-0AFF-963C-45BBC5BB910A}"/>
              </a:ext>
            </a:extLst>
          </p:cNvPr>
          <p:cNvSpPr/>
          <p:nvPr/>
        </p:nvSpPr>
        <p:spPr>
          <a:xfrm>
            <a:off x="9654093" y="4658053"/>
            <a:ext cx="1699707" cy="1592132"/>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t>cloud Inference</a:t>
            </a:r>
          </a:p>
        </p:txBody>
      </p:sp>
      <p:sp>
        <p:nvSpPr>
          <p:cNvPr id="8" name="Rounded Rectangle 7">
            <a:extLst>
              <a:ext uri="{FF2B5EF4-FFF2-40B4-BE49-F238E27FC236}">
                <a16:creationId xmlns:a16="http://schemas.microsoft.com/office/drawing/2014/main" id="{EF9AB384-EA17-F2BC-EFBA-45CEFD80D41F}"/>
              </a:ext>
            </a:extLst>
          </p:cNvPr>
          <p:cNvSpPr/>
          <p:nvPr/>
        </p:nvSpPr>
        <p:spPr>
          <a:xfrm>
            <a:off x="8384690" y="4658060"/>
            <a:ext cx="1269403" cy="1592125"/>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Gunicron</a:t>
            </a:r>
          </a:p>
        </p:txBody>
      </p:sp>
      <p:sp>
        <p:nvSpPr>
          <p:cNvPr id="17" name="TextBox 16">
            <a:extLst>
              <a:ext uri="{FF2B5EF4-FFF2-40B4-BE49-F238E27FC236}">
                <a16:creationId xmlns:a16="http://schemas.microsoft.com/office/drawing/2014/main" id="{FD5AA771-4334-E207-2F97-82F1D10C0CE7}"/>
              </a:ext>
            </a:extLst>
          </p:cNvPr>
          <p:cNvSpPr txBox="1"/>
          <p:nvPr/>
        </p:nvSpPr>
        <p:spPr>
          <a:xfrm>
            <a:off x="5281107" y="4987974"/>
            <a:ext cx="3103582" cy="369332"/>
          </a:xfrm>
          <a:prstGeom prst="rect">
            <a:avLst/>
          </a:prstGeom>
          <a:noFill/>
        </p:spPr>
        <p:txBody>
          <a:bodyPr wrap="square">
            <a:spAutoFit/>
          </a:bodyPr>
          <a:lstStyle/>
          <a:p>
            <a:pPr>
              <a:buNone/>
            </a:pPr>
            <a:r>
              <a:rPr lang="en-GB"/>
              <a:t>Persistent HTTPS connection</a:t>
            </a:r>
          </a:p>
        </p:txBody>
      </p:sp>
      <p:sp>
        <p:nvSpPr>
          <p:cNvPr id="18" name="TextBox 17">
            <a:extLst>
              <a:ext uri="{FF2B5EF4-FFF2-40B4-BE49-F238E27FC236}">
                <a16:creationId xmlns:a16="http://schemas.microsoft.com/office/drawing/2014/main" id="{8EC62EA4-D46F-A180-A61F-33A6B17C1CDA}"/>
              </a:ext>
            </a:extLst>
          </p:cNvPr>
          <p:cNvSpPr txBox="1"/>
          <p:nvPr/>
        </p:nvSpPr>
        <p:spPr>
          <a:xfrm>
            <a:off x="5334898" y="5511506"/>
            <a:ext cx="2893810" cy="369332"/>
          </a:xfrm>
          <a:prstGeom prst="rect">
            <a:avLst/>
          </a:prstGeom>
          <a:noFill/>
        </p:spPr>
        <p:txBody>
          <a:bodyPr wrap="square">
            <a:spAutoFit/>
          </a:bodyPr>
          <a:lstStyle/>
          <a:p>
            <a:r>
              <a:rPr lang="en-GB"/>
              <a:t>TLS</a:t>
            </a:r>
            <a:r>
              <a:rPr lang="zh-CN" altLang="en-US"/>
              <a:t> </a:t>
            </a:r>
            <a:r>
              <a:rPr lang="en-GB"/>
              <a:t>encryption </a:t>
            </a:r>
            <a:r>
              <a:rPr lang="en-US" altLang="zh-CN"/>
              <a:t>/</a:t>
            </a:r>
            <a:r>
              <a:rPr lang="zh-CN" altLang="en-US"/>
              <a:t> </a:t>
            </a:r>
            <a:r>
              <a:rPr lang="en-GB"/>
              <a:t>decryption</a:t>
            </a:r>
          </a:p>
        </p:txBody>
      </p:sp>
      <p:sp>
        <p:nvSpPr>
          <p:cNvPr id="19" name="Left-right Arrow 18">
            <a:extLst>
              <a:ext uri="{FF2B5EF4-FFF2-40B4-BE49-F238E27FC236}">
                <a16:creationId xmlns:a16="http://schemas.microsoft.com/office/drawing/2014/main" id="{AAB79CF3-5F53-F5D5-9845-871A9BE96599}"/>
              </a:ext>
            </a:extLst>
          </p:cNvPr>
          <p:cNvSpPr/>
          <p:nvPr/>
        </p:nvSpPr>
        <p:spPr>
          <a:xfrm>
            <a:off x="5125125" y="5357306"/>
            <a:ext cx="3259566" cy="21514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a:extLst>
              <a:ext uri="{FF2B5EF4-FFF2-40B4-BE49-F238E27FC236}">
                <a16:creationId xmlns:a16="http://schemas.microsoft.com/office/drawing/2014/main" id="{818E4094-E178-2188-6B8E-550F8BD4A9B5}"/>
              </a:ext>
            </a:extLst>
          </p:cNvPr>
          <p:cNvSpPr>
            <a:spLocks noGrp="1"/>
          </p:cNvSpPr>
          <p:nvPr>
            <p:ph idx="1"/>
          </p:nvPr>
        </p:nvSpPr>
        <p:spPr>
          <a:xfrm>
            <a:off x="838200" y="1976232"/>
            <a:ext cx="10515600" cy="4351338"/>
          </a:xfrm>
        </p:spPr>
        <p:txBody>
          <a:bodyPr>
            <a:normAutofit/>
          </a:bodyPr>
          <a:lstStyle/>
          <a:p>
            <a:r>
              <a:rPr lang="en-GB" sz="2400"/>
              <a:t>To reduce repeated connection establishment overhead, the edge client used a persistent HTTP/TLS session.</a:t>
            </a:r>
          </a:p>
          <a:p>
            <a:r>
              <a:rPr lang="en-GB" sz="2400"/>
              <a:t>On the cloud side, Gunicorn maintained connections using a configured keep-alive interval.</a:t>
            </a:r>
          </a:p>
          <a:p>
            <a:r>
              <a:rPr lang="en-GB" sz="2400"/>
              <a:t>The edge simulation used requests.Session() instead of requests.post() to reuse the underlying TCP/TLS connection across multiple requests.</a:t>
            </a:r>
            <a:endParaRPr lang="en-GB" sz="2400" dirty="0"/>
          </a:p>
        </p:txBody>
      </p:sp>
    </p:spTree>
    <p:extLst>
      <p:ext uri="{BB962C8B-B14F-4D97-AF65-F5344CB8AC3E}">
        <p14:creationId xmlns:p14="http://schemas.microsoft.com/office/powerpoint/2010/main" val="211951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0BEB5-4A63-3913-93C5-37170477A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148C6-7523-8D37-B9E3-EB7CD34E958A}"/>
              </a:ext>
            </a:extLst>
          </p:cNvPr>
          <p:cNvSpPr>
            <a:spLocks noGrp="1"/>
          </p:cNvSpPr>
          <p:nvPr>
            <p:ph type="title"/>
          </p:nvPr>
        </p:nvSpPr>
        <p:spPr/>
        <p:txBody>
          <a:bodyPr>
            <a:normAutofit/>
          </a:bodyPr>
          <a:lstStyle/>
          <a:p>
            <a:r>
              <a:rPr lang="en-GB" sz="4000" b="1"/>
              <a:t>Isolating Steady-State TLS Overhead Using Persistent Connections</a:t>
            </a:r>
            <a:endParaRPr lang="en-GB" sz="4000"/>
          </a:p>
        </p:txBody>
      </p:sp>
      <p:graphicFrame>
        <p:nvGraphicFramePr>
          <p:cNvPr id="7" name="Content Placeholder 6">
            <a:extLst>
              <a:ext uri="{FF2B5EF4-FFF2-40B4-BE49-F238E27FC236}">
                <a16:creationId xmlns:a16="http://schemas.microsoft.com/office/drawing/2014/main" id="{F9B04201-DC9C-DFA1-2115-DA2C098352D4}"/>
              </a:ext>
            </a:extLst>
          </p:cNvPr>
          <p:cNvGraphicFramePr>
            <a:graphicFrameLocks noGrp="1"/>
          </p:cNvGraphicFramePr>
          <p:nvPr>
            <p:ph idx="1"/>
            <p:extLst>
              <p:ext uri="{D42A27DB-BD31-4B8C-83A1-F6EECF244321}">
                <p14:modId xmlns:p14="http://schemas.microsoft.com/office/powerpoint/2010/main" val="733513778"/>
              </p:ext>
            </p:extLst>
          </p:nvPr>
        </p:nvGraphicFramePr>
        <p:xfrm>
          <a:off x="838200" y="1825625"/>
          <a:ext cx="10781185" cy="2595880"/>
        </p:xfrm>
        <a:graphic>
          <a:graphicData uri="http://schemas.openxmlformats.org/drawingml/2006/table">
            <a:tbl>
              <a:tblPr firstRow="1" bandRow="1">
                <a:tableStyleId>{5C22544A-7EE6-4342-B048-85BDC9FD1C3A}</a:tableStyleId>
              </a:tblPr>
              <a:tblGrid>
                <a:gridCol w="1329055">
                  <a:extLst>
                    <a:ext uri="{9D8B030D-6E8A-4147-A177-3AD203B41FA5}">
                      <a16:colId xmlns:a16="http://schemas.microsoft.com/office/drawing/2014/main" val="3540850605"/>
                    </a:ext>
                  </a:extLst>
                </a:gridCol>
                <a:gridCol w="3261347">
                  <a:extLst>
                    <a:ext uri="{9D8B030D-6E8A-4147-A177-3AD203B41FA5}">
                      <a16:colId xmlns:a16="http://schemas.microsoft.com/office/drawing/2014/main" val="3226682977"/>
                    </a:ext>
                  </a:extLst>
                </a:gridCol>
                <a:gridCol w="2555755">
                  <a:extLst>
                    <a:ext uri="{9D8B030D-6E8A-4147-A177-3AD203B41FA5}">
                      <a16:colId xmlns:a16="http://schemas.microsoft.com/office/drawing/2014/main" val="3559267260"/>
                    </a:ext>
                  </a:extLst>
                </a:gridCol>
                <a:gridCol w="3635028">
                  <a:extLst>
                    <a:ext uri="{9D8B030D-6E8A-4147-A177-3AD203B41FA5}">
                      <a16:colId xmlns:a16="http://schemas.microsoft.com/office/drawing/2014/main" val="2875434147"/>
                    </a:ext>
                  </a:extLst>
                </a:gridCol>
              </a:tblGrid>
              <a:tr h="370840">
                <a:tc>
                  <a:txBody>
                    <a:bodyPr/>
                    <a:lstStyle/>
                    <a:p>
                      <a:r>
                        <a:rPr lang="en-US"/>
                        <a:t>VM</a:t>
                      </a:r>
                    </a:p>
                  </a:txBody>
                  <a:tcPr/>
                </a:tc>
                <a:tc>
                  <a:txBody>
                    <a:bodyPr/>
                    <a:lstStyle/>
                    <a:p>
                      <a:r>
                        <a:rPr lang="en-US"/>
                        <a:t>Transport</a:t>
                      </a:r>
                    </a:p>
                  </a:txBody>
                  <a:tcPr/>
                </a:tc>
                <a:tc>
                  <a:txBody>
                    <a:bodyPr/>
                    <a:lstStyle/>
                    <a:p>
                      <a:r>
                        <a:rPr lang="en-US"/>
                        <a:t>Network</a:t>
                      </a:r>
                      <a:r>
                        <a:rPr lang="zh-CN" altLang="en-US"/>
                        <a:t> </a:t>
                      </a:r>
                      <a:r>
                        <a:rPr lang="en-US" altLang="zh-CN"/>
                        <a:t>overhead</a:t>
                      </a:r>
                      <a:endParaRPr lang="en-US"/>
                    </a:p>
                  </a:txBody>
                  <a:tcPr/>
                </a:tc>
                <a:tc>
                  <a:txBody>
                    <a:bodyPr/>
                    <a:lstStyle/>
                    <a:p>
                      <a:r>
                        <a:rPr lang="en-US"/>
                        <a:t>Encryption</a:t>
                      </a:r>
                      <a:r>
                        <a:rPr lang="zh-CN" altLang="en-US"/>
                        <a:t> </a:t>
                      </a:r>
                      <a:r>
                        <a:rPr lang="en-US" altLang="zh-CN"/>
                        <a:t>Overhead</a:t>
                      </a:r>
                      <a:endParaRPr lang="en-US"/>
                    </a:p>
                  </a:txBody>
                  <a:tcPr/>
                </a:tc>
                <a:extLst>
                  <a:ext uri="{0D108BD9-81ED-4DB2-BD59-A6C34878D82A}">
                    <a16:rowId xmlns:a16="http://schemas.microsoft.com/office/drawing/2014/main" val="3942661537"/>
                  </a:ext>
                </a:extLst>
              </a:tr>
              <a:tr h="370840">
                <a:tc>
                  <a:txBody>
                    <a:bodyPr/>
                    <a:lstStyle/>
                    <a:p>
                      <a:r>
                        <a:rPr lang="en-GB"/>
                        <a:t>Normal VM</a:t>
                      </a:r>
                      <a:endParaRPr lang="en-US"/>
                    </a:p>
                  </a:txBody>
                  <a:tcPr/>
                </a:tc>
                <a:tc>
                  <a:txBody>
                    <a:bodyPr/>
                    <a:lstStyle/>
                    <a:p>
                      <a:r>
                        <a:rPr lang="en-GB"/>
                        <a:t>HTTP</a:t>
                      </a:r>
                      <a:endParaRPr lang="en-US"/>
                    </a:p>
                  </a:txBody>
                  <a:tcPr/>
                </a:tc>
                <a:tc>
                  <a:txBody>
                    <a:bodyPr/>
                    <a:lstStyle/>
                    <a:p>
                      <a:r>
                        <a:rPr lang="en-GB"/>
                        <a:t>3.106 ms</a:t>
                      </a:r>
                      <a:endParaRPr lang="en-US"/>
                    </a:p>
                  </a:txBody>
                  <a:tcPr/>
                </a:tc>
                <a:tc>
                  <a:txBody>
                    <a:bodyPr/>
                    <a:lstStyle/>
                    <a:p>
                      <a:endParaRPr lang="en-US"/>
                    </a:p>
                  </a:txBody>
                  <a:tcPr/>
                </a:tc>
                <a:extLst>
                  <a:ext uri="{0D108BD9-81ED-4DB2-BD59-A6C34878D82A}">
                    <a16:rowId xmlns:a16="http://schemas.microsoft.com/office/drawing/2014/main" val="2362772652"/>
                  </a:ext>
                </a:extLst>
              </a:tr>
              <a:tr h="370840">
                <a:tc>
                  <a:txBody>
                    <a:bodyPr/>
                    <a:lstStyle/>
                    <a:p>
                      <a:r>
                        <a:rPr lang="en-GB"/>
                        <a:t>Normal VM</a:t>
                      </a:r>
                      <a:endParaRPr lang="en-US"/>
                    </a:p>
                  </a:txBody>
                  <a:tcPr/>
                </a:tc>
                <a:tc>
                  <a:txBody>
                    <a:bodyPr/>
                    <a:lstStyle/>
                    <a:p>
                      <a:r>
                        <a:rPr lang="en-GB"/>
                        <a:t>AES-GCM</a:t>
                      </a:r>
                      <a:endParaRPr lang="en-US"/>
                    </a:p>
                  </a:txBody>
                  <a:tcPr/>
                </a:tc>
                <a:tc>
                  <a:txBody>
                    <a:bodyPr/>
                    <a:lstStyle/>
                    <a:p>
                      <a:r>
                        <a:rPr lang="en-GB"/>
                        <a:t>3.310 ms</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200">
                          <a:solidFill>
                            <a:schemeClr val="dk1"/>
                          </a:solidFill>
                          <a:latin typeface="+mn-lt"/>
                          <a:ea typeface="+mn-ea"/>
                          <a:cs typeface="+mn-cs"/>
                        </a:rPr>
                        <a:t>+</a:t>
                      </a:r>
                      <a:r>
                        <a:rPr lang="en-GB" sz="1800" kern="1200">
                          <a:solidFill>
                            <a:schemeClr val="dk1"/>
                          </a:solidFill>
                          <a:latin typeface="+mn-lt"/>
                          <a:ea typeface="+mn-ea"/>
                          <a:cs typeface="+mn-cs"/>
                        </a:rPr>
                        <a:t>0.204 ms</a:t>
                      </a:r>
                    </a:p>
                  </a:txBody>
                  <a:tcPr/>
                </a:tc>
                <a:extLst>
                  <a:ext uri="{0D108BD9-81ED-4DB2-BD59-A6C34878D82A}">
                    <a16:rowId xmlns:a16="http://schemas.microsoft.com/office/drawing/2014/main" val="1313549323"/>
                  </a:ext>
                </a:extLst>
              </a:tr>
              <a:tr h="370840">
                <a:tc>
                  <a:txBody>
                    <a:bodyPr/>
                    <a:lstStyle/>
                    <a:p>
                      <a:r>
                        <a:rPr lang="en-GB"/>
                        <a:t>Normal VM</a:t>
                      </a:r>
                      <a:endParaRPr lang="en-US"/>
                    </a:p>
                  </a:txBody>
                  <a:tcPr/>
                </a:tc>
                <a:tc>
                  <a:txBody>
                    <a:bodyPr/>
                    <a:lstStyle/>
                    <a:p>
                      <a:r>
                        <a:rPr lang="en-GB"/>
                        <a:t>ChaCha20</a:t>
                      </a:r>
                      <a:endParaRPr lang="en-US"/>
                    </a:p>
                  </a:txBody>
                  <a:tcPr/>
                </a:tc>
                <a:tc>
                  <a:txBody>
                    <a:bodyPr/>
                    <a:lstStyle/>
                    <a:p>
                      <a:r>
                        <a:rPr lang="en-GB"/>
                        <a:t>3.279 ms</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200">
                          <a:solidFill>
                            <a:schemeClr val="dk1"/>
                          </a:solidFill>
                          <a:latin typeface="+mn-lt"/>
                          <a:ea typeface="+mn-ea"/>
                          <a:cs typeface="+mn-cs"/>
                        </a:rPr>
                        <a:t>+</a:t>
                      </a:r>
                      <a:r>
                        <a:rPr lang="en-GB" sz="1800" kern="1200">
                          <a:solidFill>
                            <a:schemeClr val="dk1"/>
                          </a:solidFill>
                          <a:latin typeface="+mn-lt"/>
                          <a:ea typeface="+mn-ea"/>
                          <a:cs typeface="+mn-cs"/>
                        </a:rPr>
                        <a:t>0.173 ms</a:t>
                      </a:r>
                    </a:p>
                  </a:txBody>
                  <a:tcPr/>
                </a:tc>
                <a:extLst>
                  <a:ext uri="{0D108BD9-81ED-4DB2-BD59-A6C34878D82A}">
                    <a16:rowId xmlns:a16="http://schemas.microsoft.com/office/drawing/2014/main" val="2676279727"/>
                  </a:ext>
                </a:extLst>
              </a:tr>
              <a:tr h="370840">
                <a:tc>
                  <a:txBody>
                    <a:bodyPr/>
                    <a:lstStyle/>
                    <a:p>
                      <a:r>
                        <a:rPr lang="en-GB"/>
                        <a:t>TDX VM</a:t>
                      </a:r>
                      <a:endParaRPr lang="en-US"/>
                    </a:p>
                  </a:txBody>
                  <a:tcPr/>
                </a:tc>
                <a:tc>
                  <a:txBody>
                    <a:bodyPr/>
                    <a:lstStyle/>
                    <a:p>
                      <a:r>
                        <a:rPr lang="en-GB"/>
                        <a:t>HTTP</a:t>
                      </a:r>
                      <a:endParaRPr lang="en-US"/>
                    </a:p>
                  </a:txBody>
                  <a:tcPr/>
                </a:tc>
                <a:tc>
                  <a:txBody>
                    <a:bodyPr/>
                    <a:lstStyle/>
                    <a:p>
                      <a:r>
                        <a:rPr lang="en-GB"/>
                        <a:t>3.228 ms</a:t>
                      </a:r>
                      <a:endParaRPr lang="en-US"/>
                    </a:p>
                  </a:txBody>
                  <a:tcPr/>
                </a:tc>
                <a:tc>
                  <a:txBody>
                    <a:bodyPr/>
                    <a:lstStyle/>
                    <a:p>
                      <a:endParaRPr lang="en-US"/>
                    </a:p>
                  </a:txBody>
                  <a:tcPr/>
                </a:tc>
                <a:extLst>
                  <a:ext uri="{0D108BD9-81ED-4DB2-BD59-A6C34878D82A}">
                    <a16:rowId xmlns:a16="http://schemas.microsoft.com/office/drawing/2014/main" val="4258721571"/>
                  </a:ext>
                </a:extLst>
              </a:tr>
              <a:tr h="370840">
                <a:tc>
                  <a:txBody>
                    <a:bodyPr/>
                    <a:lstStyle/>
                    <a:p>
                      <a:r>
                        <a:rPr lang="en-GB"/>
                        <a:t>TDX VM</a:t>
                      </a:r>
                      <a:endParaRPr lang="en-US"/>
                    </a:p>
                  </a:txBody>
                  <a:tcPr/>
                </a:tc>
                <a:tc>
                  <a:txBody>
                    <a:bodyPr/>
                    <a:lstStyle/>
                    <a:p>
                      <a:r>
                        <a:rPr lang="en-GB"/>
                        <a:t>AES-GCM</a:t>
                      </a:r>
                      <a:endParaRPr lang="en-US"/>
                    </a:p>
                  </a:txBody>
                  <a:tcPr/>
                </a:tc>
                <a:tc>
                  <a:txBody>
                    <a:bodyPr/>
                    <a:lstStyle/>
                    <a:p>
                      <a:r>
                        <a:rPr lang="en-GB"/>
                        <a:t>3.518 ms</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200">
                          <a:solidFill>
                            <a:schemeClr val="dk1"/>
                          </a:solidFill>
                          <a:latin typeface="+mn-lt"/>
                          <a:ea typeface="+mn-ea"/>
                          <a:cs typeface="+mn-cs"/>
                        </a:rPr>
                        <a:t>+</a:t>
                      </a:r>
                      <a:r>
                        <a:rPr lang="en-GB" sz="1800" kern="1200">
                          <a:solidFill>
                            <a:schemeClr val="dk1"/>
                          </a:solidFill>
                          <a:latin typeface="+mn-lt"/>
                          <a:ea typeface="+mn-ea"/>
                          <a:cs typeface="+mn-cs"/>
                        </a:rPr>
                        <a:t>0.290 ms</a:t>
                      </a:r>
                    </a:p>
                  </a:txBody>
                  <a:tcPr/>
                </a:tc>
                <a:extLst>
                  <a:ext uri="{0D108BD9-81ED-4DB2-BD59-A6C34878D82A}">
                    <a16:rowId xmlns:a16="http://schemas.microsoft.com/office/drawing/2014/main" val="795387881"/>
                  </a:ext>
                </a:extLst>
              </a:tr>
              <a:tr h="370840">
                <a:tc>
                  <a:txBody>
                    <a:bodyPr/>
                    <a:lstStyle/>
                    <a:p>
                      <a:r>
                        <a:rPr lang="en-GB"/>
                        <a:t>TDX VM</a:t>
                      </a:r>
                      <a:endParaRPr lang="en-US"/>
                    </a:p>
                  </a:txBody>
                  <a:tcPr/>
                </a:tc>
                <a:tc>
                  <a:txBody>
                    <a:bodyPr/>
                    <a:lstStyle/>
                    <a:p>
                      <a:r>
                        <a:rPr lang="en-GB"/>
                        <a:t>ChaCha20</a:t>
                      </a:r>
                      <a:endParaRPr lang="en-US"/>
                    </a:p>
                  </a:txBody>
                  <a:tcPr/>
                </a:tc>
                <a:tc>
                  <a:txBody>
                    <a:bodyPr/>
                    <a:lstStyle/>
                    <a:p>
                      <a:r>
                        <a:rPr lang="en-GB"/>
                        <a:t>3.548 ms</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200">
                          <a:solidFill>
                            <a:schemeClr val="dk1"/>
                          </a:solidFill>
                          <a:latin typeface="+mn-lt"/>
                          <a:ea typeface="+mn-ea"/>
                          <a:cs typeface="+mn-cs"/>
                        </a:rPr>
                        <a:t>+</a:t>
                      </a:r>
                      <a:r>
                        <a:rPr lang="en-GB" sz="1800" kern="1200">
                          <a:solidFill>
                            <a:schemeClr val="dk1"/>
                          </a:solidFill>
                          <a:latin typeface="+mn-lt"/>
                          <a:ea typeface="+mn-ea"/>
                          <a:cs typeface="+mn-cs"/>
                        </a:rPr>
                        <a:t>0.320 ms (0.001s)</a:t>
                      </a:r>
                    </a:p>
                  </a:txBody>
                  <a:tcPr/>
                </a:tc>
                <a:extLst>
                  <a:ext uri="{0D108BD9-81ED-4DB2-BD59-A6C34878D82A}">
                    <a16:rowId xmlns:a16="http://schemas.microsoft.com/office/drawing/2014/main" val="2111069201"/>
                  </a:ext>
                </a:extLst>
              </a:tr>
            </a:tbl>
          </a:graphicData>
        </a:graphic>
      </p:graphicFrame>
      <p:sp>
        <p:nvSpPr>
          <p:cNvPr id="10" name="TextBox 9">
            <a:extLst>
              <a:ext uri="{FF2B5EF4-FFF2-40B4-BE49-F238E27FC236}">
                <a16:creationId xmlns:a16="http://schemas.microsoft.com/office/drawing/2014/main" id="{E54E97B9-9B19-B04E-C501-3396F8164F45}"/>
              </a:ext>
            </a:extLst>
          </p:cNvPr>
          <p:cNvSpPr txBox="1"/>
          <p:nvPr/>
        </p:nvSpPr>
        <p:spPr>
          <a:xfrm>
            <a:off x="838200" y="4636546"/>
            <a:ext cx="10392784" cy="1200329"/>
          </a:xfrm>
          <a:prstGeom prst="rect">
            <a:avLst/>
          </a:prstGeom>
          <a:noFill/>
        </p:spPr>
        <p:txBody>
          <a:bodyPr wrap="square" rtlCol="0">
            <a:spAutoFit/>
          </a:bodyPr>
          <a:lstStyle/>
          <a:p>
            <a:r>
              <a:rPr lang="en-GB" b="1"/>
              <a:t>Summary: </a:t>
            </a:r>
          </a:p>
          <a:p>
            <a:r>
              <a:rPr lang="en-GB"/>
              <a:t>Gunicorn handled TLS termination. After</a:t>
            </a:r>
            <a:r>
              <a:rPr lang="zh-CN" altLang="en-US"/>
              <a:t> </a:t>
            </a:r>
            <a:r>
              <a:rPr lang="en-US" altLang="zh-CN"/>
              <a:t>the</a:t>
            </a:r>
            <a:r>
              <a:rPr lang="zh-CN" altLang="en-US"/>
              <a:t> </a:t>
            </a:r>
            <a:r>
              <a:rPr lang="en-US" altLang="zh-CN"/>
              <a:t>initial</a:t>
            </a:r>
            <a:r>
              <a:rPr lang="zh-CN" altLang="en-US"/>
              <a:t> </a:t>
            </a:r>
            <a:r>
              <a:rPr lang="en-US" altLang="zh-CN"/>
              <a:t>TLS</a:t>
            </a:r>
            <a:r>
              <a:rPr lang="zh-CN" altLang="en-US"/>
              <a:t> </a:t>
            </a:r>
            <a:r>
              <a:rPr lang="en-US" altLang="zh-CN"/>
              <a:t>handshake,</a:t>
            </a:r>
            <a:r>
              <a:rPr lang="zh-CN" altLang="en-US"/>
              <a:t> </a:t>
            </a:r>
            <a:r>
              <a:rPr lang="en-US" altLang="zh-CN"/>
              <a:t>the p</a:t>
            </a:r>
            <a:r>
              <a:rPr lang="en-GB"/>
              <a:t>ersistent connection was reused across subsequent requests. The steady-state HTTPS overhead was approximately 0.17–0.32 ms per request</a:t>
            </a:r>
            <a:r>
              <a:rPr lang="zh-CN" altLang="en-US"/>
              <a:t> </a:t>
            </a:r>
            <a:r>
              <a:rPr lang="en-US" altLang="zh-CN"/>
              <a:t>without TLS handshake.</a:t>
            </a:r>
            <a:endParaRPr lang="en-GB"/>
          </a:p>
        </p:txBody>
      </p:sp>
    </p:spTree>
    <p:extLst>
      <p:ext uri="{BB962C8B-B14F-4D97-AF65-F5344CB8AC3E}">
        <p14:creationId xmlns:p14="http://schemas.microsoft.com/office/powerpoint/2010/main" val="1902362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AEC49-D244-CD98-BB65-4EB38A652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8F06B-76BB-98EA-5066-B1F17D044321}"/>
              </a:ext>
            </a:extLst>
          </p:cNvPr>
          <p:cNvSpPr>
            <a:spLocks noGrp="1"/>
          </p:cNvSpPr>
          <p:nvPr>
            <p:ph type="title"/>
          </p:nvPr>
        </p:nvSpPr>
        <p:spPr/>
        <p:txBody>
          <a:bodyPr>
            <a:normAutofit/>
          </a:bodyPr>
          <a:lstStyle/>
          <a:p>
            <a:r>
              <a:rPr lang="en-GB" sz="4000" b="1"/>
              <a:t>TLS Overhead with Persistent Connections</a:t>
            </a:r>
            <a:endParaRPr lang="en-GB" sz="4000"/>
          </a:p>
        </p:txBody>
      </p:sp>
      <p:graphicFrame>
        <p:nvGraphicFramePr>
          <p:cNvPr id="7" name="Content Placeholder 6">
            <a:extLst>
              <a:ext uri="{FF2B5EF4-FFF2-40B4-BE49-F238E27FC236}">
                <a16:creationId xmlns:a16="http://schemas.microsoft.com/office/drawing/2014/main" id="{9AE4D1DA-C2BF-AF62-6479-1326E9C900A6}"/>
              </a:ext>
            </a:extLst>
          </p:cNvPr>
          <p:cNvGraphicFramePr>
            <a:graphicFrameLocks noGrp="1"/>
          </p:cNvGraphicFramePr>
          <p:nvPr>
            <p:ph idx="1"/>
            <p:extLst>
              <p:ext uri="{D42A27DB-BD31-4B8C-83A1-F6EECF244321}">
                <p14:modId xmlns:p14="http://schemas.microsoft.com/office/powerpoint/2010/main" val="902981424"/>
              </p:ext>
            </p:extLst>
          </p:nvPr>
        </p:nvGraphicFramePr>
        <p:xfrm>
          <a:off x="838199" y="1825625"/>
          <a:ext cx="9725809" cy="2595880"/>
        </p:xfrm>
        <a:graphic>
          <a:graphicData uri="http://schemas.openxmlformats.org/drawingml/2006/table">
            <a:tbl>
              <a:tblPr firstRow="1" bandRow="1">
                <a:tableStyleId>{5C22544A-7EE6-4342-B048-85BDC9FD1C3A}</a:tableStyleId>
              </a:tblPr>
              <a:tblGrid>
                <a:gridCol w="1522570">
                  <a:extLst>
                    <a:ext uri="{9D8B030D-6E8A-4147-A177-3AD203B41FA5}">
                      <a16:colId xmlns:a16="http://schemas.microsoft.com/office/drawing/2014/main" val="3540850605"/>
                    </a:ext>
                  </a:extLst>
                </a:gridCol>
                <a:gridCol w="2096159">
                  <a:extLst>
                    <a:ext uri="{9D8B030D-6E8A-4147-A177-3AD203B41FA5}">
                      <a16:colId xmlns:a16="http://schemas.microsoft.com/office/drawing/2014/main" val="3226682977"/>
                    </a:ext>
                  </a:extLst>
                </a:gridCol>
                <a:gridCol w="3277820">
                  <a:extLst>
                    <a:ext uri="{9D8B030D-6E8A-4147-A177-3AD203B41FA5}">
                      <a16:colId xmlns:a16="http://schemas.microsoft.com/office/drawing/2014/main" val="3559267260"/>
                    </a:ext>
                  </a:extLst>
                </a:gridCol>
                <a:gridCol w="2829260">
                  <a:extLst>
                    <a:ext uri="{9D8B030D-6E8A-4147-A177-3AD203B41FA5}">
                      <a16:colId xmlns:a16="http://schemas.microsoft.com/office/drawing/2014/main" val="3642767679"/>
                    </a:ext>
                  </a:extLst>
                </a:gridCol>
              </a:tblGrid>
              <a:tr h="370840">
                <a:tc>
                  <a:txBody>
                    <a:bodyPr/>
                    <a:lstStyle/>
                    <a:p>
                      <a:r>
                        <a:rPr lang="en-US"/>
                        <a:t>VM</a:t>
                      </a:r>
                    </a:p>
                  </a:txBody>
                  <a:tcPr/>
                </a:tc>
                <a:tc>
                  <a:txBody>
                    <a:bodyPr/>
                    <a:lstStyle/>
                    <a:p>
                      <a:r>
                        <a:rPr lang="en-US"/>
                        <a:t>Transport</a:t>
                      </a:r>
                    </a:p>
                  </a:txBody>
                  <a:tcPr/>
                </a:tc>
                <a:tc>
                  <a:txBody>
                    <a:bodyPr/>
                    <a:lstStyle/>
                    <a:p>
                      <a:r>
                        <a:rPr lang="en-GB"/>
                        <a:t>Network/Protocol Overhead</a:t>
                      </a:r>
                      <a:endParaRPr lang="en-US"/>
                    </a:p>
                  </a:txBody>
                  <a:tcPr/>
                </a:tc>
                <a:tc>
                  <a:txBody>
                    <a:bodyPr/>
                    <a:lstStyle/>
                    <a:p>
                      <a:r>
                        <a:rPr lang="en-GB" b="1"/>
                        <a:t>Estimated TLS Overhead </a:t>
                      </a:r>
                      <a:endParaRPr lang="en-GB"/>
                    </a:p>
                  </a:txBody>
                  <a:tcPr/>
                </a:tc>
                <a:extLst>
                  <a:ext uri="{0D108BD9-81ED-4DB2-BD59-A6C34878D82A}">
                    <a16:rowId xmlns:a16="http://schemas.microsoft.com/office/drawing/2014/main" val="3942661537"/>
                  </a:ext>
                </a:extLst>
              </a:tr>
              <a:tr h="370840">
                <a:tc>
                  <a:txBody>
                    <a:bodyPr/>
                    <a:lstStyle/>
                    <a:p>
                      <a:r>
                        <a:rPr lang="en-GB"/>
                        <a:t>Normal VM</a:t>
                      </a:r>
                      <a:endParaRPr lang="en-US"/>
                    </a:p>
                  </a:txBody>
                  <a:tcPr/>
                </a:tc>
                <a:tc>
                  <a:txBody>
                    <a:bodyPr/>
                    <a:lstStyle/>
                    <a:p>
                      <a:r>
                        <a:rPr lang="en-GB"/>
                        <a:t>HTTP</a:t>
                      </a:r>
                      <a:endParaRPr lang="en-US"/>
                    </a:p>
                  </a:txBody>
                  <a:tcPr/>
                </a:tc>
                <a:tc>
                  <a:txBody>
                    <a:bodyPr/>
                    <a:lstStyle/>
                    <a:p>
                      <a:r>
                        <a:rPr lang="en-US" altLang="zh-CN"/>
                        <a:t>3.352</a:t>
                      </a:r>
                      <a:r>
                        <a:rPr lang="zh-CN" altLang="en-US"/>
                        <a:t> </a:t>
                      </a:r>
                      <a:r>
                        <a:rPr lang="en-US" altLang="zh-CN"/>
                        <a:t>ms</a:t>
                      </a:r>
                      <a:endParaRPr lang="en-US"/>
                    </a:p>
                  </a:txBody>
                  <a:tcPr/>
                </a:tc>
                <a:tc>
                  <a:txBody>
                    <a:bodyPr/>
                    <a:lstStyle/>
                    <a:p>
                      <a:endParaRPr lang="en-US"/>
                    </a:p>
                  </a:txBody>
                  <a:tcPr/>
                </a:tc>
                <a:extLst>
                  <a:ext uri="{0D108BD9-81ED-4DB2-BD59-A6C34878D82A}">
                    <a16:rowId xmlns:a16="http://schemas.microsoft.com/office/drawing/2014/main" val="2362772652"/>
                  </a:ext>
                </a:extLst>
              </a:tr>
              <a:tr h="370840">
                <a:tc>
                  <a:txBody>
                    <a:bodyPr/>
                    <a:lstStyle/>
                    <a:p>
                      <a:r>
                        <a:rPr lang="en-GB"/>
                        <a:t>Normal VM</a:t>
                      </a:r>
                      <a:endParaRPr lang="en-US"/>
                    </a:p>
                  </a:txBody>
                  <a:tcPr/>
                </a:tc>
                <a:tc>
                  <a:txBody>
                    <a:bodyPr/>
                    <a:lstStyle/>
                    <a:p>
                      <a:r>
                        <a:rPr lang="en-GB"/>
                        <a:t>AES-GCM</a:t>
                      </a:r>
                      <a:endParaRPr lang="en-US"/>
                    </a:p>
                  </a:txBody>
                  <a:tcPr/>
                </a:tc>
                <a:tc>
                  <a:txBody>
                    <a:bodyPr/>
                    <a:lstStyle/>
                    <a:p>
                      <a:r>
                        <a:rPr lang="en-US" altLang="zh-CN"/>
                        <a:t>4.267</a:t>
                      </a:r>
                      <a:r>
                        <a:rPr lang="zh-CN" altLang="en-US"/>
                        <a:t> </a:t>
                      </a:r>
                      <a:r>
                        <a:rPr lang="en-US" altLang="zh-CN"/>
                        <a:t>ms</a:t>
                      </a:r>
                      <a:endParaRPr lang="en-US"/>
                    </a:p>
                  </a:txBody>
                  <a:tcPr/>
                </a:tc>
                <a:tc>
                  <a:txBody>
                    <a:bodyPr/>
                    <a:lstStyle/>
                    <a:p>
                      <a:r>
                        <a:rPr lang="en-GB"/>
                        <a:t>+0.915 ms</a:t>
                      </a:r>
                      <a:endParaRPr lang="en-US"/>
                    </a:p>
                  </a:txBody>
                  <a:tcPr/>
                </a:tc>
                <a:extLst>
                  <a:ext uri="{0D108BD9-81ED-4DB2-BD59-A6C34878D82A}">
                    <a16:rowId xmlns:a16="http://schemas.microsoft.com/office/drawing/2014/main" val="1313549323"/>
                  </a:ext>
                </a:extLst>
              </a:tr>
              <a:tr h="370840">
                <a:tc>
                  <a:txBody>
                    <a:bodyPr/>
                    <a:lstStyle/>
                    <a:p>
                      <a:r>
                        <a:rPr lang="en-GB"/>
                        <a:t>Normal VM</a:t>
                      </a:r>
                      <a:endParaRPr lang="en-US"/>
                    </a:p>
                  </a:txBody>
                  <a:tcPr/>
                </a:tc>
                <a:tc>
                  <a:txBody>
                    <a:bodyPr/>
                    <a:lstStyle/>
                    <a:p>
                      <a:r>
                        <a:rPr lang="en-GB"/>
                        <a:t>ChaCha20</a:t>
                      </a:r>
                      <a:endParaRPr lang="en-US"/>
                    </a:p>
                  </a:txBody>
                  <a:tcPr/>
                </a:tc>
                <a:tc>
                  <a:txBody>
                    <a:bodyPr/>
                    <a:lstStyle/>
                    <a:p>
                      <a:r>
                        <a:rPr lang="en-US"/>
                        <a:t>4.227 ms</a:t>
                      </a:r>
                    </a:p>
                  </a:txBody>
                  <a:tcPr/>
                </a:tc>
                <a:tc>
                  <a:txBody>
                    <a:bodyPr/>
                    <a:lstStyle/>
                    <a:p>
                      <a:r>
                        <a:rPr lang="en-GB"/>
                        <a:t>+0.875 ms</a:t>
                      </a:r>
                      <a:endParaRPr lang="en-US"/>
                    </a:p>
                  </a:txBody>
                  <a:tcPr/>
                </a:tc>
                <a:extLst>
                  <a:ext uri="{0D108BD9-81ED-4DB2-BD59-A6C34878D82A}">
                    <a16:rowId xmlns:a16="http://schemas.microsoft.com/office/drawing/2014/main" val="2676279727"/>
                  </a:ext>
                </a:extLst>
              </a:tr>
              <a:tr h="370840">
                <a:tc>
                  <a:txBody>
                    <a:bodyPr/>
                    <a:lstStyle/>
                    <a:p>
                      <a:r>
                        <a:rPr lang="en-GB"/>
                        <a:t>TDX VM</a:t>
                      </a:r>
                      <a:endParaRPr lang="en-US"/>
                    </a:p>
                  </a:txBody>
                  <a:tcPr/>
                </a:tc>
                <a:tc>
                  <a:txBody>
                    <a:bodyPr/>
                    <a:lstStyle/>
                    <a:p>
                      <a:r>
                        <a:rPr lang="en-GB"/>
                        <a:t>HTTP</a:t>
                      </a:r>
                      <a:endParaRPr lang="en-US"/>
                    </a:p>
                  </a:txBody>
                  <a:tcPr/>
                </a:tc>
                <a:tc>
                  <a:txBody>
                    <a:bodyPr/>
                    <a:lstStyle/>
                    <a:p>
                      <a:r>
                        <a:rPr lang="en-US"/>
                        <a:t>3.477 ms</a:t>
                      </a:r>
                    </a:p>
                  </a:txBody>
                  <a:tcPr/>
                </a:tc>
                <a:tc>
                  <a:txBody>
                    <a:bodyPr/>
                    <a:lstStyle/>
                    <a:p>
                      <a:endParaRPr lang="en-US"/>
                    </a:p>
                  </a:txBody>
                  <a:tcPr/>
                </a:tc>
                <a:extLst>
                  <a:ext uri="{0D108BD9-81ED-4DB2-BD59-A6C34878D82A}">
                    <a16:rowId xmlns:a16="http://schemas.microsoft.com/office/drawing/2014/main" val="4258721571"/>
                  </a:ext>
                </a:extLst>
              </a:tr>
              <a:tr h="370840">
                <a:tc>
                  <a:txBody>
                    <a:bodyPr/>
                    <a:lstStyle/>
                    <a:p>
                      <a:r>
                        <a:rPr lang="en-GB"/>
                        <a:t>TDX VM</a:t>
                      </a:r>
                      <a:endParaRPr lang="en-US"/>
                    </a:p>
                  </a:txBody>
                  <a:tcPr/>
                </a:tc>
                <a:tc>
                  <a:txBody>
                    <a:bodyPr/>
                    <a:lstStyle/>
                    <a:p>
                      <a:r>
                        <a:rPr lang="en-GB"/>
                        <a:t>AES-GCM</a:t>
                      </a:r>
                      <a:endParaRPr lang="en-US"/>
                    </a:p>
                  </a:txBody>
                  <a:tcPr/>
                </a:tc>
                <a:tc>
                  <a:txBody>
                    <a:bodyPr/>
                    <a:lstStyle/>
                    <a:p>
                      <a:r>
                        <a:rPr lang="en-US"/>
                        <a:t>4.506 ms</a:t>
                      </a:r>
                    </a:p>
                  </a:txBody>
                  <a:tcPr/>
                </a:tc>
                <a:tc>
                  <a:txBody>
                    <a:bodyPr/>
                    <a:lstStyle/>
                    <a:p>
                      <a:r>
                        <a:rPr lang="en-GB"/>
                        <a:t>+1.029 ms</a:t>
                      </a:r>
                      <a:endParaRPr lang="en-US"/>
                    </a:p>
                  </a:txBody>
                  <a:tcPr/>
                </a:tc>
                <a:extLst>
                  <a:ext uri="{0D108BD9-81ED-4DB2-BD59-A6C34878D82A}">
                    <a16:rowId xmlns:a16="http://schemas.microsoft.com/office/drawing/2014/main" val="795387881"/>
                  </a:ext>
                </a:extLst>
              </a:tr>
              <a:tr h="370840">
                <a:tc>
                  <a:txBody>
                    <a:bodyPr/>
                    <a:lstStyle/>
                    <a:p>
                      <a:r>
                        <a:rPr lang="en-GB"/>
                        <a:t>TDX VM</a:t>
                      </a:r>
                      <a:endParaRPr lang="en-US"/>
                    </a:p>
                  </a:txBody>
                  <a:tcPr/>
                </a:tc>
                <a:tc>
                  <a:txBody>
                    <a:bodyPr/>
                    <a:lstStyle/>
                    <a:p>
                      <a:r>
                        <a:rPr lang="en-GB"/>
                        <a:t>ChaCha20</a:t>
                      </a:r>
                      <a:endParaRPr lang="en-US"/>
                    </a:p>
                  </a:txBody>
                  <a:tcPr/>
                </a:tc>
                <a:tc>
                  <a:txBody>
                    <a:bodyPr/>
                    <a:lstStyle/>
                    <a:p>
                      <a:r>
                        <a:rPr lang="en-US"/>
                        <a:t>4.524 ms</a:t>
                      </a:r>
                    </a:p>
                  </a:txBody>
                  <a:tcPr/>
                </a:tc>
                <a:tc>
                  <a:txBody>
                    <a:bodyPr/>
                    <a:lstStyle/>
                    <a:p>
                      <a:r>
                        <a:rPr lang="en-GB"/>
                        <a:t>+1.047 ms</a:t>
                      </a:r>
                      <a:endParaRPr lang="en-US"/>
                    </a:p>
                  </a:txBody>
                  <a:tcPr/>
                </a:tc>
                <a:extLst>
                  <a:ext uri="{0D108BD9-81ED-4DB2-BD59-A6C34878D82A}">
                    <a16:rowId xmlns:a16="http://schemas.microsoft.com/office/drawing/2014/main" val="2111069201"/>
                  </a:ext>
                </a:extLst>
              </a:tr>
            </a:tbl>
          </a:graphicData>
        </a:graphic>
      </p:graphicFrame>
      <p:sp>
        <p:nvSpPr>
          <p:cNvPr id="10" name="TextBox 9">
            <a:extLst>
              <a:ext uri="{FF2B5EF4-FFF2-40B4-BE49-F238E27FC236}">
                <a16:creationId xmlns:a16="http://schemas.microsoft.com/office/drawing/2014/main" id="{2782DDC2-3454-2C0E-4160-3EA12671CE87}"/>
              </a:ext>
            </a:extLst>
          </p:cNvPr>
          <p:cNvSpPr txBox="1"/>
          <p:nvPr/>
        </p:nvSpPr>
        <p:spPr>
          <a:xfrm>
            <a:off x="838200" y="4636546"/>
            <a:ext cx="10392784" cy="923330"/>
          </a:xfrm>
          <a:prstGeom prst="rect">
            <a:avLst/>
          </a:prstGeom>
          <a:noFill/>
        </p:spPr>
        <p:txBody>
          <a:bodyPr wrap="square" rtlCol="0">
            <a:spAutoFit/>
          </a:bodyPr>
          <a:lstStyle/>
          <a:p>
            <a:r>
              <a:rPr lang="en-GB" b="1"/>
              <a:t>Summary: </a:t>
            </a:r>
          </a:p>
          <a:p>
            <a:r>
              <a:rPr lang="en-GB"/>
              <a:t>With one initial TLS handshake amortised across ten requests, HTTPS introduced approximately 0.88–1.05 ms of additional network overhead per request. </a:t>
            </a:r>
          </a:p>
        </p:txBody>
      </p:sp>
    </p:spTree>
    <p:extLst>
      <p:ext uri="{BB962C8B-B14F-4D97-AF65-F5344CB8AC3E}">
        <p14:creationId xmlns:p14="http://schemas.microsoft.com/office/powerpoint/2010/main" val="3569115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4B777-5CE5-0CCD-FCB6-D2CE0D8EFE59}"/>
              </a:ext>
            </a:extLst>
          </p:cNvPr>
          <p:cNvSpPr>
            <a:spLocks noGrp="1"/>
          </p:cNvSpPr>
          <p:nvPr>
            <p:ph type="title"/>
          </p:nvPr>
        </p:nvSpPr>
        <p:spPr/>
        <p:txBody>
          <a:bodyPr>
            <a:normAutofit/>
          </a:bodyPr>
          <a:lstStyle/>
          <a:p>
            <a:r>
              <a:rPr lang="en-GB" b="1"/>
              <a:t>TEE Overhead: Normal VM vs TDX Confidential VM</a:t>
            </a:r>
            <a:endParaRPr lang="en-US"/>
          </a:p>
        </p:txBody>
      </p:sp>
      <p:graphicFrame>
        <p:nvGraphicFramePr>
          <p:cNvPr id="4" name="Content Placeholder 3">
            <a:extLst>
              <a:ext uri="{FF2B5EF4-FFF2-40B4-BE49-F238E27FC236}">
                <a16:creationId xmlns:a16="http://schemas.microsoft.com/office/drawing/2014/main" id="{3C9C272F-6B61-5CED-59DF-B0F03E460CA5}"/>
              </a:ext>
            </a:extLst>
          </p:cNvPr>
          <p:cNvGraphicFramePr>
            <a:graphicFrameLocks noGrp="1"/>
          </p:cNvGraphicFramePr>
          <p:nvPr>
            <p:ph idx="1"/>
            <p:extLst>
              <p:ext uri="{D42A27DB-BD31-4B8C-83A1-F6EECF244321}">
                <p14:modId xmlns:p14="http://schemas.microsoft.com/office/powerpoint/2010/main" val="2736025163"/>
              </p:ext>
            </p:extLst>
          </p:nvPr>
        </p:nvGraphicFramePr>
        <p:xfrm>
          <a:off x="838200" y="2374265"/>
          <a:ext cx="10515600" cy="14833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06686804"/>
                    </a:ext>
                  </a:extLst>
                </a:gridCol>
                <a:gridCol w="2628900">
                  <a:extLst>
                    <a:ext uri="{9D8B030D-6E8A-4147-A177-3AD203B41FA5}">
                      <a16:colId xmlns:a16="http://schemas.microsoft.com/office/drawing/2014/main" val="3186274448"/>
                    </a:ext>
                  </a:extLst>
                </a:gridCol>
                <a:gridCol w="2628900">
                  <a:extLst>
                    <a:ext uri="{9D8B030D-6E8A-4147-A177-3AD203B41FA5}">
                      <a16:colId xmlns:a16="http://schemas.microsoft.com/office/drawing/2014/main" val="2593601683"/>
                    </a:ext>
                  </a:extLst>
                </a:gridCol>
                <a:gridCol w="2628900">
                  <a:extLst>
                    <a:ext uri="{9D8B030D-6E8A-4147-A177-3AD203B41FA5}">
                      <a16:colId xmlns:a16="http://schemas.microsoft.com/office/drawing/2014/main" val="1737842042"/>
                    </a:ext>
                  </a:extLst>
                </a:gridCol>
              </a:tblGrid>
              <a:tr h="370840">
                <a:tc>
                  <a:txBody>
                    <a:bodyPr/>
                    <a:lstStyle/>
                    <a:p>
                      <a:r>
                        <a:rPr lang="en-US"/>
                        <a:t>Transport</a:t>
                      </a:r>
                    </a:p>
                  </a:txBody>
                  <a:tcPr/>
                </a:tc>
                <a:tc>
                  <a:txBody>
                    <a:bodyPr/>
                    <a:lstStyle/>
                    <a:p>
                      <a:r>
                        <a:rPr lang="en-US"/>
                        <a:t>Normal</a:t>
                      </a:r>
                      <a:r>
                        <a:rPr lang="zh-CN" altLang="en-US"/>
                        <a:t> </a:t>
                      </a:r>
                      <a:r>
                        <a:rPr lang="en-US" altLang="zh-CN"/>
                        <a:t>VM</a:t>
                      </a:r>
                      <a:r>
                        <a:rPr lang="zh-CN" altLang="en-US"/>
                        <a:t> </a:t>
                      </a:r>
                      <a:r>
                        <a:rPr lang="en-US" altLang="zh-CN"/>
                        <a:t>Cloud</a:t>
                      </a:r>
                      <a:r>
                        <a:rPr lang="zh-CN" altLang="en-US"/>
                        <a:t> </a:t>
                      </a:r>
                      <a:r>
                        <a:rPr lang="en-US" altLang="zh-CN"/>
                        <a:t>Time</a:t>
                      </a:r>
                      <a:endParaRPr lang="en-US"/>
                    </a:p>
                  </a:txBody>
                  <a:tcPr/>
                </a:tc>
                <a:tc>
                  <a:txBody>
                    <a:bodyPr/>
                    <a:lstStyle/>
                    <a:p>
                      <a:r>
                        <a:rPr lang="en-US"/>
                        <a:t>TDX</a:t>
                      </a:r>
                      <a:r>
                        <a:rPr lang="zh-CN" altLang="en-US"/>
                        <a:t> </a:t>
                      </a:r>
                      <a:r>
                        <a:rPr lang="en-US" altLang="zh-CN"/>
                        <a:t>VM</a:t>
                      </a:r>
                      <a:r>
                        <a:rPr lang="zh-CN" altLang="en-US"/>
                        <a:t> </a:t>
                      </a:r>
                      <a:r>
                        <a:rPr lang="en-US" altLang="zh-CN"/>
                        <a:t>Cloud</a:t>
                      </a:r>
                      <a:r>
                        <a:rPr lang="zh-CN" altLang="en-US"/>
                        <a:t> </a:t>
                      </a:r>
                      <a:r>
                        <a:rPr lang="en-US" altLang="zh-CN"/>
                        <a:t>Time</a:t>
                      </a:r>
                      <a:endParaRPr lang="en-US"/>
                    </a:p>
                  </a:txBody>
                  <a:tcPr/>
                </a:tc>
                <a:tc>
                  <a:txBody>
                    <a:bodyPr/>
                    <a:lstStyle/>
                    <a:p>
                      <a:r>
                        <a:rPr lang="en-US"/>
                        <a:t>Cloud</a:t>
                      </a:r>
                      <a:r>
                        <a:rPr lang="zh-CN" altLang="en-US"/>
                        <a:t> </a:t>
                      </a:r>
                      <a:r>
                        <a:rPr lang="en-US" altLang="zh-CN"/>
                        <a:t>TEE</a:t>
                      </a:r>
                      <a:r>
                        <a:rPr lang="zh-CN" altLang="en-US"/>
                        <a:t> </a:t>
                      </a:r>
                      <a:r>
                        <a:rPr lang="en-US" altLang="zh-CN"/>
                        <a:t>Overhead</a:t>
                      </a:r>
                      <a:endParaRPr lang="en-US"/>
                    </a:p>
                  </a:txBody>
                  <a:tcPr/>
                </a:tc>
                <a:extLst>
                  <a:ext uri="{0D108BD9-81ED-4DB2-BD59-A6C34878D82A}">
                    <a16:rowId xmlns:a16="http://schemas.microsoft.com/office/drawing/2014/main" val="332766642"/>
                  </a:ext>
                </a:extLst>
              </a:tr>
              <a:tr h="370840">
                <a:tc>
                  <a:txBody>
                    <a:bodyPr/>
                    <a:lstStyle/>
                    <a:p>
                      <a:r>
                        <a:rPr lang="en-US"/>
                        <a:t>HTTP</a:t>
                      </a:r>
                    </a:p>
                  </a:txBody>
                  <a:tcPr/>
                </a:tc>
                <a:tc>
                  <a:txBody>
                    <a:bodyPr/>
                    <a:lstStyle/>
                    <a:p>
                      <a:r>
                        <a:rPr lang="en-GB"/>
                        <a:t>14.946 s</a:t>
                      </a:r>
                      <a:endParaRPr lang="en-US"/>
                    </a:p>
                  </a:txBody>
                  <a:tcPr/>
                </a:tc>
                <a:tc>
                  <a:txBody>
                    <a:bodyPr/>
                    <a:lstStyle/>
                    <a:p>
                      <a:r>
                        <a:rPr lang="en-GB"/>
                        <a:t>16.539 s</a:t>
                      </a:r>
                      <a:endParaRPr lang="en-US"/>
                    </a:p>
                  </a:txBody>
                  <a:tcPr/>
                </a:tc>
                <a:tc>
                  <a:txBody>
                    <a:bodyPr/>
                    <a:lstStyle/>
                    <a:p>
                      <a:r>
                        <a:rPr lang="en-GB"/>
                        <a:t>+10.66%</a:t>
                      </a:r>
                      <a:endParaRPr lang="en-US"/>
                    </a:p>
                  </a:txBody>
                  <a:tcPr/>
                </a:tc>
                <a:extLst>
                  <a:ext uri="{0D108BD9-81ED-4DB2-BD59-A6C34878D82A}">
                    <a16:rowId xmlns:a16="http://schemas.microsoft.com/office/drawing/2014/main" val="3436173376"/>
                  </a:ext>
                </a:extLst>
              </a:tr>
              <a:tr h="370840">
                <a:tc>
                  <a:txBody>
                    <a:bodyPr/>
                    <a:lstStyle/>
                    <a:p>
                      <a:r>
                        <a:rPr lang="en-US"/>
                        <a:t>AES</a:t>
                      </a:r>
                      <a:r>
                        <a:rPr lang="en-US" altLang="zh-CN"/>
                        <a:t>-GCM</a:t>
                      </a:r>
                      <a:endParaRPr lang="en-US"/>
                    </a:p>
                  </a:txBody>
                  <a:tcPr/>
                </a:tc>
                <a:tc>
                  <a:txBody>
                    <a:bodyPr/>
                    <a:lstStyle/>
                    <a:p>
                      <a:r>
                        <a:rPr lang="en-GB"/>
                        <a:t>14.940 s</a:t>
                      </a:r>
                      <a:endParaRPr lang="en-US"/>
                    </a:p>
                  </a:txBody>
                  <a:tcPr/>
                </a:tc>
                <a:tc>
                  <a:txBody>
                    <a:bodyPr/>
                    <a:lstStyle/>
                    <a:p>
                      <a:r>
                        <a:rPr lang="en-GB"/>
                        <a:t>16.332 s</a:t>
                      </a:r>
                      <a:endParaRPr lang="en-US"/>
                    </a:p>
                  </a:txBody>
                  <a:tcPr/>
                </a:tc>
                <a:tc>
                  <a:txBody>
                    <a:bodyPr/>
                    <a:lstStyle/>
                    <a:p>
                      <a:r>
                        <a:rPr lang="en-GB"/>
                        <a:t>+9.32%</a:t>
                      </a:r>
                      <a:endParaRPr lang="en-US"/>
                    </a:p>
                  </a:txBody>
                  <a:tcPr/>
                </a:tc>
                <a:extLst>
                  <a:ext uri="{0D108BD9-81ED-4DB2-BD59-A6C34878D82A}">
                    <a16:rowId xmlns:a16="http://schemas.microsoft.com/office/drawing/2014/main" val="4148720794"/>
                  </a:ext>
                </a:extLst>
              </a:tr>
              <a:tr h="370840">
                <a:tc>
                  <a:txBody>
                    <a:bodyPr/>
                    <a:lstStyle/>
                    <a:p>
                      <a:r>
                        <a:rPr lang="en-US"/>
                        <a:t>ChaCha</a:t>
                      </a:r>
                      <a:r>
                        <a:rPr lang="en-US" altLang="zh-CN"/>
                        <a:t>20</a:t>
                      </a:r>
                      <a:endParaRPr lang="en-US"/>
                    </a:p>
                  </a:txBody>
                  <a:tcPr/>
                </a:tc>
                <a:tc>
                  <a:txBody>
                    <a:bodyPr/>
                    <a:lstStyle/>
                    <a:p>
                      <a:r>
                        <a:rPr lang="en-GB"/>
                        <a:t>14.973 s</a:t>
                      </a:r>
                      <a:endParaRPr lang="en-US"/>
                    </a:p>
                  </a:txBody>
                  <a:tcPr/>
                </a:tc>
                <a:tc>
                  <a:txBody>
                    <a:bodyPr/>
                    <a:lstStyle/>
                    <a:p>
                      <a:r>
                        <a:rPr lang="en-GB"/>
                        <a:t>16.374 s</a:t>
                      </a:r>
                      <a:endParaRPr lang="en-US"/>
                    </a:p>
                  </a:txBody>
                  <a:tcPr/>
                </a:tc>
                <a:tc>
                  <a:txBody>
                    <a:bodyPr/>
                    <a:lstStyle/>
                    <a:p>
                      <a:r>
                        <a:rPr lang="en-GB"/>
                        <a:t>+9.35%</a:t>
                      </a:r>
                      <a:endParaRPr lang="en-US"/>
                    </a:p>
                  </a:txBody>
                  <a:tcPr/>
                </a:tc>
                <a:extLst>
                  <a:ext uri="{0D108BD9-81ED-4DB2-BD59-A6C34878D82A}">
                    <a16:rowId xmlns:a16="http://schemas.microsoft.com/office/drawing/2014/main" val="489149067"/>
                  </a:ext>
                </a:extLst>
              </a:tr>
            </a:tbl>
          </a:graphicData>
        </a:graphic>
      </p:graphicFrame>
      <p:sp>
        <p:nvSpPr>
          <p:cNvPr id="5" name="TextBox 4">
            <a:extLst>
              <a:ext uri="{FF2B5EF4-FFF2-40B4-BE49-F238E27FC236}">
                <a16:creationId xmlns:a16="http://schemas.microsoft.com/office/drawing/2014/main" id="{854D5AB6-5554-AA65-B260-AA01CAB70968}"/>
              </a:ext>
            </a:extLst>
          </p:cNvPr>
          <p:cNvSpPr txBox="1"/>
          <p:nvPr/>
        </p:nvSpPr>
        <p:spPr>
          <a:xfrm>
            <a:off x="838200" y="4173967"/>
            <a:ext cx="10392784" cy="923330"/>
          </a:xfrm>
          <a:prstGeom prst="rect">
            <a:avLst/>
          </a:prstGeom>
          <a:noFill/>
        </p:spPr>
        <p:txBody>
          <a:bodyPr wrap="square" rtlCol="0">
            <a:spAutoFit/>
          </a:bodyPr>
          <a:lstStyle/>
          <a:p>
            <a:r>
              <a:rPr lang="en-GB" b="1"/>
              <a:t>Summary: </a:t>
            </a:r>
          </a:p>
          <a:p>
            <a:r>
              <a:rPr lang="en-GB"/>
              <a:t>TDX introduced approximately 9.3–10.7% cloud-side inference overhead compared with the Normal VM, with an average overhead of approximately 9.8%</a:t>
            </a:r>
          </a:p>
        </p:txBody>
      </p:sp>
    </p:spTree>
    <p:extLst>
      <p:ext uri="{BB962C8B-B14F-4D97-AF65-F5344CB8AC3E}">
        <p14:creationId xmlns:p14="http://schemas.microsoft.com/office/powerpoint/2010/main" val="1153154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BEC45-91DC-0CB8-8AC8-3C92BF172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DBD42-7200-B2AB-5CCE-0FDA77E99B8D}"/>
              </a:ext>
            </a:extLst>
          </p:cNvPr>
          <p:cNvSpPr>
            <a:spLocks noGrp="1"/>
          </p:cNvSpPr>
          <p:nvPr>
            <p:ph type="title"/>
          </p:nvPr>
        </p:nvSpPr>
        <p:spPr>
          <a:xfrm>
            <a:off x="838198" y="64732"/>
            <a:ext cx="10515600" cy="1325563"/>
          </a:xfrm>
        </p:spPr>
        <p:txBody>
          <a:bodyPr>
            <a:normAutofit/>
          </a:bodyPr>
          <a:lstStyle/>
          <a:p>
            <a:r>
              <a:rPr lang="en-GB" b="1"/>
              <a:t>Generation-Stage Bottleneck Analysis</a:t>
            </a:r>
            <a:r>
              <a:rPr lang="zh-CN" altLang="en-US" b="1"/>
              <a:t> </a:t>
            </a:r>
            <a:r>
              <a:rPr lang="en-US" altLang="zh-CN" b="1"/>
              <a:t>-</a:t>
            </a:r>
            <a:r>
              <a:rPr lang="zh-CN" altLang="en-US" b="1"/>
              <a:t> </a:t>
            </a:r>
            <a:r>
              <a:rPr lang="en-US" altLang="zh-CN" b="1"/>
              <a:t>1</a:t>
            </a:r>
            <a:endParaRPr lang="en-GB"/>
          </a:p>
        </p:txBody>
      </p:sp>
      <p:sp>
        <p:nvSpPr>
          <p:cNvPr id="3" name="Content Placeholder 2">
            <a:extLst>
              <a:ext uri="{FF2B5EF4-FFF2-40B4-BE49-F238E27FC236}">
                <a16:creationId xmlns:a16="http://schemas.microsoft.com/office/drawing/2014/main" id="{FA906C82-57DA-709E-2D93-27093FC5C3D9}"/>
              </a:ext>
            </a:extLst>
          </p:cNvPr>
          <p:cNvSpPr>
            <a:spLocks noGrp="1"/>
          </p:cNvSpPr>
          <p:nvPr>
            <p:ph idx="1"/>
          </p:nvPr>
        </p:nvSpPr>
        <p:spPr>
          <a:xfrm>
            <a:off x="838198" y="1253331"/>
            <a:ext cx="10515600" cy="4351338"/>
          </a:xfrm>
        </p:spPr>
        <p:txBody>
          <a:bodyPr>
            <a:normAutofit/>
          </a:bodyPr>
          <a:lstStyle/>
          <a:p>
            <a:pPr marL="0" indent="0">
              <a:buNone/>
            </a:pPr>
            <a:r>
              <a:rPr lang="en-US" sz="2000"/>
              <a:t>The generate function consists of three main stages:</a:t>
            </a:r>
          </a:p>
          <a:p>
            <a:r>
              <a:rPr lang="en-US" sz="2000" b="1"/>
              <a:t>Prefill: </a:t>
            </a:r>
            <a:r>
              <a:rPr lang="en-US" sz="2000"/>
              <a:t>processes the complete multimodal input and constructs the initial KV cache.</a:t>
            </a:r>
          </a:p>
          <a:p>
            <a:r>
              <a:rPr lang="en-US" sz="2000" b="1"/>
              <a:t>Autoregressive decoding: </a:t>
            </a:r>
            <a:r>
              <a:rPr lang="en-US" sz="2000"/>
              <a:t>generates tokens iteratively until EOS or the maximum token limit is reached.</a:t>
            </a:r>
          </a:p>
          <a:p>
            <a:r>
              <a:rPr lang="en-US" sz="2000" b="1"/>
              <a:t>Post-processing: </a:t>
            </a:r>
            <a:r>
              <a:rPr lang="en-US" sz="2000"/>
              <a:t>concatenates generated token IDs, handles EOS tokens, and decodes them into text.</a:t>
            </a:r>
          </a:p>
          <a:p>
            <a:endParaRPr lang="en-US" sz="2000"/>
          </a:p>
        </p:txBody>
      </p:sp>
      <p:graphicFrame>
        <p:nvGraphicFramePr>
          <p:cNvPr id="4" name="Table 3">
            <a:extLst>
              <a:ext uri="{FF2B5EF4-FFF2-40B4-BE49-F238E27FC236}">
                <a16:creationId xmlns:a16="http://schemas.microsoft.com/office/drawing/2014/main" id="{5EEF5B49-0B54-A282-0F5F-AF9D79D04AC3}"/>
              </a:ext>
            </a:extLst>
          </p:cNvPr>
          <p:cNvGraphicFramePr>
            <a:graphicFrameLocks noGrp="1"/>
          </p:cNvGraphicFramePr>
          <p:nvPr>
            <p:extLst>
              <p:ext uri="{D42A27DB-BD31-4B8C-83A1-F6EECF244321}">
                <p14:modId xmlns:p14="http://schemas.microsoft.com/office/powerpoint/2010/main" val="459241327"/>
              </p:ext>
            </p:extLst>
          </p:nvPr>
        </p:nvGraphicFramePr>
        <p:xfrm>
          <a:off x="838196" y="3429000"/>
          <a:ext cx="10005805" cy="1184439"/>
        </p:xfrm>
        <a:graphic>
          <a:graphicData uri="http://schemas.openxmlformats.org/drawingml/2006/table">
            <a:tbl>
              <a:tblPr firstRow="1" bandRow="1">
                <a:tableStyleId>{5C22544A-7EE6-4342-B048-85BDC9FD1C3A}</a:tableStyleId>
              </a:tblPr>
              <a:tblGrid>
                <a:gridCol w="2001161">
                  <a:extLst>
                    <a:ext uri="{9D8B030D-6E8A-4147-A177-3AD203B41FA5}">
                      <a16:colId xmlns:a16="http://schemas.microsoft.com/office/drawing/2014/main" val="2274903848"/>
                    </a:ext>
                  </a:extLst>
                </a:gridCol>
                <a:gridCol w="2001161">
                  <a:extLst>
                    <a:ext uri="{9D8B030D-6E8A-4147-A177-3AD203B41FA5}">
                      <a16:colId xmlns:a16="http://schemas.microsoft.com/office/drawing/2014/main" val="2198301096"/>
                    </a:ext>
                  </a:extLst>
                </a:gridCol>
                <a:gridCol w="2001161">
                  <a:extLst>
                    <a:ext uri="{9D8B030D-6E8A-4147-A177-3AD203B41FA5}">
                      <a16:colId xmlns:a16="http://schemas.microsoft.com/office/drawing/2014/main" val="2785748264"/>
                    </a:ext>
                  </a:extLst>
                </a:gridCol>
                <a:gridCol w="2001161">
                  <a:extLst>
                    <a:ext uri="{9D8B030D-6E8A-4147-A177-3AD203B41FA5}">
                      <a16:colId xmlns:a16="http://schemas.microsoft.com/office/drawing/2014/main" val="3605408005"/>
                    </a:ext>
                  </a:extLst>
                </a:gridCol>
                <a:gridCol w="2001161">
                  <a:extLst>
                    <a:ext uri="{9D8B030D-6E8A-4147-A177-3AD203B41FA5}">
                      <a16:colId xmlns:a16="http://schemas.microsoft.com/office/drawing/2014/main" val="3392692835"/>
                    </a:ext>
                  </a:extLst>
                </a:gridCol>
              </a:tblGrid>
              <a:tr h="394813">
                <a:tc>
                  <a:txBody>
                    <a:bodyPr/>
                    <a:lstStyle/>
                    <a:p>
                      <a:r>
                        <a:rPr lang="en-US"/>
                        <a:t>VM</a:t>
                      </a:r>
                    </a:p>
                  </a:txBody>
                  <a:tcPr/>
                </a:tc>
                <a:tc>
                  <a:txBody>
                    <a:bodyPr/>
                    <a:lstStyle/>
                    <a:p>
                      <a:r>
                        <a:rPr lang="en-US" altLang="zh-CN"/>
                        <a:t>Perfill Phrase</a:t>
                      </a: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a:solidFill>
                            <a:schemeClr val="lt1"/>
                          </a:solidFill>
                          <a:effectLst/>
                          <a:latin typeface="+mn-lt"/>
                          <a:ea typeface="+mn-ea"/>
                          <a:cs typeface="+mn-cs"/>
                        </a:rPr>
                        <a:t>Decode</a:t>
                      </a:r>
                      <a:r>
                        <a:rPr lang="en-US" sz="1800" b="0" kern="1200">
                          <a:solidFill>
                            <a:schemeClr val="lt1"/>
                          </a:solidFill>
                          <a:effectLst/>
                          <a:latin typeface="+mn-lt"/>
                          <a:ea typeface="+mn-ea"/>
                          <a:cs typeface="+mn-cs"/>
                        </a:rPr>
                        <a:t> Phase</a:t>
                      </a:r>
                    </a:p>
                  </a:txBody>
                  <a:tcPr/>
                </a:tc>
                <a:tc>
                  <a:txBody>
                    <a:bodyPr/>
                    <a:lstStyle/>
                    <a:p>
                      <a:r>
                        <a:rPr lang="en-US"/>
                        <a:t>Post-processing</a:t>
                      </a:r>
                    </a:p>
                  </a:txBody>
                  <a:tcPr/>
                </a:tc>
                <a:tc>
                  <a:txBody>
                    <a:bodyPr/>
                    <a:lstStyle/>
                    <a:p>
                      <a:r>
                        <a:rPr lang="en-US"/>
                        <a:t>Total generation</a:t>
                      </a:r>
                    </a:p>
                  </a:txBody>
                  <a:tcPr/>
                </a:tc>
                <a:extLst>
                  <a:ext uri="{0D108BD9-81ED-4DB2-BD59-A6C34878D82A}">
                    <a16:rowId xmlns:a16="http://schemas.microsoft.com/office/drawing/2014/main" val="2987376722"/>
                  </a:ext>
                </a:extLst>
              </a:tr>
              <a:tr h="394813">
                <a:tc>
                  <a:txBody>
                    <a:bodyPr/>
                    <a:lstStyle/>
                    <a:p>
                      <a:r>
                        <a:rPr lang="en-US"/>
                        <a:t>Normal VM</a:t>
                      </a:r>
                    </a:p>
                  </a:txBody>
                  <a:tcPr/>
                </a:tc>
                <a:tc>
                  <a:txBody>
                    <a:bodyPr/>
                    <a:lstStyle/>
                    <a:p>
                      <a:r>
                        <a:rPr lang="en-GB"/>
                        <a:t>1.272 s</a:t>
                      </a:r>
                      <a:endParaRPr lang="en-US"/>
                    </a:p>
                  </a:txBody>
                  <a:tcPr/>
                </a:tc>
                <a:tc>
                  <a:txBody>
                    <a:bodyPr/>
                    <a:lstStyle/>
                    <a:p>
                      <a:r>
                        <a:rPr lang="en-GB"/>
                        <a:t>13.665 s</a:t>
                      </a:r>
                      <a:endParaRPr lang="en-US"/>
                    </a:p>
                  </a:txBody>
                  <a:tcPr/>
                </a:tc>
                <a:tc>
                  <a:txBody>
                    <a:bodyPr/>
                    <a:lstStyle/>
                    <a:p>
                      <a:r>
                        <a:rPr lang="en-GB"/>
                        <a:t>0.434 ms</a:t>
                      </a:r>
                      <a:endParaRPr lang="en-US"/>
                    </a:p>
                  </a:txBody>
                  <a:tcPr/>
                </a:tc>
                <a:tc>
                  <a:txBody>
                    <a:bodyPr/>
                    <a:lstStyle/>
                    <a:p>
                      <a:r>
                        <a:rPr lang="en-GB"/>
                        <a:t>14.938 s</a:t>
                      </a:r>
                      <a:endParaRPr lang="en-US"/>
                    </a:p>
                  </a:txBody>
                  <a:tcPr/>
                </a:tc>
                <a:extLst>
                  <a:ext uri="{0D108BD9-81ED-4DB2-BD59-A6C34878D82A}">
                    <a16:rowId xmlns:a16="http://schemas.microsoft.com/office/drawing/2014/main" val="1537547281"/>
                  </a:ext>
                </a:extLst>
              </a:tr>
              <a:tr h="394813">
                <a:tc>
                  <a:txBody>
                    <a:bodyPr/>
                    <a:lstStyle/>
                    <a:p>
                      <a:r>
                        <a:rPr lang="en-US"/>
                        <a:t>Confidential VM</a:t>
                      </a:r>
                    </a:p>
                  </a:txBody>
                  <a:tcPr/>
                </a:tc>
                <a:tc>
                  <a:txBody>
                    <a:bodyPr/>
                    <a:lstStyle/>
                    <a:p>
                      <a:r>
                        <a:rPr lang="en-GB"/>
                        <a:t>1.334 s</a:t>
                      </a:r>
                      <a:endParaRPr lang="en-US"/>
                    </a:p>
                  </a:txBody>
                  <a:tcPr/>
                </a:tc>
                <a:tc>
                  <a:txBody>
                    <a:bodyPr/>
                    <a:lstStyle/>
                    <a:p>
                      <a:r>
                        <a:rPr lang="en-GB"/>
                        <a:t>15.195 s</a:t>
                      </a:r>
                      <a:endParaRPr lang="en-US"/>
                    </a:p>
                  </a:txBody>
                  <a:tcPr/>
                </a:tc>
                <a:tc>
                  <a:txBody>
                    <a:bodyPr/>
                    <a:lstStyle/>
                    <a:p>
                      <a:r>
                        <a:rPr lang="en-GB"/>
                        <a:t>0.461 ms</a:t>
                      </a:r>
                      <a:endParaRPr lang="en-US"/>
                    </a:p>
                  </a:txBody>
                  <a:tcPr/>
                </a:tc>
                <a:tc>
                  <a:txBody>
                    <a:bodyPr/>
                    <a:lstStyle/>
                    <a:p>
                      <a:r>
                        <a:rPr lang="en-GB"/>
                        <a:t>16.5</a:t>
                      </a:r>
                      <a:r>
                        <a:rPr lang="en-US" altLang="zh-CN"/>
                        <a:t>2</a:t>
                      </a:r>
                      <a:r>
                        <a:rPr lang="en-GB"/>
                        <a:t>9 s</a:t>
                      </a:r>
                      <a:endParaRPr lang="en-US"/>
                    </a:p>
                  </a:txBody>
                  <a:tcPr/>
                </a:tc>
                <a:extLst>
                  <a:ext uri="{0D108BD9-81ED-4DB2-BD59-A6C34878D82A}">
                    <a16:rowId xmlns:a16="http://schemas.microsoft.com/office/drawing/2014/main" val="2734427361"/>
                  </a:ext>
                </a:extLst>
              </a:tr>
            </a:tbl>
          </a:graphicData>
        </a:graphic>
      </p:graphicFrame>
      <p:sp>
        <p:nvSpPr>
          <p:cNvPr id="6" name="TextBox 5">
            <a:extLst>
              <a:ext uri="{FF2B5EF4-FFF2-40B4-BE49-F238E27FC236}">
                <a16:creationId xmlns:a16="http://schemas.microsoft.com/office/drawing/2014/main" id="{0FF83E2A-7C68-54DE-B160-A2ED748F8B53}"/>
              </a:ext>
            </a:extLst>
          </p:cNvPr>
          <p:cNvSpPr txBox="1"/>
          <p:nvPr/>
        </p:nvSpPr>
        <p:spPr>
          <a:xfrm>
            <a:off x="838194" y="5958896"/>
            <a:ext cx="10780059" cy="646331"/>
          </a:xfrm>
          <a:prstGeom prst="rect">
            <a:avLst/>
          </a:prstGeom>
          <a:noFill/>
        </p:spPr>
        <p:txBody>
          <a:bodyPr wrap="square">
            <a:spAutoFit/>
          </a:bodyPr>
          <a:lstStyle/>
          <a:p>
            <a:r>
              <a:rPr lang="en-GB" b="1"/>
              <a:t>Note:</a:t>
            </a:r>
            <a:r>
              <a:rPr lang="en-GB"/>
              <a:t> cloud_total_request includes request reconstruction, prompt processing, embedding combination, and cloud_generate_time. The non-generation operations account for the remaining approximately 8–10 ms.</a:t>
            </a:r>
          </a:p>
        </p:txBody>
      </p:sp>
      <p:sp>
        <p:nvSpPr>
          <p:cNvPr id="7" name="TextBox 6">
            <a:extLst>
              <a:ext uri="{FF2B5EF4-FFF2-40B4-BE49-F238E27FC236}">
                <a16:creationId xmlns:a16="http://schemas.microsoft.com/office/drawing/2014/main" id="{5437312F-9822-4016-0C0E-4FC88E5A6129}"/>
              </a:ext>
            </a:extLst>
          </p:cNvPr>
          <p:cNvSpPr txBox="1"/>
          <p:nvPr/>
        </p:nvSpPr>
        <p:spPr>
          <a:xfrm>
            <a:off x="838195" y="4686003"/>
            <a:ext cx="10780059" cy="1200329"/>
          </a:xfrm>
          <a:prstGeom prst="rect">
            <a:avLst/>
          </a:prstGeom>
          <a:noFill/>
        </p:spPr>
        <p:txBody>
          <a:bodyPr wrap="square">
            <a:spAutoFit/>
          </a:bodyPr>
          <a:lstStyle/>
          <a:p>
            <a:r>
              <a:rPr lang="en-GB" b="1"/>
              <a:t>Summary:</a:t>
            </a:r>
          </a:p>
          <a:p>
            <a:r>
              <a:rPr lang="en-GB">
                <a:solidFill>
                  <a:srgbClr val="FF0000"/>
                </a:solidFill>
              </a:rPr>
              <a:t>Most of the additional TDX generation latency occurred during autoregressive decoding. Compared with the Normal VM, the Confidential VM added 1.53 s in this phase. This accounted for approximately 96% of the total generation-time difference.</a:t>
            </a:r>
          </a:p>
        </p:txBody>
      </p:sp>
    </p:spTree>
    <p:extLst>
      <p:ext uri="{BB962C8B-B14F-4D97-AF65-F5344CB8AC3E}">
        <p14:creationId xmlns:p14="http://schemas.microsoft.com/office/powerpoint/2010/main" val="2295956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8FDC7-3545-9B75-5908-B8B4DD480DF5}"/>
              </a:ext>
            </a:extLst>
          </p:cNvPr>
          <p:cNvSpPr>
            <a:spLocks noGrp="1"/>
          </p:cNvSpPr>
          <p:nvPr>
            <p:ph type="title"/>
          </p:nvPr>
        </p:nvSpPr>
        <p:spPr/>
        <p:txBody>
          <a:bodyPr/>
          <a:lstStyle/>
          <a:p>
            <a:r>
              <a:rPr lang="en-GB" b="1"/>
              <a:t>Generation-Stage Bottleneck Analysis</a:t>
            </a:r>
            <a:r>
              <a:rPr lang="zh-CN" altLang="en-US" b="1"/>
              <a:t> </a:t>
            </a:r>
            <a:r>
              <a:rPr lang="en-US" altLang="zh-CN" b="1"/>
              <a:t>-</a:t>
            </a:r>
            <a:r>
              <a:rPr lang="zh-CN" altLang="en-US" b="1"/>
              <a:t> </a:t>
            </a:r>
            <a:r>
              <a:rPr lang="en-US" altLang="zh-CN" b="1"/>
              <a:t>2</a:t>
            </a:r>
            <a:endParaRPr lang="en-US"/>
          </a:p>
        </p:txBody>
      </p:sp>
      <p:sp>
        <p:nvSpPr>
          <p:cNvPr id="3" name="Content Placeholder 2">
            <a:extLst>
              <a:ext uri="{FF2B5EF4-FFF2-40B4-BE49-F238E27FC236}">
                <a16:creationId xmlns:a16="http://schemas.microsoft.com/office/drawing/2014/main" id="{78148556-AE8F-8E01-68C9-D68E61DB2A29}"/>
              </a:ext>
            </a:extLst>
          </p:cNvPr>
          <p:cNvSpPr>
            <a:spLocks noGrp="1"/>
          </p:cNvSpPr>
          <p:nvPr>
            <p:ph idx="1"/>
          </p:nvPr>
        </p:nvSpPr>
        <p:spPr/>
        <p:txBody>
          <a:bodyPr/>
          <a:lstStyle/>
          <a:p>
            <a:pPr marL="0" indent="0">
              <a:buNone/>
            </a:pPr>
            <a:r>
              <a:rPr lang="en-GB"/>
              <a:t>Based on the previous analysis, two next steps were identified:</a:t>
            </a:r>
          </a:p>
          <a:p>
            <a:r>
              <a:rPr lang="en-GB"/>
              <a:t>Reduce unnecessary decoder iterations using EOS early stopping.</a:t>
            </a:r>
          </a:p>
          <a:p>
            <a:r>
              <a:rPr lang="en-GB"/>
              <a:t>Add profiling code inside the decoder to analyse the remaining TDX overhead in more detail.</a:t>
            </a:r>
          </a:p>
        </p:txBody>
      </p:sp>
    </p:spTree>
    <p:extLst>
      <p:ext uri="{BB962C8B-B14F-4D97-AF65-F5344CB8AC3E}">
        <p14:creationId xmlns:p14="http://schemas.microsoft.com/office/powerpoint/2010/main" val="1114094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F1DB2-D4DA-2297-7A2A-67A83EFC9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4850A-79F2-A6E3-48D1-B01CDFA35D24}"/>
              </a:ext>
            </a:extLst>
          </p:cNvPr>
          <p:cNvSpPr>
            <a:spLocks noGrp="1"/>
          </p:cNvSpPr>
          <p:nvPr>
            <p:ph type="title"/>
          </p:nvPr>
        </p:nvSpPr>
        <p:spPr>
          <a:xfrm>
            <a:off x="838198" y="64732"/>
            <a:ext cx="10515600" cy="1325563"/>
          </a:xfrm>
        </p:spPr>
        <p:txBody>
          <a:bodyPr>
            <a:normAutofit/>
          </a:bodyPr>
          <a:lstStyle/>
          <a:p>
            <a:r>
              <a:rPr lang="en-GB"/>
              <a:t>Reduce unnecessary decoder iterations using EOS early stopping - 1</a:t>
            </a:r>
          </a:p>
        </p:txBody>
      </p:sp>
      <p:sp>
        <p:nvSpPr>
          <p:cNvPr id="3" name="Content Placeholder 2">
            <a:extLst>
              <a:ext uri="{FF2B5EF4-FFF2-40B4-BE49-F238E27FC236}">
                <a16:creationId xmlns:a16="http://schemas.microsoft.com/office/drawing/2014/main" id="{E22284D1-A74B-70DD-5BD0-403F19570E74}"/>
              </a:ext>
            </a:extLst>
          </p:cNvPr>
          <p:cNvSpPr>
            <a:spLocks noGrp="1"/>
          </p:cNvSpPr>
          <p:nvPr>
            <p:ph idx="1"/>
          </p:nvPr>
        </p:nvSpPr>
        <p:spPr>
          <a:xfrm>
            <a:off x="838198" y="1253331"/>
            <a:ext cx="10515600" cy="4351338"/>
          </a:xfrm>
        </p:spPr>
        <p:txBody>
          <a:bodyPr>
            <a:normAutofit/>
          </a:bodyPr>
          <a:lstStyle/>
          <a:p>
            <a:r>
              <a:rPr lang="en-GB" sz="2000"/>
              <a:t>Runtime logs and code inspection showed that the original implementation continued autoregressive decoding until the configured limit of 300 tokens, even after an EOS token had been generated. Tokens produced after EOS were removed during post-processing, but their decoder iterations had already consumed computational resources. EOS-based early stopping was therefore introduced to terminate the decoding loop as soon as the output sequence was complete.</a:t>
            </a:r>
          </a:p>
          <a:p>
            <a:r>
              <a:rPr lang="en-GB" sz="2000"/>
              <a:t>After EOS-based early stopping, the average number of executed generation steps decreased from the configured upper limit of 300 to 82.4 tokens, reducing cloud generation latency and CPU time by approximately 67%.</a:t>
            </a:r>
          </a:p>
          <a:p>
            <a:endParaRPr lang="en-GB" sz="2000"/>
          </a:p>
        </p:txBody>
      </p:sp>
      <p:graphicFrame>
        <p:nvGraphicFramePr>
          <p:cNvPr id="10" name="Table 9">
            <a:extLst>
              <a:ext uri="{FF2B5EF4-FFF2-40B4-BE49-F238E27FC236}">
                <a16:creationId xmlns:a16="http://schemas.microsoft.com/office/drawing/2014/main" id="{EAC0C4C5-BB83-2835-3ACC-3FACC66EFC6E}"/>
              </a:ext>
            </a:extLst>
          </p:cNvPr>
          <p:cNvGraphicFramePr>
            <a:graphicFrameLocks noGrp="1"/>
          </p:cNvGraphicFramePr>
          <p:nvPr>
            <p:extLst>
              <p:ext uri="{D42A27DB-BD31-4B8C-83A1-F6EECF244321}">
                <p14:modId xmlns:p14="http://schemas.microsoft.com/office/powerpoint/2010/main" val="670730100"/>
              </p:ext>
            </p:extLst>
          </p:nvPr>
        </p:nvGraphicFramePr>
        <p:xfrm>
          <a:off x="1042295" y="3960906"/>
          <a:ext cx="10311503" cy="2865120"/>
        </p:xfrm>
        <a:graphic>
          <a:graphicData uri="http://schemas.openxmlformats.org/drawingml/2006/table">
            <a:tbl>
              <a:tblPr firstRow="1" bandRow="1">
                <a:tableStyleId>{5C22544A-7EE6-4342-B048-85BDC9FD1C3A}</a:tableStyleId>
              </a:tblPr>
              <a:tblGrid>
                <a:gridCol w="1953296">
                  <a:extLst>
                    <a:ext uri="{9D8B030D-6E8A-4147-A177-3AD203B41FA5}">
                      <a16:colId xmlns:a16="http://schemas.microsoft.com/office/drawing/2014/main" val="204962276"/>
                    </a:ext>
                  </a:extLst>
                </a:gridCol>
                <a:gridCol w="1856108">
                  <a:extLst>
                    <a:ext uri="{9D8B030D-6E8A-4147-A177-3AD203B41FA5}">
                      <a16:colId xmlns:a16="http://schemas.microsoft.com/office/drawing/2014/main" val="1955384271"/>
                    </a:ext>
                  </a:extLst>
                </a:gridCol>
                <a:gridCol w="2259106">
                  <a:extLst>
                    <a:ext uri="{9D8B030D-6E8A-4147-A177-3AD203B41FA5}">
                      <a16:colId xmlns:a16="http://schemas.microsoft.com/office/drawing/2014/main" val="3518177192"/>
                    </a:ext>
                  </a:extLst>
                </a:gridCol>
                <a:gridCol w="2489606">
                  <a:extLst>
                    <a:ext uri="{9D8B030D-6E8A-4147-A177-3AD203B41FA5}">
                      <a16:colId xmlns:a16="http://schemas.microsoft.com/office/drawing/2014/main" val="2578593617"/>
                    </a:ext>
                  </a:extLst>
                </a:gridCol>
                <a:gridCol w="1753387">
                  <a:extLst>
                    <a:ext uri="{9D8B030D-6E8A-4147-A177-3AD203B41FA5}">
                      <a16:colId xmlns:a16="http://schemas.microsoft.com/office/drawing/2014/main" val="1087727268"/>
                    </a:ext>
                  </a:extLst>
                </a:gridCol>
              </a:tblGrid>
              <a:tr h="370840">
                <a:tc>
                  <a:txBody>
                    <a:bodyPr/>
                    <a:lstStyle/>
                    <a:p>
                      <a:r>
                        <a:rPr lang="en-US"/>
                        <a:t>Transport</a:t>
                      </a:r>
                    </a:p>
                  </a:txBody>
                  <a:tcPr/>
                </a:tc>
                <a:tc>
                  <a:txBody>
                    <a:bodyPr/>
                    <a:lstStyle/>
                    <a:p>
                      <a:r>
                        <a:rPr lang="en-US"/>
                        <a:t>VM</a:t>
                      </a:r>
                    </a:p>
                  </a:txBody>
                  <a:tcPr/>
                </a:tc>
                <a:tc>
                  <a:txBody>
                    <a:bodyPr/>
                    <a:lstStyle/>
                    <a:p>
                      <a:r>
                        <a:rPr lang="en-GB" sz="1800" b="1" kern="1200">
                          <a:solidFill>
                            <a:schemeClr val="lt1"/>
                          </a:solidFill>
                          <a:latin typeface="+mn-lt"/>
                          <a:ea typeface="+mn-ea"/>
                          <a:cs typeface="+mn-cs"/>
                        </a:rPr>
                        <a:t>Before EOS Early Stopping</a:t>
                      </a:r>
                      <a:endParaRPr lang="en-US"/>
                    </a:p>
                  </a:txBody>
                  <a:tcPr/>
                </a:tc>
                <a:tc>
                  <a:txBody>
                    <a:bodyPr/>
                    <a:lstStyle/>
                    <a:p>
                      <a:r>
                        <a:rPr lang="en-GB" sz="1800" b="1" kern="1200">
                          <a:solidFill>
                            <a:schemeClr val="lt1"/>
                          </a:solidFill>
                          <a:latin typeface="+mn-lt"/>
                          <a:ea typeface="+mn-ea"/>
                          <a:cs typeface="+mn-cs"/>
                        </a:rPr>
                        <a:t>After EOS Early Stopping</a:t>
                      </a:r>
                      <a:endParaRPr lang="en-US"/>
                    </a:p>
                  </a:txBody>
                  <a:tcPr/>
                </a:tc>
                <a:tc>
                  <a:txBody>
                    <a:bodyPr/>
                    <a:lstStyle/>
                    <a:p>
                      <a:r>
                        <a:rPr lang="en-GB" sz="1800" b="1" kern="1200">
                          <a:solidFill>
                            <a:schemeClr val="lt1"/>
                          </a:solidFill>
                          <a:latin typeface="+mn-lt"/>
                          <a:ea typeface="+mn-ea"/>
                          <a:cs typeface="+mn-cs"/>
                        </a:rPr>
                        <a:t>Latency Reduction</a:t>
                      </a:r>
                      <a:endParaRPr lang="en-US"/>
                    </a:p>
                  </a:txBody>
                  <a:tcPr/>
                </a:tc>
                <a:extLst>
                  <a:ext uri="{0D108BD9-81ED-4DB2-BD59-A6C34878D82A}">
                    <a16:rowId xmlns:a16="http://schemas.microsoft.com/office/drawing/2014/main" val="491342291"/>
                  </a:ext>
                </a:extLst>
              </a:tr>
              <a:tr h="370840">
                <a:tc>
                  <a:txBody>
                    <a:bodyPr/>
                    <a:lstStyle/>
                    <a:p>
                      <a:r>
                        <a:rPr lang="en-US"/>
                        <a:t>HTTP</a:t>
                      </a:r>
                    </a:p>
                  </a:txBody>
                  <a:tcPr/>
                </a:tc>
                <a:tc>
                  <a:txBody>
                    <a:bodyPr/>
                    <a:lstStyle/>
                    <a:p>
                      <a:r>
                        <a:rPr lang="en-GB" sz="1800" kern="1200">
                          <a:solidFill>
                            <a:schemeClr val="dk1"/>
                          </a:solidFill>
                          <a:latin typeface="+mn-lt"/>
                          <a:ea typeface="+mn-ea"/>
                          <a:cs typeface="+mn-cs"/>
                        </a:rPr>
                        <a:t>Normal VM</a:t>
                      </a:r>
                      <a:endParaRPr lang="en-US"/>
                    </a:p>
                  </a:txBody>
                  <a:tcPr/>
                </a:tc>
                <a:tc>
                  <a:txBody>
                    <a:bodyPr/>
                    <a:lstStyle/>
                    <a:p>
                      <a:r>
                        <a:rPr lang="en-GB"/>
                        <a:t>14.938 s</a:t>
                      </a:r>
                      <a:endParaRPr lang="en-US"/>
                    </a:p>
                  </a:txBody>
                  <a:tcPr/>
                </a:tc>
                <a:tc>
                  <a:txBody>
                    <a:bodyPr/>
                    <a:lstStyle/>
                    <a:p>
                      <a:r>
                        <a:rPr lang="en-GB"/>
                        <a:t>4.863 s</a:t>
                      </a:r>
                      <a:endParaRPr lang="en-US"/>
                    </a:p>
                  </a:txBody>
                  <a:tcPr/>
                </a:tc>
                <a:tc>
                  <a:txBody>
                    <a:bodyPr/>
                    <a:lstStyle/>
                    <a:p>
                      <a:r>
                        <a:rPr lang="en-GB"/>
                        <a:t>67.45%</a:t>
                      </a:r>
                      <a:endParaRPr lang="en-US"/>
                    </a:p>
                  </a:txBody>
                  <a:tcPr/>
                </a:tc>
                <a:extLst>
                  <a:ext uri="{0D108BD9-81ED-4DB2-BD59-A6C34878D82A}">
                    <a16:rowId xmlns:a16="http://schemas.microsoft.com/office/drawing/2014/main" val="3083498906"/>
                  </a:ext>
                </a:extLst>
              </a:tr>
              <a:tr h="370840">
                <a:tc>
                  <a:txBody>
                    <a:bodyPr/>
                    <a:lstStyle/>
                    <a:p>
                      <a:r>
                        <a:rPr lang="en-US"/>
                        <a:t>HTTP</a:t>
                      </a:r>
                    </a:p>
                  </a:txBody>
                  <a:tcPr/>
                </a:tc>
                <a:tc>
                  <a:txBody>
                    <a:bodyPr/>
                    <a:lstStyle/>
                    <a:p>
                      <a:r>
                        <a:rPr lang="en-GB" sz="1800" kern="1200">
                          <a:solidFill>
                            <a:schemeClr val="dk1"/>
                          </a:solidFill>
                          <a:latin typeface="+mn-lt"/>
                          <a:ea typeface="+mn-ea"/>
                          <a:cs typeface="+mn-cs"/>
                        </a:rPr>
                        <a:t>TDX VM</a:t>
                      </a:r>
                      <a:endParaRPr lang="en-US"/>
                    </a:p>
                  </a:txBody>
                  <a:tcPr/>
                </a:tc>
                <a:tc>
                  <a:txBody>
                    <a:bodyPr/>
                    <a:lstStyle/>
                    <a:p>
                      <a:r>
                        <a:rPr lang="en-GB"/>
                        <a:t>16.529 s</a:t>
                      </a:r>
                      <a:endParaRPr lang="en-US"/>
                    </a:p>
                  </a:txBody>
                  <a:tcPr/>
                </a:tc>
                <a:tc>
                  <a:txBody>
                    <a:bodyPr/>
                    <a:lstStyle/>
                    <a:p>
                      <a:r>
                        <a:rPr lang="en-GB"/>
                        <a:t>5.333 s</a:t>
                      </a:r>
                      <a:endParaRPr lang="en-US"/>
                    </a:p>
                  </a:txBody>
                  <a:tcPr/>
                </a:tc>
                <a:tc>
                  <a:txBody>
                    <a:bodyPr/>
                    <a:lstStyle/>
                    <a:p>
                      <a:r>
                        <a:rPr lang="en-GB"/>
                        <a:t>67.74%</a:t>
                      </a:r>
                      <a:endParaRPr lang="en-US"/>
                    </a:p>
                  </a:txBody>
                  <a:tcPr/>
                </a:tc>
                <a:extLst>
                  <a:ext uri="{0D108BD9-81ED-4DB2-BD59-A6C34878D82A}">
                    <a16:rowId xmlns:a16="http://schemas.microsoft.com/office/drawing/2014/main" val="1630799929"/>
                  </a:ext>
                </a:extLst>
              </a:tr>
              <a:tr h="370840">
                <a:tc>
                  <a:txBody>
                    <a:bodyPr/>
                    <a:lstStyle/>
                    <a:p>
                      <a:r>
                        <a:rPr lang="en-US"/>
                        <a:t>AES</a:t>
                      </a:r>
                      <a:r>
                        <a:rPr lang="en-US" altLang="zh-CN"/>
                        <a:t>-GCM</a:t>
                      </a:r>
                      <a:endParaRPr lang="en-US"/>
                    </a:p>
                  </a:txBody>
                  <a:tcPr/>
                </a:tc>
                <a:tc>
                  <a:txBody>
                    <a:bodyPr/>
                    <a:lstStyle/>
                    <a:p>
                      <a:r>
                        <a:rPr lang="en-GB" sz="1800" kern="1200">
                          <a:solidFill>
                            <a:schemeClr val="dk1"/>
                          </a:solidFill>
                          <a:latin typeface="+mn-lt"/>
                          <a:ea typeface="+mn-ea"/>
                          <a:cs typeface="+mn-cs"/>
                        </a:rPr>
                        <a:t>Normal VM</a:t>
                      </a:r>
                      <a:endParaRPr lang="en-US"/>
                    </a:p>
                  </a:txBody>
                  <a:tcPr/>
                </a:tc>
                <a:tc>
                  <a:txBody>
                    <a:bodyPr/>
                    <a:lstStyle/>
                    <a:p>
                      <a:r>
                        <a:rPr lang="en-GB"/>
                        <a:t>14.931 s</a:t>
                      </a:r>
                      <a:endParaRPr lang="en-US"/>
                    </a:p>
                  </a:txBody>
                  <a:tcPr/>
                </a:tc>
                <a:tc>
                  <a:txBody>
                    <a:bodyPr/>
                    <a:lstStyle/>
                    <a:p>
                      <a:r>
                        <a:rPr lang="en-GB"/>
                        <a:t>4.901 s</a:t>
                      </a:r>
                      <a:endParaRPr lang="en-US"/>
                    </a:p>
                  </a:txBody>
                  <a:tcPr/>
                </a:tc>
                <a:tc>
                  <a:txBody>
                    <a:bodyPr/>
                    <a:lstStyle/>
                    <a:p>
                      <a:r>
                        <a:rPr lang="en-GB"/>
                        <a:t>67.18%</a:t>
                      </a:r>
                      <a:endParaRPr lang="en-US"/>
                    </a:p>
                  </a:txBody>
                  <a:tcPr/>
                </a:tc>
                <a:extLst>
                  <a:ext uri="{0D108BD9-81ED-4DB2-BD59-A6C34878D82A}">
                    <a16:rowId xmlns:a16="http://schemas.microsoft.com/office/drawing/2014/main" val="3795189212"/>
                  </a:ext>
                </a:extLst>
              </a:tr>
              <a:tr h="370840">
                <a:tc>
                  <a:txBody>
                    <a:bodyPr/>
                    <a:lstStyle/>
                    <a:p>
                      <a:r>
                        <a:rPr lang="en-US"/>
                        <a:t>AES-GCM</a:t>
                      </a:r>
                    </a:p>
                  </a:txBody>
                  <a:tcPr/>
                </a:tc>
                <a:tc>
                  <a:txBody>
                    <a:bodyPr/>
                    <a:lstStyle/>
                    <a:p>
                      <a:r>
                        <a:rPr lang="en-GB" sz="1800" kern="1200">
                          <a:solidFill>
                            <a:schemeClr val="dk1"/>
                          </a:solidFill>
                          <a:latin typeface="+mn-lt"/>
                          <a:ea typeface="+mn-ea"/>
                          <a:cs typeface="+mn-cs"/>
                        </a:rPr>
                        <a:t>TDX VM</a:t>
                      </a:r>
                      <a:endParaRPr lang="en-US"/>
                    </a:p>
                  </a:txBody>
                  <a:tcPr/>
                </a:tc>
                <a:tc>
                  <a:txBody>
                    <a:bodyPr/>
                    <a:lstStyle/>
                    <a:p>
                      <a:r>
                        <a:rPr lang="en-GB"/>
                        <a:t>16.322 s</a:t>
                      </a:r>
                      <a:endParaRPr lang="en-US"/>
                    </a:p>
                  </a:txBody>
                  <a:tcPr/>
                </a:tc>
                <a:tc>
                  <a:txBody>
                    <a:bodyPr/>
                    <a:lstStyle/>
                    <a:p>
                      <a:r>
                        <a:rPr lang="en-GB"/>
                        <a:t>5.344 s</a:t>
                      </a:r>
                      <a:endParaRPr lang="en-US"/>
                    </a:p>
                  </a:txBody>
                  <a:tcPr/>
                </a:tc>
                <a:tc>
                  <a:txBody>
                    <a:bodyPr/>
                    <a:lstStyle/>
                    <a:p>
                      <a:r>
                        <a:rPr lang="en-GB"/>
                        <a:t>67.26%</a:t>
                      </a:r>
                      <a:endParaRPr lang="en-US"/>
                    </a:p>
                  </a:txBody>
                  <a:tcPr/>
                </a:tc>
                <a:extLst>
                  <a:ext uri="{0D108BD9-81ED-4DB2-BD59-A6C34878D82A}">
                    <a16:rowId xmlns:a16="http://schemas.microsoft.com/office/drawing/2014/main" val="1953800355"/>
                  </a:ext>
                </a:extLst>
              </a:tr>
              <a:tr h="370840">
                <a:tc>
                  <a:txBody>
                    <a:bodyPr/>
                    <a:lstStyle/>
                    <a:p>
                      <a:r>
                        <a:rPr lang="en-US"/>
                        <a:t>ChaCha</a:t>
                      </a:r>
                      <a:r>
                        <a:rPr lang="en-US" altLang="zh-CN"/>
                        <a:t>20</a:t>
                      </a:r>
                      <a:endParaRPr lang="en-US"/>
                    </a:p>
                  </a:txBody>
                  <a:tcPr/>
                </a:tc>
                <a:tc>
                  <a:txBody>
                    <a:bodyPr/>
                    <a:lstStyle/>
                    <a:p>
                      <a:r>
                        <a:rPr lang="en-GB" sz="1800" kern="1200">
                          <a:solidFill>
                            <a:schemeClr val="dk1"/>
                          </a:solidFill>
                          <a:latin typeface="+mn-lt"/>
                          <a:ea typeface="+mn-ea"/>
                          <a:cs typeface="+mn-cs"/>
                        </a:rPr>
                        <a:t>Normal VM</a:t>
                      </a:r>
                      <a:endParaRPr lang="en-US"/>
                    </a:p>
                  </a:txBody>
                  <a:tcPr/>
                </a:tc>
                <a:tc>
                  <a:txBody>
                    <a:bodyPr/>
                    <a:lstStyle/>
                    <a:p>
                      <a:r>
                        <a:rPr lang="en-GB"/>
                        <a:t>14.965 s</a:t>
                      </a:r>
                      <a:endParaRPr lang="en-US"/>
                    </a:p>
                  </a:txBody>
                  <a:tcPr/>
                </a:tc>
                <a:tc>
                  <a:txBody>
                    <a:bodyPr/>
                    <a:lstStyle/>
                    <a:p>
                      <a:r>
                        <a:rPr lang="en-GB"/>
                        <a:t>4.855 s</a:t>
                      </a:r>
                      <a:endParaRPr lang="en-US"/>
                    </a:p>
                  </a:txBody>
                  <a:tcPr/>
                </a:tc>
                <a:tc>
                  <a:txBody>
                    <a:bodyPr/>
                    <a:lstStyle/>
                    <a:p>
                      <a:r>
                        <a:rPr lang="en-GB"/>
                        <a:t>67.56%</a:t>
                      </a:r>
                      <a:endParaRPr lang="en-US"/>
                    </a:p>
                  </a:txBody>
                  <a:tcPr/>
                </a:tc>
                <a:extLst>
                  <a:ext uri="{0D108BD9-81ED-4DB2-BD59-A6C34878D82A}">
                    <a16:rowId xmlns:a16="http://schemas.microsoft.com/office/drawing/2014/main" val="1540870470"/>
                  </a:ext>
                </a:extLst>
              </a:tr>
              <a:tr h="370840">
                <a:tc>
                  <a:txBody>
                    <a:bodyPr/>
                    <a:lstStyle/>
                    <a:p>
                      <a:r>
                        <a:rPr lang="en-US"/>
                        <a:t>ChaCha</a:t>
                      </a:r>
                      <a:r>
                        <a:rPr lang="en-US" altLang="zh-CN"/>
                        <a:t>20</a:t>
                      </a:r>
                      <a:endParaRPr lang="en-US"/>
                    </a:p>
                  </a:txBody>
                  <a:tcPr/>
                </a:tc>
                <a:tc>
                  <a:txBody>
                    <a:bodyPr/>
                    <a:lstStyle/>
                    <a:p>
                      <a:r>
                        <a:rPr lang="en-GB" sz="1800" kern="1200">
                          <a:solidFill>
                            <a:schemeClr val="dk1"/>
                          </a:solidFill>
                          <a:latin typeface="+mn-lt"/>
                          <a:ea typeface="+mn-ea"/>
                          <a:cs typeface="+mn-cs"/>
                        </a:rPr>
                        <a:t>TDX VM</a:t>
                      </a:r>
                      <a:endParaRPr lang="en-US"/>
                    </a:p>
                  </a:txBody>
                  <a:tcPr/>
                </a:tc>
                <a:tc>
                  <a:txBody>
                    <a:bodyPr/>
                    <a:lstStyle/>
                    <a:p>
                      <a:r>
                        <a:rPr lang="en-GB"/>
                        <a:t>16.364 s</a:t>
                      </a:r>
                      <a:endParaRPr lang="en-US"/>
                    </a:p>
                  </a:txBody>
                  <a:tcPr/>
                </a:tc>
                <a:tc>
                  <a:txBody>
                    <a:bodyPr/>
                    <a:lstStyle/>
                    <a:p>
                      <a:r>
                        <a:rPr lang="en-GB"/>
                        <a:t>5.280 s</a:t>
                      </a:r>
                      <a:endParaRPr lang="en-US"/>
                    </a:p>
                  </a:txBody>
                  <a:tcPr/>
                </a:tc>
                <a:tc>
                  <a:txBody>
                    <a:bodyPr/>
                    <a:lstStyle/>
                    <a:p>
                      <a:r>
                        <a:rPr lang="en-GB"/>
                        <a:t>67.73%</a:t>
                      </a:r>
                      <a:endParaRPr lang="en-US"/>
                    </a:p>
                  </a:txBody>
                  <a:tcPr/>
                </a:tc>
                <a:extLst>
                  <a:ext uri="{0D108BD9-81ED-4DB2-BD59-A6C34878D82A}">
                    <a16:rowId xmlns:a16="http://schemas.microsoft.com/office/drawing/2014/main" val="282212857"/>
                  </a:ext>
                </a:extLst>
              </a:tr>
            </a:tbl>
          </a:graphicData>
        </a:graphic>
      </p:graphicFrame>
    </p:spTree>
    <p:extLst>
      <p:ext uri="{BB962C8B-B14F-4D97-AF65-F5344CB8AC3E}">
        <p14:creationId xmlns:p14="http://schemas.microsoft.com/office/powerpoint/2010/main" val="1724624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B3AF8-BAB9-79DF-B6D3-EB6AE2B9D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049FFC-C865-C239-D28E-C52D2B741C40}"/>
              </a:ext>
            </a:extLst>
          </p:cNvPr>
          <p:cNvSpPr>
            <a:spLocks noGrp="1"/>
          </p:cNvSpPr>
          <p:nvPr>
            <p:ph type="title"/>
          </p:nvPr>
        </p:nvSpPr>
        <p:spPr>
          <a:xfrm>
            <a:off x="838198" y="64732"/>
            <a:ext cx="10515600" cy="1325563"/>
          </a:xfrm>
        </p:spPr>
        <p:txBody>
          <a:bodyPr>
            <a:normAutofit/>
          </a:bodyPr>
          <a:lstStyle/>
          <a:p>
            <a:r>
              <a:rPr lang="en-GB"/>
              <a:t>Reduce unnecessary decoder iterations using EOS early stopping - 2</a:t>
            </a:r>
          </a:p>
        </p:txBody>
      </p:sp>
      <p:graphicFrame>
        <p:nvGraphicFramePr>
          <p:cNvPr id="6" name="Content Placeholder 5">
            <a:extLst>
              <a:ext uri="{FF2B5EF4-FFF2-40B4-BE49-F238E27FC236}">
                <a16:creationId xmlns:a16="http://schemas.microsoft.com/office/drawing/2014/main" id="{A8853277-54F8-F7FD-3911-02BDAAD61906}"/>
              </a:ext>
            </a:extLst>
          </p:cNvPr>
          <p:cNvGraphicFramePr>
            <a:graphicFrameLocks noGrp="1"/>
          </p:cNvGraphicFramePr>
          <p:nvPr>
            <p:ph idx="1"/>
            <p:extLst>
              <p:ext uri="{D42A27DB-BD31-4B8C-83A1-F6EECF244321}">
                <p14:modId xmlns:p14="http://schemas.microsoft.com/office/powerpoint/2010/main" val="2704231929"/>
              </p:ext>
            </p:extLst>
          </p:nvPr>
        </p:nvGraphicFramePr>
        <p:xfrm>
          <a:off x="838198" y="4224748"/>
          <a:ext cx="10515600" cy="17526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247646994"/>
                    </a:ext>
                  </a:extLst>
                </a:gridCol>
                <a:gridCol w="2103120">
                  <a:extLst>
                    <a:ext uri="{9D8B030D-6E8A-4147-A177-3AD203B41FA5}">
                      <a16:colId xmlns:a16="http://schemas.microsoft.com/office/drawing/2014/main" val="1814231156"/>
                    </a:ext>
                  </a:extLst>
                </a:gridCol>
                <a:gridCol w="2103120">
                  <a:extLst>
                    <a:ext uri="{9D8B030D-6E8A-4147-A177-3AD203B41FA5}">
                      <a16:colId xmlns:a16="http://schemas.microsoft.com/office/drawing/2014/main" val="3086912124"/>
                    </a:ext>
                  </a:extLst>
                </a:gridCol>
                <a:gridCol w="2103120">
                  <a:extLst>
                    <a:ext uri="{9D8B030D-6E8A-4147-A177-3AD203B41FA5}">
                      <a16:colId xmlns:a16="http://schemas.microsoft.com/office/drawing/2014/main" val="962307748"/>
                    </a:ext>
                  </a:extLst>
                </a:gridCol>
                <a:gridCol w="2103120">
                  <a:extLst>
                    <a:ext uri="{9D8B030D-6E8A-4147-A177-3AD203B41FA5}">
                      <a16:colId xmlns:a16="http://schemas.microsoft.com/office/drawing/2014/main" val="1882707669"/>
                    </a:ext>
                  </a:extLst>
                </a:gridCol>
              </a:tblGrid>
              <a:tr h="370840">
                <a:tc>
                  <a:txBody>
                    <a:bodyPr/>
                    <a:lstStyle/>
                    <a:p>
                      <a:r>
                        <a:rPr lang="en-US"/>
                        <a:t>Transport</a:t>
                      </a:r>
                    </a:p>
                  </a:txBody>
                  <a:tcPr/>
                </a:tc>
                <a:tc>
                  <a:txBody>
                    <a:bodyPr/>
                    <a:lstStyle/>
                    <a:p>
                      <a:r>
                        <a:rPr lang="en-US" altLang="zh-CN"/>
                        <a:t>before</a:t>
                      </a:r>
                      <a:r>
                        <a:rPr lang="zh-CN" altLang="en-US"/>
                        <a:t> </a:t>
                      </a:r>
                      <a:r>
                        <a:rPr lang="en-US"/>
                        <a:t>EOS</a:t>
                      </a:r>
                    </a:p>
                  </a:txBody>
                  <a:tcPr/>
                </a:tc>
                <a:tc>
                  <a:txBody>
                    <a:bodyPr/>
                    <a:lstStyle/>
                    <a:p>
                      <a:r>
                        <a:rPr lang="en-US" altLang="zh-CN"/>
                        <a:t>applied</a:t>
                      </a:r>
                      <a:r>
                        <a:rPr lang="zh-CN" altLang="en-US"/>
                        <a:t> </a:t>
                      </a:r>
                      <a:r>
                        <a:rPr lang="en-US"/>
                        <a:t>EOS</a:t>
                      </a:r>
                    </a:p>
                  </a:txBody>
                  <a:tcPr/>
                </a:tc>
                <a:tc>
                  <a:txBody>
                    <a:bodyPr/>
                    <a:lstStyle/>
                    <a:p>
                      <a:r>
                        <a:rPr lang="en-US"/>
                        <a:t>Relative</a:t>
                      </a:r>
                      <a:r>
                        <a:rPr lang="zh-CN" altLang="en-US"/>
                        <a:t> </a:t>
                      </a:r>
                      <a:r>
                        <a:rPr lang="en-US" altLang="zh-CN"/>
                        <a:t>overhead</a:t>
                      </a:r>
                      <a:r>
                        <a:rPr lang="zh-CN" altLang="en-US"/>
                        <a:t> </a:t>
                      </a:r>
                      <a:r>
                        <a:rPr lang="en-US" altLang="zh-CN"/>
                        <a:t>before</a:t>
                      </a:r>
                      <a:endParaRPr lang="en-US"/>
                    </a:p>
                  </a:txBody>
                  <a:tcPr/>
                </a:tc>
                <a:tc>
                  <a:txBody>
                    <a:bodyPr/>
                    <a:lstStyle/>
                    <a:p>
                      <a:r>
                        <a:rPr lang="en-GB"/>
                        <a:t>Relative</a:t>
                      </a:r>
                      <a:r>
                        <a:rPr lang="zh-CN" altLang="en-US"/>
                        <a:t> </a:t>
                      </a:r>
                      <a:r>
                        <a:rPr lang="en-US" altLang="zh-CN"/>
                        <a:t>overhead</a:t>
                      </a:r>
                      <a:r>
                        <a:rPr lang="zh-CN" altLang="en-US"/>
                        <a:t> </a:t>
                      </a:r>
                      <a:r>
                        <a:rPr lang="en-US" altLang="zh-CN"/>
                        <a:t>after</a:t>
                      </a:r>
                      <a:r>
                        <a:rPr lang="zh-CN" altLang="en-US"/>
                        <a:t> </a:t>
                      </a:r>
                      <a:endParaRPr lang="en-US"/>
                    </a:p>
                  </a:txBody>
                  <a:tcPr/>
                </a:tc>
                <a:extLst>
                  <a:ext uri="{0D108BD9-81ED-4DB2-BD59-A6C34878D82A}">
                    <a16:rowId xmlns:a16="http://schemas.microsoft.com/office/drawing/2014/main" val="2270680202"/>
                  </a:ext>
                </a:extLst>
              </a:tr>
              <a:tr h="370840">
                <a:tc>
                  <a:txBody>
                    <a:bodyPr/>
                    <a:lstStyle/>
                    <a:p>
                      <a:r>
                        <a:rPr lang="en-US"/>
                        <a:t>HTTP</a:t>
                      </a:r>
                    </a:p>
                  </a:txBody>
                  <a:tcPr/>
                </a:tc>
                <a:tc>
                  <a:txBody>
                    <a:bodyPr/>
                    <a:lstStyle/>
                    <a:p>
                      <a:r>
                        <a:rPr lang="en-GB"/>
                        <a:t>1.593 s</a:t>
                      </a:r>
                      <a:endParaRPr lang="en-US"/>
                    </a:p>
                  </a:txBody>
                  <a:tcPr/>
                </a:tc>
                <a:tc>
                  <a:txBody>
                    <a:bodyPr/>
                    <a:lstStyle/>
                    <a:p>
                      <a:r>
                        <a:rPr lang="en-GB"/>
                        <a:t>0.471 s</a:t>
                      </a:r>
                      <a:endParaRPr lang="en-US"/>
                    </a:p>
                  </a:txBody>
                  <a:tcPr/>
                </a:tc>
                <a:tc>
                  <a:txBody>
                    <a:bodyPr/>
                    <a:lstStyle/>
                    <a:p>
                      <a:r>
                        <a:rPr lang="en-GB"/>
                        <a:t>10.66%</a:t>
                      </a:r>
                      <a:endParaRPr lang="en-US"/>
                    </a:p>
                  </a:txBody>
                  <a:tcPr/>
                </a:tc>
                <a:tc>
                  <a:txBody>
                    <a:bodyPr/>
                    <a:lstStyle/>
                    <a:p>
                      <a:r>
                        <a:rPr lang="en-US" altLang="zh-CN"/>
                        <a:t>9.66%</a:t>
                      </a:r>
                      <a:endParaRPr lang="en-US"/>
                    </a:p>
                  </a:txBody>
                  <a:tcPr/>
                </a:tc>
                <a:extLst>
                  <a:ext uri="{0D108BD9-81ED-4DB2-BD59-A6C34878D82A}">
                    <a16:rowId xmlns:a16="http://schemas.microsoft.com/office/drawing/2014/main" val="1482529287"/>
                  </a:ext>
                </a:extLst>
              </a:tr>
              <a:tr h="370840">
                <a:tc>
                  <a:txBody>
                    <a:bodyPr/>
                    <a:lstStyle/>
                    <a:p>
                      <a:r>
                        <a:rPr lang="en-US"/>
                        <a:t>AES-GCM</a:t>
                      </a:r>
                    </a:p>
                  </a:txBody>
                  <a:tcPr/>
                </a:tc>
                <a:tc>
                  <a:txBody>
                    <a:bodyPr/>
                    <a:lstStyle/>
                    <a:p>
                      <a:r>
                        <a:rPr lang="en-US" altLang="zh-CN"/>
                        <a:t>1.392</a:t>
                      </a:r>
                      <a:r>
                        <a:rPr lang="zh-CN" altLang="en-US"/>
                        <a:t> </a:t>
                      </a:r>
                      <a:r>
                        <a:rPr lang="en-US" altLang="zh-CN"/>
                        <a:t>s</a:t>
                      </a:r>
                      <a:endParaRPr lang="en-US"/>
                    </a:p>
                  </a:txBody>
                  <a:tcPr/>
                </a:tc>
                <a:tc>
                  <a:txBody>
                    <a:bodyPr/>
                    <a:lstStyle/>
                    <a:p>
                      <a:r>
                        <a:rPr lang="en-GB"/>
                        <a:t>0.443 s</a:t>
                      </a:r>
                      <a:endParaRPr lang="en-US"/>
                    </a:p>
                  </a:txBody>
                  <a:tcPr/>
                </a:tc>
                <a:tc>
                  <a:txBody>
                    <a:bodyPr/>
                    <a:lstStyle/>
                    <a:p>
                      <a:r>
                        <a:rPr lang="en-GB"/>
                        <a:t>9.32%</a:t>
                      </a:r>
                      <a:endParaRPr lang="en-US"/>
                    </a:p>
                  </a:txBody>
                  <a:tcPr/>
                </a:tc>
                <a:tc>
                  <a:txBody>
                    <a:bodyPr/>
                    <a:lstStyle/>
                    <a:p>
                      <a:r>
                        <a:rPr lang="en-GB"/>
                        <a:t>9.02%</a:t>
                      </a:r>
                      <a:endParaRPr lang="en-US"/>
                    </a:p>
                  </a:txBody>
                  <a:tcPr/>
                </a:tc>
                <a:extLst>
                  <a:ext uri="{0D108BD9-81ED-4DB2-BD59-A6C34878D82A}">
                    <a16:rowId xmlns:a16="http://schemas.microsoft.com/office/drawing/2014/main" val="2569886115"/>
                  </a:ext>
                </a:extLst>
              </a:tr>
              <a:tr h="370840">
                <a:tc>
                  <a:txBody>
                    <a:bodyPr/>
                    <a:lstStyle/>
                    <a:p>
                      <a:r>
                        <a:rPr lang="en-GB"/>
                        <a:t>ChaCha20</a:t>
                      </a:r>
                      <a:endParaRPr lang="en-US"/>
                    </a:p>
                  </a:txBody>
                  <a:tcPr/>
                </a:tc>
                <a:tc>
                  <a:txBody>
                    <a:bodyPr/>
                    <a:lstStyle/>
                    <a:p>
                      <a:r>
                        <a:rPr lang="en-GB"/>
                        <a:t>1.400 s</a:t>
                      </a:r>
                      <a:endParaRPr lang="en-US"/>
                    </a:p>
                  </a:txBody>
                  <a:tcPr/>
                </a:tc>
                <a:tc>
                  <a:txBody>
                    <a:bodyPr/>
                    <a:lstStyle/>
                    <a:p>
                      <a:r>
                        <a:rPr lang="en-GB"/>
                        <a:t>0.425 s</a:t>
                      </a:r>
                      <a:endParaRPr lang="en-US"/>
                    </a:p>
                  </a:txBody>
                  <a:tcPr/>
                </a:tc>
                <a:tc>
                  <a:txBody>
                    <a:bodyPr/>
                    <a:lstStyle/>
                    <a:p>
                      <a:r>
                        <a:rPr lang="en-GB"/>
                        <a:t>9.35%</a:t>
                      </a:r>
                      <a:endParaRPr lang="en-US"/>
                    </a:p>
                  </a:txBody>
                  <a:tcPr/>
                </a:tc>
                <a:tc>
                  <a:txBody>
                    <a:bodyPr/>
                    <a:lstStyle/>
                    <a:p>
                      <a:r>
                        <a:rPr lang="en-GB"/>
                        <a:t>8.73%</a:t>
                      </a:r>
                      <a:endParaRPr lang="en-US"/>
                    </a:p>
                  </a:txBody>
                  <a:tcPr/>
                </a:tc>
                <a:extLst>
                  <a:ext uri="{0D108BD9-81ED-4DB2-BD59-A6C34878D82A}">
                    <a16:rowId xmlns:a16="http://schemas.microsoft.com/office/drawing/2014/main" val="2070601068"/>
                  </a:ext>
                </a:extLst>
              </a:tr>
            </a:tbl>
          </a:graphicData>
        </a:graphic>
      </p:graphicFrame>
      <p:sp>
        <p:nvSpPr>
          <p:cNvPr id="7" name="Content Placeholder 2">
            <a:extLst>
              <a:ext uri="{FF2B5EF4-FFF2-40B4-BE49-F238E27FC236}">
                <a16:creationId xmlns:a16="http://schemas.microsoft.com/office/drawing/2014/main" id="{5548FEC0-4B20-E6F5-0355-400A6A3EE212}"/>
              </a:ext>
            </a:extLst>
          </p:cNvPr>
          <p:cNvSpPr txBox="1">
            <a:spLocks/>
          </p:cNvSpPr>
          <p:nvPr/>
        </p:nvSpPr>
        <p:spPr>
          <a:xfrm>
            <a:off x="838198" y="125333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a:t>The absolute TEE overhead was calculated as the difference in mean cloud request latency between the TDX VM and the Normal VM. </a:t>
            </a:r>
          </a:p>
          <a:p>
            <a:r>
              <a:rPr lang="en-GB" sz="2000"/>
              <a:t>The relative TEE overhead shows the extra TDX latency as a percentage of the Normal VM latency. The reduction in TEE penalty compares the extra latency before and after optimisation.</a:t>
            </a:r>
          </a:p>
          <a:p>
            <a:pPr marL="0" indent="0">
              <a:buNone/>
            </a:pPr>
            <a:r>
              <a:rPr lang="en-GB" sz="2000"/>
              <a:t>Summary</a:t>
            </a:r>
            <a:r>
              <a:rPr lang="en-US" altLang="zh-CN" sz="2000"/>
              <a:t>:</a:t>
            </a:r>
          </a:p>
          <a:p>
            <a:r>
              <a:rPr lang="en-GB" sz="2000" b="1">
                <a:solidFill>
                  <a:srgbClr val="FF0000"/>
                </a:solidFill>
              </a:rPr>
              <a:t>The relative TEE overhead did not decrease significantly. It remained close to 9% after EOS early stopping.</a:t>
            </a:r>
            <a:endParaRPr lang="en-GB" sz="2000">
              <a:solidFill>
                <a:srgbClr val="FF0000"/>
              </a:solidFill>
            </a:endParaRPr>
          </a:p>
          <a:p>
            <a:endParaRPr lang="en-GB" sz="2000"/>
          </a:p>
          <a:p>
            <a:endParaRPr lang="en-GB" sz="2000"/>
          </a:p>
        </p:txBody>
      </p:sp>
    </p:spTree>
    <p:extLst>
      <p:ext uri="{BB962C8B-B14F-4D97-AF65-F5344CB8AC3E}">
        <p14:creationId xmlns:p14="http://schemas.microsoft.com/office/powerpoint/2010/main" val="1206957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E9CEA-8A2F-3A02-8464-016BE011A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DC4F9-2455-C5FA-294C-03DF991C15F5}"/>
              </a:ext>
            </a:extLst>
          </p:cNvPr>
          <p:cNvSpPr>
            <a:spLocks noGrp="1"/>
          </p:cNvSpPr>
          <p:nvPr>
            <p:ph type="title"/>
          </p:nvPr>
        </p:nvSpPr>
        <p:spPr>
          <a:xfrm>
            <a:off x="838198" y="64732"/>
            <a:ext cx="10515600" cy="1325563"/>
          </a:xfrm>
        </p:spPr>
        <p:txBody>
          <a:bodyPr>
            <a:normAutofit/>
          </a:bodyPr>
          <a:lstStyle/>
          <a:p>
            <a:r>
              <a:rPr lang="en-GB" b="1"/>
              <a:t>Decoder-Level TDX Overhead Analysis</a:t>
            </a:r>
            <a:endParaRPr lang="en-GB"/>
          </a:p>
        </p:txBody>
      </p:sp>
      <p:sp>
        <p:nvSpPr>
          <p:cNvPr id="7" name="Content Placeholder 2">
            <a:extLst>
              <a:ext uri="{FF2B5EF4-FFF2-40B4-BE49-F238E27FC236}">
                <a16:creationId xmlns:a16="http://schemas.microsoft.com/office/drawing/2014/main" id="{F59E775D-1005-D65D-954B-C79D7C759849}"/>
              </a:ext>
            </a:extLst>
          </p:cNvPr>
          <p:cNvSpPr txBox="1">
            <a:spLocks/>
          </p:cNvSpPr>
          <p:nvPr/>
        </p:nvSpPr>
        <p:spPr>
          <a:xfrm>
            <a:off x="838198" y="125333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2000"/>
          </a:p>
        </p:txBody>
      </p:sp>
      <p:graphicFrame>
        <p:nvGraphicFramePr>
          <p:cNvPr id="5" name="Content Placeholder 4">
            <a:extLst>
              <a:ext uri="{FF2B5EF4-FFF2-40B4-BE49-F238E27FC236}">
                <a16:creationId xmlns:a16="http://schemas.microsoft.com/office/drawing/2014/main" id="{9CCB1254-C9EF-0805-3B3C-121C5080A25C}"/>
              </a:ext>
            </a:extLst>
          </p:cNvPr>
          <p:cNvGraphicFramePr>
            <a:graphicFrameLocks noGrp="1"/>
          </p:cNvGraphicFramePr>
          <p:nvPr>
            <p:ph idx="1"/>
            <p:extLst>
              <p:ext uri="{D42A27DB-BD31-4B8C-83A1-F6EECF244321}">
                <p14:modId xmlns:p14="http://schemas.microsoft.com/office/powerpoint/2010/main" val="4108021979"/>
              </p:ext>
            </p:extLst>
          </p:nvPr>
        </p:nvGraphicFramePr>
        <p:xfrm>
          <a:off x="5408788" y="1390295"/>
          <a:ext cx="4774580" cy="3945213"/>
        </p:xfrm>
        <a:graphic>
          <a:graphicData uri="http://schemas.openxmlformats.org/drawingml/2006/table">
            <a:tbl>
              <a:tblPr firstRow="1" bandRow="1">
                <a:tableStyleId>{5C22544A-7EE6-4342-B048-85BDC9FD1C3A}</a:tableStyleId>
              </a:tblPr>
              <a:tblGrid>
                <a:gridCol w="2537348">
                  <a:extLst>
                    <a:ext uri="{9D8B030D-6E8A-4147-A177-3AD203B41FA5}">
                      <a16:colId xmlns:a16="http://schemas.microsoft.com/office/drawing/2014/main" val="2911774998"/>
                    </a:ext>
                  </a:extLst>
                </a:gridCol>
                <a:gridCol w="2237232">
                  <a:extLst>
                    <a:ext uri="{9D8B030D-6E8A-4147-A177-3AD203B41FA5}">
                      <a16:colId xmlns:a16="http://schemas.microsoft.com/office/drawing/2014/main" val="3946212380"/>
                    </a:ext>
                  </a:extLst>
                </a:gridCol>
              </a:tblGrid>
              <a:tr h="633862">
                <a:tc>
                  <a:txBody>
                    <a:bodyPr/>
                    <a:lstStyle/>
                    <a:p>
                      <a:r>
                        <a:rPr lang="en-GB"/>
                        <a:t>Decoder operation</a:t>
                      </a:r>
                      <a:endParaRPr lang="en-US"/>
                    </a:p>
                  </a:txBody>
                  <a:tcPr/>
                </a:tc>
                <a:tc>
                  <a:txBody>
                    <a:bodyPr/>
                    <a:lstStyle/>
                    <a:p>
                      <a:r>
                        <a:rPr lang="en-GB"/>
                        <a:t>Mean additional TDX time</a:t>
                      </a:r>
                      <a:endParaRPr lang="en-US"/>
                    </a:p>
                  </a:txBody>
                  <a:tcPr/>
                </a:tc>
                <a:extLst>
                  <a:ext uri="{0D108BD9-81ED-4DB2-BD59-A6C34878D82A}">
                    <a16:rowId xmlns:a16="http://schemas.microsoft.com/office/drawing/2014/main" val="752466691"/>
                  </a:ext>
                </a:extLst>
              </a:tr>
              <a:tr h="367237">
                <a:tc>
                  <a:txBody>
                    <a:bodyPr/>
                    <a:lstStyle/>
                    <a:p>
                      <a:r>
                        <a:rPr lang="en-GB"/>
                        <a:t>MLP</a:t>
                      </a:r>
                      <a:endParaRPr lang="en-US"/>
                    </a:p>
                  </a:txBody>
                  <a:tcPr/>
                </a:tc>
                <a:tc>
                  <a:txBody>
                    <a:bodyPr/>
                    <a:lstStyle/>
                    <a:p>
                      <a:r>
                        <a:rPr lang="en-GB"/>
                        <a:t>+146 ms</a:t>
                      </a:r>
                      <a:endParaRPr lang="en-US"/>
                    </a:p>
                  </a:txBody>
                  <a:tcPr/>
                </a:tc>
                <a:extLst>
                  <a:ext uri="{0D108BD9-81ED-4DB2-BD59-A6C34878D82A}">
                    <a16:rowId xmlns:a16="http://schemas.microsoft.com/office/drawing/2014/main" val="177150555"/>
                  </a:ext>
                </a:extLst>
              </a:tr>
              <a:tr h="367237">
                <a:tc>
                  <a:txBody>
                    <a:bodyPr/>
                    <a:lstStyle/>
                    <a:p>
                      <a:r>
                        <a:rPr lang="en-GB"/>
                        <a:t>Normalisation</a:t>
                      </a:r>
                      <a:endParaRPr lang="en-US"/>
                    </a:p>
                  </a:txBody>
                  <a:tcPr/>
                </a:tc>
                <a:tc>
                  <a:txBody>
                    <a:bodyPr/>
                    <a:lstStyle/>
                    <a:p>
                      <a:r>
                        <a:rPr lang="en-GB"/>
                        <a:t>+50 ms</a:t>
                      </a:r>
                      <a:endParaRPr lang="en-US"/>
                    </a:p>
                  </a:txBody>
                  <a:tcPr/>
                </a:tc>
                <a:extLst>
                  <a:ext uri="{0D108BD9-81ED-4DB2-BD59-A6C34878D82A}">
                    <a16:rowId xmlns:a16="http://schemas.microsoft.com/office/drawing/2014/main" val="176868367"/>
                  </a:ext>
                </a:extLst>
              </a:tr>
              <a:tr h="367237">
                <a:tc>
                  <a:txBody>
                    <a:bodyPr/>
                    <a:lstStyle/>
                    <a:p>
                      <a:r>
                        <a:rPr lang="en-GB"/>
                        <a:t>QKV projection</a:t>
                      </a:r>
                      <a:endParaRPr lang="en-US"/>
                    </a:p>
                  </a:txBody>
                  <a:tcPr/>
                </a:tc>
                <a:tc>
                  <a:txBody>
                    <a:bodyPr/>
                    <a:lstStyle/>
                    <a:p>
                      <a:r>
                        <a:rPr lang="en-GB"/>
                        <a:t>+46 ms</a:t>
                      </a:r>
                      <a:endParaRPr lang="en-US"/>
                    </a:p>
                  </a:txBody>
                  <a:tcPr/>
                </a:tc>
                <a:extLst>
                  <a:ext uri="{0D108BD9-81ED-4DB2-BD59-A6C34878D82A}">
                    <a16:rowId xmlns:a16="http://schemas.microsoft.com/office/drawing/2014/main" val="3731204574"/>
                  </a:ext>
                </a:extLst>
              </a:tr>
              <a:tr h="367237">
                <a:tc>
                  <a:txBody>
                    <a:bodyPr/>
                    <a:lstStyle/>
                    <a:p>
                      <a:r>
                        <a:rPr lang="en-GB"/>
                        <a:t>Output projection</a:t>
                      </a:r>
                      <a:endParaRPr lang="en-US"/>
                    </a:p>
                  </a:txBody>
                  <a:tcPr/>
                </a:tc>
                <a:tc>
                  <a:txBody>
                    <a:bodyPr/>
                    <a:lstStyle/>
                    <a:p>
                      <a:r>
                        <a:rPr lang="en-GB"/>
                        <a:t>+42 ms</a:t>
                      </a:r>
                      <a:endParaRPr lang="en-US"/>
                    </a:p>
                  </a:txBody>
                  <a:tcPr/>
                </a:tc>
                <a:extLst>
                  <a:ext uri="{0D108BD9-81ED-4DB2-BD59-A6C34878D82A}">
                    <a16:rowId xmlns:a16="http://schemas.microsoft.com/office/drawing/2014/main" val="3391803083"/>
                  </a:ext>
                </a:extLst>
              </a:tr>
              <a:tr h="367237">
                <a:tc>
                  <a:txBody>
                    <a:bodyPr/>
                    <a:lstStyle/>
                    <a:p>
                      <a:r>
                        <a:rPr lang="en-GB"/>
                        <a:t>KV repeat</a:t>
                      </a:r>
                      <a:endParaRPr lang="en-US"/>
                    </a:p>
                  </a:txBody>
                  <a:tcPr/>
                </a:tc>
                <a:tc>
                  <a:txBody>
                    <a:bodyPr/>
                    <a:lstStyle/>
                    <a:p>
                      <a:r>
                        <a:rPr lang="en-GB"/>
                        <a:t>+29 ms</a:t>
                      </a:r>
                      <a:endParaRPr lang="en-US"/>
                    </a:p>
                  </a:txBody>
                  <a:tcPr/>
                </a:tc>
                <a:extLst>
                  <a:ext uri="{0D108BD9-81ED-4DB2-BD59-A6C34878D82A}">
                    <a16:rowId xmlns:a16="http://schemas.microsoft.com/office/drawing/2014/main" val="4165538996"/>
                  </a:ext>
                </a:extLst>
              </a:tr>
              <a:tr h="367237">
                <a:tc>
                  <a:txBody>
                    <a:bodyPr/>
                    <a:lstStyle/>
                    <a:p>
                      <a:r>
                        <a:rPr lang="en-GB"/>
                        <a:t>Attention core</a:t>
                      </a:r>
                      <a:endParaRPr lang="en-US"/>
                    </a:p>
                  </a:txBody>
                  <a:tcPr/>
                </a:tc>
                <a:tc>
                  <a:txBody>
                    <a:bodyPr/>
                    <a:lstStyle/>
                    <a:p>
                      <a:r>
                        <a:rPr lang="en-GB"/>
                        <a:t>+28 ms</a:t>
                      </a:r>
                      <a:endParaRPr lang="en-US"/>
                    </a:p>
                  </a:txBody>
                  <a:tcPr/>
                </a:tc>
                <a:extLst>
                  <a:ext uri="{0D108BD9-81ED-4DB2-BD59-A6C34878D82A}">
                    <a16:rowId xmlns:a16="http://schemas.microsoft.com/office/drawing/2014/main" val="4213028465"/>
                  </a:ext>
                </a:extLst>
              </a:tr>
              <a:tr h="367237">
                <a:tc>
                  <a:txBody>
                    <a:bodyPr/>
                    <a:lstStyle/>
                    <a:p>
                      <a:r>
                        <a:rPr lang="en-GB"/>
                        <a:t>Rotary operation</a:t>
                      </a:r>
                      <a:endParaRPr lang="en-US"/>
                    </a:p>
                  </a:txBody>
                  <a:tcPr/>
                </a:tc>
                <a:tc>
                  <a:txBody>
                    <a:bodyPr/>
                    <a:lstStyle/>
                    <a:p>
                      <a:r>
                        <a:rPr lang="en-GB"/>
                        <a:t>+1</a:t>
                      </a:r>
                      <a:r>
                        <a:rPr lang="en-US" altLang="zh-CN"/>
                        <a:t>4</a:t>
                      </a:r>
                      <a:r>
                        <a:rPr lang="en-GB"/>
                        <a:t> ms</a:t>
                      </a:r>
                      <a:endParaRPr lang="en-US"/>
                    </a:p>
                  </a:txBody>
                  <a:tcPr/>
                </a:tc>
                <a:extLst>
                  <a:ext uri="{0D108BD9-81ED-4DB2-BD59-A6C34878D82A}">
                    <a16:rowId xmlns:a16="http://schemas.microsoft.com/office/drawing/2014/main" val="719654221"/>
                  </a:ext>
                </a:extLst>
              </a:tr>
              <a:tr h="367237">
                <a:tc>
                  <a:txBody>
                    <a:bodyPr/>
                    <a:lstStyle/>
                    <a:p>
                      <a:r>
                        <a:rPr lang="en-GB"/>
                        <a:t>KV concatenation</a:t>
                      </a:r>
                      <a:endParaRPr lang="en-US"/>
                    </a:p>
                  </a:txBody>
                  <a:tcPr/>
                </a:tc>
                <a:tc>
                  <a:txBody>
                    <a:bodyPr/>
                    <a:lstStyle/>
                    <a:p>
                      <a:r>
                        <a:rPr lang="en-GB"/>
                        <a:t>+12 ms</a:t>
                      </a:r>
                      <a:endParaRPr lang="en-US"/>
                    </a:p>
                  </a:txBody>
                  <a:tcPr/>
                </a:tc>
                <a:extLst>
                  <a:ext uri="{0D108BD9-81ED-4DB2-BD59-A6C34878D82A}">
                    <a16:rowId xmlns:a16="http://schemas.microsoft.com/office/drawing/2014/main" val="3420156345"/>
                  </a:ext>
                </a:extLst>
              </a:tr>
              <a:tr h="367237">
                <a:tc>
                  <a:txBody>
                    <a:bodyPr/>
                    <a:lstStyle/>
                    <a:p>
                      <a:r>
                        <a:rPr lang="en-GB"/>
                        <a:t>RoPE value generation</a:t>
                      </a:r>
                      <a:endParaRPr lang="en-US"/>
                    </a:p>
                  </a:txBody>
                  <a:tcPr/>
                </a:tc>
                <a:tc>
                  <a:txBody>
                    <a:bodyPr/>
                    <a:lstStyle/>
                    <a:p>
                      <a:r>
                        <a:rPr lang="en-GB"/>
                        <a:t>+0.03 ms</a:t>
                      </a:r>
                      <a:endParaRPr lang="en-US"/>
                    </a:p>
                  </a:txBody>
                  <a:tcPr/>
                </a:tc>
                <a:extLst>
                  <a:ext uri="{0D108BD9-81ED-4DB2-BD59-A6C34878D82A}">
                    <a16:rowId xmlns:a16="http://schemas.microsoft.com/office/drawing/2014/main" val="472164114"/>
                  </a:ext>
                </a:extLst>
              </a:tr>
            </a:tbl>
          </a:graphicData>
        </a:graphic>
      </p:graphicFrame>
      <p:sp>
        <p:nvSpPr>
          <p:cNvPr id="14" name="Content Placeholder 2">
            <a:extLst>
              <a:ext uri="{FF2B5EF4-FFF2-40B4-BE49-F238E27FC236}">
                <a16:creationId xmlns:a16="http://schemas.microsoft.com/office/drawing/2014/main" id="{D45A383D-E512-1FE8-48E1-8FA102A4E480}"/>
              </a:ext>
            </a:extLst>
          </p:cNvPr>
          <p:cNvSpPr txBox="1">
            <a:spLocks/>
          </p:cNvSpPr>
          <p:nvPr/>
        </p:nvSpPr>
        <p:spPr>
          <a:xfrm>
            <a:off x="990598" y="1405731"/>
            <a:ext cx="5287539"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a:t>LanguageModel.forward() </a:t>
            </a:r>
          </a:p>
          <a:p>
            <a:r>
              <a:rPr lang="en-GB" sz="1400"/>
              <a:t>Generate RoPE cos/sin</a:t>
            </a:r>
          </a:p>
          <a:p>
            <a:r>
              <a:rPr lang="en-GB" sz="1400"/>
              <a:t>For each Transformer block</a:t>
            </a:r>
          </a:p>
          <a:p>
            <a:pPr lvl="1"/>
            <a:r>
              <a:rPr lang="en-GB" sz="1400"/>
              <a:t>RMSNorm 1</a:t>
            </a:r>
          </a:p>
          <a:p>
            <a:pPr lvl="1"/>
            <a:r>
              <a:rPr lang="en-GB" sz="1400"/>
              <a:t>QKV projection</a:t>
            </a:r>
          </a:p>
          <a:p>
            <a:pPr lvl="1"/>
            <a:r>
              <a:rPr lang="en-GB" sz="1400"/>
              <a:t>Apply RoPE to Q/K</a:t>
            </a:r>
          </a:p>
          <a:p>
            <a:pPr lvl="1"/>
            <a:r>
              <a:rPr lang="en-GB" sz="1400"/>
              <a:t>KV concatenation</a:t>
            </a:r>
          </a:p>
          <a:p>
            <a:pPr lvl="1"/>
            <a:r>
              <a:rPr lang="en-GB" sz="1400"/>
              <a:t>KV repeat</a:t>
            </a:r>
          </a:p>
          <a:p>
            <a:pPr lvl="1"/>
            <a:r>
              <a:rPr lang="en-GB" sz="1400"/>
              <a:t>Attention core</a:t>
            </a:r>
          </a:p>
          <a:p>
            <a:pPr lvl="1"/>
            <a:r>
              <a:rPr lang="en-GB" sz="1400"/>
              <a:t>Output projection</a:t>
            </a:r>
          </a:p>
          <a:p>
            <a:pPr lvl="1"/>
            <a:r>
              <a:rPr lang="en-GB" sz="1400"/>
              <a:t>Residual connection</a:t>
            </a:r>
          </a:p>
          <a:p>
            <a:pPr lvl="1"/>
            <a:r>
              <a:rPr lang="en-GB" sz="1400"/>
              <a:t>RMSNorm 2</a:t>
            </a:r>
          </a:p>
          <a:p>
            <a:pPr lvl="1"/>
            <a:r>
              <a:rPr lang="en-GB" sz="1400"/>
              <a:t>MLP</a:t>
            </a:r>
          </a:p>
          <a:p>
            <a:pPr lvl="1"/>
            <a:r>
              <a:rPr lang="en-GB" sz="1400"/>
              <a:t>Residual connection</a:t>
            </a:r>
          </a:p>
          <a:p>
            <a:r>
              <a:rPr lang="en-GB" sz="1400"/>
              <a:t>Final RMSNorm</a:t>
            </a:r>
          </a:p>
          <a:p>
            <a:r>
              <a:rPr lang="en-GB" sz="1400"/>
              <a:t>Return hidden states</a:t>
            </a:r>
          </a:p>
          <a:p>
            <a:r>
              <a:rPr lang="en-GB" sz="1400"/>
              <a:t>External LM head</a:t>
            </a:r>
          </a:p>
        </p:txBody>
      </p:sp>
      <p:sp>
        <p:nvSpPr>
          <p:cNvPr id="16" name="TextBox 15">
            <a:extLst>
              <a:ext uri="{FF2B5EF4-FFF2-40B4-BE49-F238E27FC236}">
                <a16:creationId xmlns:a16="http://schemas.microsoft.com/office/drawing/2014/main" id="{93B46C9D-E260-2EFB-C07A-9E2DF89FF9F4}"/>
              </a:ext>
            </a:extLst>
          </p:cNvPr>
          <p:cNvSpPr txBox="1"/>
          <p:nvPr/>
        </p:nvSpPr>
        <p:spPr>
          <a:xfrm>
            <a:off x="5259322" y="5467705"/>
            <a:ext cx="6094476" cy="1200329"/>
          </a:xfrm>
          <a:prstGeom prst="rect">
            <a:avLst/>
          </a:prstGeom>
          <a:noFill/>
        </p:spPr>
        <p:txBody>
          <a:bodyPr wrap="square">
            <a:spAutoFit/>
          </a:bodyPr>
          <a:lstStyle/>
          <a:p>
            <a:r>
              <a:rPr lang="en-GB" b="1"/>
              <a:t>Summary:</a:t>
            </a:r>
            <a:r>
              <a:rPr lang="en-GB"/>
              <a:t> </a:t>
            </a:r>
            <a:r>
              <a:rPr lang="en-GB">
                <a:solidFill>
                  <a:srgbClr val="FF0000"/>
                </a:solidFill>
              </a:rPr>
              <a:t>MLP had the largest TDX overhead. Other operations also showed smaller increases. KV concatenation added only 12 ms, so KV cache handling was not the main bottleneck.</a:t>
            </a:r>
          </a:p>
        </p:txBody>
      </p:sp>
      <p:sp>
        <p:nvSpPr>
          <p:cNvPr id="18" name="TextBox 17">
            <a:extLst>
              <a:ext uri="{FF2B5EF4-FFF2-40B4-BE49-F238E27FC236}">
                <a16:creationId xmlns:a16="http://schemas.microsoft.com/office/drawing/2014/main" id="{80DA7CCB-390E-2F3C-DF7D-57CB36497849}"/>
              </a:ext>
            </a:extLst>
          </p:cNvPr>
          <p:cNvSpPr txBox="1"/>
          <p:nvPr/>
        </p:nvSpPr>
        <p:spPr>
          <a:xfrm>
            <a:off x="990598" y="1020963"/>
            <a:ext cx="3316226" cy="369332"/>
          </a:xfrm>
          <a:prstGeom prst="rect">
            <a:avLst/>
          </a:prstGeom>
          <a:noFill/>
        </p:spPr>
        <p:txBody>
          <a:bodyPr wrap="square">
            <a:spAutoFit/>
          </a:bodyPr>
          <a:lstStyle/>
          <a:p>
            <a:pPr>
              <a:buNone/>
            </a:pPr>
            <a:r>
              <a:rPr lang="en-GB" b="1">
                <a:latin typeface="Courier New" panose="02070309020205020404" pitchFamily="49" charset="0"/>
              </a:rPr>
              <a:t>Decoder execution flow</a:t>
            </a:r>
          </a:p>
        </p:txBody>
      </p:sp>
      <p:sp>
        <p:nvSpPr>
          <p:cNvPr id="19" name="TextBox 18">
            <a:extLst>
              <a:ext uri="{FF2B5EF4-FFF2-40B4-BE49-F238E27FC236}">
                <a16:creationId xmlns:a16="http://schemas.microsoft.com/office/drawing/2014/main" id="{5AD177FC-AA4B-067A-0FBF-8931A465CC0F}"/>
              </a:ext>
            </a:extLst>
          </p:cNvPr>
          <p:cNvSpPr txBox="1"/>
          <p:nvPr/>
        </p:nvSpPr>
        <p:spPr>
          <a:xfrm>
            <a:off x="5733286" y="1020963"/>
            <a:ext cx="4194050" cy="369332"/>
          </a:xfrm>
          <a:prstGeom prst="rect">
            <a:avLst/>
          </a:prstGeom>
          <a:noFill/>
        </p:spPr>
        <p:txBody>
          <a:bodyPr wrap="square">
            <a:spAutoFit/>
          </a:bodyPr>
          <a:lstStyle/>
          <a:p>
            <a:r>
              <a:rPr lang="en-GB" b="1"/>
              <a:t>Mean Additional TDX Time per Request</a:t>
            </a:r>
            <a:endParaRPr lang="en-GB"/>
          </a:p>
        </p:txBody>
      </p:sp>
    </p:spTree>
    <p:extLst>
      <p:ext uri="{BB962C8B-B14F-4D97-AF65-F5344CB8AC3E}">
        <p14:creationId xmlns:p14="http://schemas.microsoft.com/office/powerpoint/2010/main" val="16969162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EC17A-CF62-99FE-491F-6B612FD1B6BA}"/>
              </a:ext>
            </a:extLst>
          </p:cNvPr>
          <p:cNvSpPr>
            <a:spLocks noGrp="1"/>
          </p:cNvSpPr>
          <p:nvPr>
            <p:ph type="title"/>
          </p:nvPr>
        </p:nvSpPr>
        <p:spPr/>
        <p:txBody>
          <a:bodyPr/>
          <a:lstStyle/>
          <a:p>
            <a:r>
              <a:rPr lang="en-GB"/>
              <a:t>Conclusion</a:t>
            </a:r>
            <a:endParaRPr lang="en-US"/>
          </a:p>
        </p:txBody>
      </p:sp>
      <p:sp>
        <p:nvSpPr>
          <p:cNvPr id="3" name="Content Placeholder 2">
            <a:extLst>
              <a:ext uri="{FF2B5EF4-FFF2-40B4-BE49-F238E27FC236}">
                <a16:creationId xmlns:a16="http://schemas.microsoft.com/office/drawing/2014/main" id="{C867FC8E-CA6B-06CC-6987-EAD39E62BC35}"/>
              </a:ext>
            </a:extLst>
          </p:cNvPr>
          <p:cNvSpPr>
            <a:spLocks noGrp="1"/>
          </p:cNvSpPr>
          <p:nvPr>
            <p:ph idx="1"/>
          </p:nvPr>
        </p:nvSpPr>
        <p:spPr>
          <a:xfrm>
            <a:off x="838200" y="1825625"/>
            <a:ext cx="10515600" cy="4782004"/>
          </a:xfrm>
        </p:spPr>
        <p:txBody>
          <a:bodyPr>
            <a:normAutofit fontScale="62500" lnSpcReduction="20000"/>
          </a:bodyPr>
          <a:lstStyle/>
          <a:p>
            <a:pPr>
              <a:lnSpc>
                <a:spcPct val="120000"/>
              </a:lnSpc>
            </a:pPr>
            <a:r>
              <a:rPr lang="en-GB" b="1"/>
              <a:t>TLS was not the main performance bottleneck.</a:t>
            </a:r>
          </a:p>
          <a:p>
            <a:pPr lvl="1">
              <a:lnSpc>
                <a:spcPct val="120000"/>
              </a:lnSpc>
            </a:pPr>
            <a:r>
              <a:rPr lang="en-GB"/>
              <a:t>With persistent connections and TLS termination at Gunicorn, the initial handshake cost was amortised across multiple requests. TLS authentication and encryption introduced only millisecond-level overhead.</a:t>
            </a:r>
          </a:p>
          <a:p>
            <a:pPr>
              <a:lnSpc>
                <a:spcPct val="120000"/>
              </a:lnSpc>
            </a:pPr>
            <a:r>
              <a:rPr lang="en-GB" b="1"/>
              <a:t>TEE protection introduced a measurable but acceptable overhead.</a:t>
            </a:r>
          </a:p>
          <a:p>
            <a:pPr lvl="1">
              <a:lnSpc>
                <a:spcPct val="120000"/>
              </a:lnSpc>
            </a:pPr>
            <a:r>
              <a:rPr lang="en-GB"/>
              <a:t>Intel TDX increased end-to-end latency by approximately 4% and cloud inference latency by approximately 9–10%. After EOS-based early stopping, the absolute TEE latency penalty was reduced from approximately 1.4–1.6 seconds to 0.4–0.5 seconds per request.</a:t>
            </a:r>
          </a:p>
          <a:p>
            <a:pPr lvl="1">
              <a:lnSpc>
                <a:spcPct val="120000"/>
              </a:lnSpc>
            </a:pPr>
            <a:endParaRPr lang="en-GB"/>
          </a:p>
          <a:p>
            <a:pPr lvl="1">
              <a:lnSpc>
                <a:spcPct val="120000"/>
              </a:lnSpc>
            </a:pPr>
            <a:r>
              <a:rPr lang="en-GB"/>
              <a:t>AMX</a:t>
            </a:r>
            <a:r>
              <a:rPr lang="en-US" altLang="zh-CN"/>
              <a:t>,</a:t>
            </a:r>
            <a:r>
              <a:rPr lang="zh-CN" altLang="en-US"/>
              <a:t> </a:t>
            </a:r>
            <a:r>
              <a:rPr lang="en-US" altLang="zh-CN"/>
              <a:t>Tcmalloc</a:t>
            </a:r>
            <a:r>
              <a:rPr lang="zh-CN" altLang="en-US"/>
              <a:t> </a:t>
            </a:r>
            <a:r>
              <a:rPr lang="en-US" altLang="zh-CN"/>
              <a:t>can be used to reduce the overhead off TEEs.  Can we go deeply?</a:t>
            </a:r>
          </a:p>
          <a:p>
            <a:pPr lvl="1">
              <a:lnSpc>
                <a:spcPct val="120000"/>
              </a:lnSpc>
            </a:pPr>
            <a:r>
              <a:rPr lang="en-US" altLang="zh-CN"/>
              <a:t>Use</a:t>
            </a:r>
            <a:r>
              <a:rPr lang="zh-CN" altLang="en-US"/>
              <a:t> </a:t>
            </a:r>
            <a:r>
              <a:rPr lang="en-US" altLang="zh-CN"/>
              <a:t>AMX,</a:t>
            </a:r>
            <a:r>
              <a:rPr lang="zh-CN" altLang="en-US"/>
              <a:t> </a:t>
            </a:r>
            <a:r>
              <a:rPr lang="en-US" altLang="zh-CN"/>
              <a:t> we need to</a:t>
            </a:r>
            <a:r>
              <a:rPr lang="zh-CN" altLang="en-US"/>
              <a:t> </a:t>
            </a:r>
            <a:r>
              <a:rPr lang="en-US" altLang="zh-CN"/>
              <a:t>reduce percision to BF16.</a:t>
            </a:r>
          </a:p>
          <a:p>
            <a:pPr lvl="1">
              <a:lnSpc>
                <a:spcPct val="120000"/>
              </a:lnSpc>
            </a:pPr>
            <a:r>
              <a:rPr lang="en-GB"/>
              <a:t>Use AMX, we need to check the accuracy of geneted text.</a:t>
            </a:r>
            <a:r>
              <a:rPr lang="zh-CN" altLang="en-US"/>
              <a:t> </a:t>
            </a:r>
            <a:r>
              <a:rPr lang="en-US" altLang="zh-CN"/>
              <a:t>(</a:t>
            </a:r>
            <a:r>
              <a:rPr lang="en-GB"/>
              <a:t>Exact Match </a:t>
            </a:r>
            <a:r>
              <a:rPr lang="en-US" altLang="zh-CN"/>
              <a:t>?</a:t>
            </a:r>
            <a:r>
              <a:rPr lang="zh-CN" altLang="en-US"/>
              <a:t> </a:t>
            </a:r>
            <a:r>
              <a:rPr lang="en-GB"/>
              <a:t>BERT</a:t>
            </a:r>
            <a:r>
              <a:rPr lang="zh-CN" altLang="en-US"/>
              <a:t> </a:t>
            </a:r>
            <a:r>
              <a:rPr lang="en-GB"/>
              <a:t>Score </a:t>
            </a:r>
            <a:r>
              <a:rPr lang="en-US" altLang="zh-CN"/>
              <a:t>?)</a:t>
            </a:r>
            <a:endParaRPr lang="en-GB"/>
          </a:p>
          <a:p>
            <a:pPr lvl="1">
              <a:lnSpc>
                <a:spcPct val="120000"/>
              </a:lnSpc>
            </a:pPr>
            <a:endParaRPr lang="en-GB"/>
          </a:p>
          <a:p>
            <a:pPr>
              <a:lnSpc>
                <a:spcPct val="120000"/>
              </a:lnSpc>
            </a:pPr>
            <a:r>
              <a:rPr lang="en-GB" b="1"/>
              <a:t>The proposed privacy-preserving scheme is practical.</a:t>
            </a:r>
          </a:p>
          <a:p>
            <a:pPr lvl="1">
              <a:lnSpc>
                <a:spcPct val="120000"/>
              </a:lnSpc>
            </a:pPr>
            <a:r>
              <a:rPr lang="en-GB"/>
              <a:t>The combination of split inference, TLS protection, and confidential computing provided layered privacy protection with relatively low performance overhead. The remaining TDX overhead was mainly found in decoder operations, especially the MLP and other data-movement-intensive operations.</a:t>
            </a:r>
          </a:p>
        </p:txBody>
      </p:sp>
    </p:spTree>
    <p:extLst>
      <p:ext uri="{BB962C8B-B14F-4D97-AF65-F5344CB8AC3E}">
        <p14:creationId xmlns:p14="http://schemas.microsoft.com/office/powerpoint/2010/main" val="650267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6585</TotalTime>
  <Words>3496</Words>
  <Application>Microsoft Macintosh PowerPoint</Application>
  <PresentationFormat>Widescreen</PresentationFormat>
  <Paragraphs>654</Paragraphs>
  <Slides>25</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Courier New</vt:lpstr>
      <vt:lpstr>Office Theme</vt:lpstr>
      <vt:lpstr>Experiment logic and interim findings</vt:lpstr>
      <vt:lpstr>The experiment matrix isolates three comparison dimensions</vt:lpstr>
      <vt:lpstr>Experiment Design</vt:lpstr>
      <vt:lpstr>metrics</vt:lpstr>
      <vt:lpstr>Metrics - Latency</vt:lpstr>
      <vt:lpstr>Metrics - Latency</vt:lpstr>
      <vt:lpstr>Metrics – CPU time  </vt:lpstr>
      <vt:lpstr>Metrics – CPU time</vt:lpstr>
      <vt:lpstr>Metrics – Throughput Degradation</vt:lpstr>
      <vt:lpstr>PowerPoint Presentation</vt:lpstr>
      <vt:lpstr>Benchmark syscall comparison</vt:lpstr>
      <vt:lpstr>Benchmark sched comparison</vt:lpstr>
      <vt:lpstr>Benchmark memory comparison</vt:lpstr>
      <vt:lpstr>The findings are still interim</vt:lpstr>
      <vt:lpstr>Additional Optimisation and Performance Analysis</vt:lpstr>
      <vt:lpstr>Using a persistent connection to isolate TLS handshakes overhead.</vt:lpstr>
      <vt:lpstr>Isolating Steady-State TLS Overhead Using Persistent Connections</vt:lpstr>
      <vt:lpstr>TLS Overhead with Persistent Connections</vt:lpstr>
      <vt:lpstr>TEE Overhead: Normal VM vs TDX Confidential VM</vt:lpstr>
      <vt:lpstr>Generation-Stage Bottleneck Analysis - 1</vt:lpstr>
      <vt:lpstr>Generation-Stage Bottleneck Analysis - 2</vt:lpstr>
      <vt:lpstr>Reduce unnecessary decoder iterations using EOS early stopping - 1</vt:lpstr>
      <vt:lpstr>Reduce unnecessary decoder iterations using EOS early stopping - 2</vt:lpstr>
      <vt:lpstr>Decoder-Level TDX Overhead 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耀泉 马</dc:creator>
  <cp:lastModifiedBy>耀泉 马</cp:lastModifiedBy>
  <cp:revision>1</cp:revision>
  <dcterms:created xsi:type="dcterms:W3CDTF">2026-07-03T14:51:43Z</dcterms:created>
  <dcterms:modified xsi:type="dcterms:W3CDTF">2026-07-21T15:53:16Z</dcterms:modified>
</cp:coreProperties>
</file>